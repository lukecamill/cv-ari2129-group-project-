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399"/>
    <p:restoredTop sz="85357"/>
  </p:normalViewPr>
  <p:slideViewPr>
    <p:cSldViewPr snapToGrid="0" snapToObjects="1">
      <p:cViewPr varScale="1">
        <p:scale>
          <a:sx n="89" d="100"/>
          <a:sy n="89" d="100"/>
        </p:scale>
        <p:origin x="1784" y="46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128959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sz="1200" dirty="0"/>
              <a:t>Hi, we're presenting watershed segmentation. We'll go through how that works, do a small worked example, talk about where it breaks, and end with where it's actually used. </a:t>
            </a:r>
            <a:endParaRPr sz="1200" dirty="0"/>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sz="1200" dirty="0"/>
              <a:t>recap on segmentation — it's just splitting an image into meaningful regions. Tumours in a scan, cells in a slide, roads in satellite photos. Everything in CV starts here.</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sz="1200" dirty="0"/>
              <a:t>Stop thinking of the image as numbers in a grid think of it as terrain. Bright = high, dark = low. </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200" dirty="0"/>
              <a:t>A regional minimum is just a valley floor everywhere you can step from it goes uphill. A catchment basin is the whole drainage area: all pixels whose water flows into the same valley. And the watershed line is the ridge between two valleys</a:t>
            </a:r>
            <a:r>
              <a:rPr lang="en-GB" sz="1200" dirty="0"/>
              <a:t> </a:t>
            </a:r>
            <a:r>
              <a:rPr sz="1200" dirty="0"/>
              <a:t>water could fall either way. That ridge is exactly where we want our boundary to land.</a:t>
            </a:r>
            <a:endParaRPr lang="en-GB" sz="1200" dirty="0"/>
          </a:p>
          <a:p>
            <a:endParaRPr sz="1200" dirty="0"/>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200" dirty="0"/>
              <a:t>Now the actual flooding. Imagine slowly submerging the landscape from below. Water rises uniformly. The deepest valleys fill up first as isolated lakes. As the water keeps rising, those lakes expand. The key moment is when two lakes are about to touch right then we build a one-pixel wall between them. That wall is part of the watershed line. We keep going until everything is underwater, and the walls are the segmentation. </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200"/>
              <a:t>So why not just throw watershed at the raw image? Sounds reasonable, right? Problem: objects in real images aren't defined by their darkest pixel, they're defined by their edges. A dark cell on a bright background has its darkest pixel deep inside the cell — nowhere near the actual boundary. So watershed on the raw image puts the lines in the wrong place. The fix is from Beucher and Meyer, 1993. Don't run watershed on the image; run it on the gradient of the image. The gradient is high at edges and low in flat regions, so now basins seed inside objects, and ridges land right on edges.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200"/>
              <a:t>Quick formula. The morphological gradient is dilation minus erosion. Dilation just means 'take the max in a small neighbourhood'. Erosion means 'take the min in that same neighbourhood'. Their difference measures how much intensity varies locally — zero in flat areas, big at edges. The neighbourhood B is usually 3 by 3. Smaller B catches fine detail, larger B picks up bigger boundaries.</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200" dirty="0"/>
              <a:t>Now the actual algorithm. We process pixels in order of their gradient value, lowest first. For each pixel we look at its </a:t>
            </a:r>
            <a:r>
              <a:rPr sz="1200" dirty="0" err="1"/>
              <a:t>neighbours</a:t>
            </a:r>
            <a:r>
              <a:rPr sz="1200" dirty="0"/>
              <a:t> that already have labels. Three cases. One — no labelled </a:t>
            </a:r>
            <a:r>
              <a:rPr sz="1200" dirty="0" err="1"/>
              <a:t>neighbours</a:t>
            </a:r>
            <a:r>
              <a:rPr sz="1200" dirty="0"/>
              <a:t> yet: this is a new minimum, start a new basin. Two — all labelled </a:t>
            </a:r>
            <a:r>
              <a:rPr sz="1200" dirty="0" err="1"/>
              <a:t>neighbours</a:t>
            </a:r>
            <a:r>
              <a:rPr sz="1200" dirty="0"/>
              <a:t> are the same basin: easy, the pixel joins that basin. Three — labelled </a:t>
            </a:r>
            <a:r>
              <a:rPr sz="1200" dirty="0" err="1"/>
              <a:t>neighbours</a:t>
            </a:r>
            <a:r>
              <a:rPr sz="1200" dirty="0"/>
              <a:t> come from two or more different basins: that's a meeting point, so mark it WSHED. That's the entire algorithm. Quick note on complexity: when you implement this with bucket queues or grey-level queues — like Vincent and </a:t>
            </a:r>
            <a:r>
              <a:rPr sz="1200" dirty="0" err="1"/>
              <a:t>Soille's</a:t>
            </a:r>
            <a:r>
              <a:rPr sz="1200" dirty="0"/>
              <a:t> version — the runtime is essentially linear in the number of pixels</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200"/>
              <a:t>Let's do a worked example so it sticks. Tiny 1D image: 3, 1, 2, 8, 2, 1, 3. You can read this as two dark objects — the two 1s — with a bright peak of 8 between them. We'd expect two regions with a boundary at the peak. Step one, compute the gradient. We slide a three-pixel window and take max minus min. For p3 the window is 1, 2, 8, so g = 7. For p4 the window is 2, 8, 2, so g = 6. For p1, p2, p6, p7 it's just 2. The full gradient is 2, 2, 7, 6, 7, 2, 2. Look at where the peaks of g land — p3 and p5 — exactly the steep slopes. And the bright peak p4 is actually a local minimum of g, which will matter in a second.</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200"/>
              <a:t>Now flood. Process pixels in order of g, lowest first. At g = 2 we have four tied: p1, p2, p6, p7. p1 starts B1, p2 joins. p6 starts B2, p7 joins. At g = 6, p4 has no labelled neighbours yet — p3 and p5 are still unprocessed — so p4 starts a third basin, B3. Finally at g = 7, p3 sees B1 and B3 as neighbours, two different basins, so it becomes a watershed pixel. Same for p5. End result: B1 is the left object, B2 is the right object, and B3 is just the peak — an extra region we didn't want. That's a tiny taste of over-segmentation, and it's coming for us in a big way in real images.</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200"/>
              <a:t>Same idea but in 2D. The classic demo from Beucher and Meyer is a greyscale image of soap bubbles. We're showing a simplified schematic, not a real micrograph. On the left, watershed on the raw image: the darkest pixel of each bubble is in its centre, so basins seed in the middle and the watershed lines cut right through bubble interiors. Useless. On the right, on the gradient: the gradient is high along the bubble walls, so the walls themselves become the watershed lines, and we get clean outlines of every bubble.</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200"/>
              <a:t>Here's the big practical problem. Theoretically watershed gives you a clean partition, but on real images it's a disaster. Real images have thousands of tiny dips in the gradient — noise, texture, JPEG artefacts — and every dip becomes its own basin. A normal 256 by 256 image can give you over ten thousand regions. Completely unusable. The fix is on the next slide.</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200"/>
              <a:t>The fix is markers. A marker is just a small blob of pixels that says 'a region I care about is here'. Two types. Internal markers go inside the objects you want — one per object. External markers go on the background and form a single basin for everything outside. You can place them by hand, like a radiologist clicking on lesions, or compute them automatically. Either way, you decide how many regions come out, instead of letting noise decide for you. To force watershed to respect the markers, we use geodesic reconstruction to lift every other minimum out of g.</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200" dirty="0"/>
              <a:t>Once you have markers, modify the gradient itself so its only valleys sit at those marker locations. That's geodesic reconstruction — every other minimum is filled in until it isn't a minimum anymore. Then you run plain watershed on this modified gradient, g-star, and you get exactly the number of regions you marked, plus one for the background. The classic application from Kaur and Jindal in 2011 is lung CT: plain watershed makes a fragmented mess, but with markers it produces a clean outline of the lung. We're showing the pipeline as a schematic, not a real CT scan.</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200"/>
              <a:t>Three failure modes. One — over-segmentation, which we just covered: noise and texture each seed their own basin, so you can get hundreds of regions where you wanted three. Markers fix this. Two — boundary leakage: when the edge between two objects has low contrast, the gradient ridge between them is too shallow, water spills over, and two objects merge into one. Clinically that's a missed boundary, which means a missed lesion. Three — noise sensitivity: gradient operators amplify high-frequency noise, creating spurious minima everywhere. On the reliability number: our study notes cite Gilani et al. 2025 reporting catastrophic failure rates of 20 to 33 percent for marker-free watershed on skin lesion images. That's a real concern. We're phrasing it cautiously on the slide and we'll re-verify the source before submission.</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200"/>
              <a:t>When does it actually break in practice? Three signals: low-contrast edges, no way to get reliable markers, or heavy noise and texture. If any of these describe your image, consider an alternative. Graph cuts treat segmentation as a global optimisation problem and solve it with max-flow min-cut. They give a globally optimal solution where watershed is greedy. Peng and Liu have a nice hybrid where watershed pre-segments and graph cut finishes the job, cutting runtime from 2.4 seconds to 0.6 on small images. Active contours start with a curve near the boundary and deform it to minimise an energy function. They always give continuous boundaries, which watershed doesn't always do. Both alternatives are slower than watershed, though — so watershed is still the right choice when conditions are good.</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200" dirty="0"/>
              <a:t>Where this gets used today. Medical imaging — Kaur and Jindal use marker-controlled watershed for lung lobe segmentation in CT. Dermatology — Gilani et al. apply it to </a:t>
            </a:r>
            <a:r>
              <a:rPr sz="1200" dirty="0" err="1"/>
              <a:t>dermoscopic</a:t>
            </a:r>
            <a:r>
              <a:rPr sz="1200" dirty="0"/>
              <a:t> lesion boundaries, and that's the study that produced the reliability audit we just talked about. Industrial — Niu et al. use an adaptive version for real-time particle sizing in fluid flow. And autonomous driving — Bai and Urtasun in 2017 build an instance segmentation system that uses watershed as the backbone but replaces the hand-crafted gradient with a learned CNN. So even modern deep-learning pipelines still use the watershed framework — they just upgrade the surface it floods.</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200"/>
              <a:t>To wrap up: the image is terrain. Flood from below and build dams where lakes meet. Run it on the gradient g(f), not the raw image, so boundaries land at edges. Naive watershed over-segments — use markers to control the number of regions. Watershed has no concept of objects, only gradient structure, so things like bright peaks can be regional minima in g. And marker-free watershed is fast but not clinically reliable. Thanks — happy to take questions.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5/15/26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5/15/26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5/15/26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5/15/26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5/15/26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5/15/26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5/15/26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5/15/26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5/15/26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5/15/26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5/15/26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5/15/26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A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65760"/>
            <a:ext cx="7315200" cy="208134"/>
          </a:xfrm>
          <a:prstGeom prst="rect">
            <a:avLst/>
          </a:prstGeom>
          <a:noFill/>
        </p:spPr>
        <p:txBody>
          <a:bodyPr wrap="square" lIns="0" tIns="18288" rIns="0" bIns="18288" anchor="t">
            <a:spAutoFit/>
          </a:bodyPr>
          <a:lstStyle/>
          <a:p>
            <a:pPr algn="l">
              <a:lnSpc>
                <a:spcPct val="115000"/>
              </a:lnSpc>
            </a:pPr>
            <a:r>
              <a:rPr sz="1000" b="0" i="0" spc="50" dirty="0">
                <a:solidFill>
                  <a:srgbClr val="6E6E6E"/>
                </a:solidFill>
                <a:latin typeface="Courier New"/>
              </a:rPr>
              <a:t>ARI2129  ·  Computer Vision</a:t>
            </a:r>
          </a:p>
        </p:txBody>
      </p:sp>
      <p:sp>
        <p:nvSpPr>
          <p:cNvPr id="6" name="TextBox 5"/>
          <p:cNvSpPr txBox="1"/>
          <p:nvPr/>
        </p:nvSpPr>
        <p:spPr>
          <a:xfrm>
            <a:off x="502920" y="1463040"/>
            <a:ext cx="11430000" cy="1097280"/>
          </a:xfrm>
          <a:prstGeom prst="rect">
            <a:avLst/>
          </a:prstGeom>
          <a:noFill/>
        </p:spPr>
        <p:txBody>
          <a:bodyPr wrap="square" lIns="0" tIns="18288" rIns="0" bIns="18288" anchor="t">
            <a:spAutoFit/>
          </a:bodyPr>
          <a:lstStyle/>
          <a:p>
            <a:pPr algn="l">
              <a:lnSpc>
                <a:spcPct val="105000"/>
              </a:lnSpc>
            </a:pPr>
            <a:r>
              <a:rPr sz="7200" b="0" i="0">
                <a:solidFill>
                  <a:srgbClr val="1A1A1A"/>
                </a:solidFill>
                <a:latin typeface="Georgia"/>
              </a:rPr>
              <a:t>Watershed </a:t>
            </a:r>
            <a:r>
              <a:rPr sz="7200" b="0" i="1">
                <a:solidFill>
                  <a:srgbClr val="1A1A1A"/>
                </a:solidFill>
                <a:latin typeface="Georgia"/>
              </a:rPr>
              <a:t>Segmentation.</a:t>
            </a:r>
          </a:p>
        </p:txBody>
      </p:sp>
      <p:sp>
        <p:nvSpPr>
          <p:cNvPr id="7" name="TextBox 6"/>
          <p:cNvSpPr txBox="1"/>
          <p:nvPr/>
        </p:nvSpPr>
        <p:spPr>
          <a:xfrm>
            <a:off x="548640" y="3566160"/>
            <a:ext cx="10058400" cy="914400"/>
          </a:xfrm>
          <a:prstGeom prst="rect">
            <a:avLst/>
          </a:prstGeom>
          <a:noFill/>
        </p:spPr>
        <p:txBody>
          <a:bodyPr wrap="square" lIns="0" tIns="18288" rIns="0" bIns="18288" anchor="t">
            <a:spAutoFit/>
          </a:bodyPr>
          <a:lstStyle/>
          <a:p>
            <a:pPr algn="l">
              <a:lnSpc>
                <a:spcPct val="130000"/>
              </a:lnSpc>
            </a:pPr>
            <a:r>
              <a:rPr sz="2200" b="0" i="1">
                <a:solidFill>
                  <a:srgbClr val="2C2C2C"/>
                </a:solidFill>
                <a:latin typeface="Georgia"/>
              </a:rPr>
              <a:t>A topographic method for partitioning images — where pixels become terrain and water carves the boundaries.</a:t>
            </a:r>
          </a:p>
        </p:txBody>
      </p:sp>
      <p:sp>
        <p:nvSpPr>
          <p:cNvPr id="8" name="TextBox 7"/>
          <p:cNvSpPr txBox="1"/>
          <p:nvPr/>
        </p:nvSpPr>
        <p:spPr>
          <a:xfrm>
            <a:off x="548640" y="5394960"/>
            <a:ext cx="10058400" cy="731520"/>
          </a:xfrm>
          <a:prstGeom prst="rect">
            <a:avLst/>
          </a:prstGeom>
          <a:noFill/>
        </p:spPr>
        <p:txBody>
          <a:bodyPr wrap="square" lIns="0" tIns="18288" rIns="0" bIns="18288" anchor="t">
            <a:spAutoFit/>
          </a:bodyPr>
          <a:lstStyle/>
          <a:p>
            <a:pPr algn="l">
              <a:lnSpc>
                <a:spcPct val="120000"/>
              </a:lnSpc>
            </a:pPr>
            <a:r>
              <a:rPr sz="1100" b="0" i="0">
                <a:solidFill>
                  <a:srgbClr val="6E6E6E"/>
                </a:solidFill>
                <a:latin typeface="Courier New"/>
              </a:rPr>
              <a:t>AUTHORS  </a:t>
            </a:r>
            <a:r>
              <a:rPr sz="1100" b="0" i="0">
                <a:solidFill>
                  <a:srgbClr val="2C2C2C"/>
                </a:solidFill>
                <a:latin typeface="Courier New"/>
              </a:rPr>
              <a:t>LUKE CAMILLERI  ·  JAKE DESIRA  ·  KURT ABELA  ·  TRISTIN BEZZINA  ·  NATHAN VELLA</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A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7315200" cy="208134"/>
          </a:xfrm>
          <a:prstGeom prst="rect">
            <a:avLst/>
          </a:prstGeom>
          <a:noFill/>
        </p:spPr>
        <p:txBody>
          <a:bodyPr wrap="square" lIns="0" tIns="18288" rIns="0" bIns="18288" anchor="t">
            <a:spAutoFit/>
          </a:bodyPr>
          <a:lstStyle/>
          <a:p>
            <a:pPr algn="l">
              <a:lnSpc>
                <a:spcPct val="115000"/>
              </a:lnSpc>
            </a:pPr>
            <a:r>
              <a:rPr sz="1000" b="0" i="0" spc="50" dirty="0">
                <a:solidFill>
                  <a:srgbClr val="6E6E6E"/>
                </a:solidFill>
                <a:latin typeface="Courier New"/>
              </a:rPr>
              <a:t>Introduction</a:t>
            </a:r>
          </a:p>
        </p:txBody>
      </p:sp>
      <p:sp>
        <p:nvSpPr>
          <p:cNvPr id="5" name="TextBox 4"/>
          <p:cNvSpPr txBox="1"/>
          <p:nvPr/>
        </p:nvSpPr>
        <p:spPr>
          <a:xfrm>
            <a:off x="548640" y="6400800"/>
            <a:ext cx="7315200" cy="274320"/>
          </a:xfrm>
          <a:prstGeom prst="rect">
            <a:avLst/>
          </a:prstGeom>
          <a:noFill/>
        </p:spPr>
        <p:txBody>
          <a:bodyPr wrap="square" lIns="0" tIns="18288" rIns="0" bIns="18288" anchor="t">
            <a:spAutoFit/>
          </a:bodyPr>
          <a:lstStyle/>
          <a:p>
            <a:pPr algn="l">
              <a:lnSpc>
                <a:spcPct val="115000"/>
              </a:lnSpc>
            </a:pPr>
            <a:r>
              <a:rPr sz="1000" b="0" i="0" spc="30">
                <a:solidFill>
                  <a:srgbClr val="6E6E6E"/>
                </a:solidFill>
                <a:latin typeface="Courier New"/>
              </a:rPr>
              <a:t>02 — Introduction</a:t>
            </a:r>
          </a:p>
        </p:txBody>
      </p:sp>
      <p:sp>
        <p:nvSpPr>
          <p:cNvPr id="7" name="TextBox 6"/>
          <p:cNvSpPr txBox="1"/>
          <p:nvPr/>
        </p:nvSpPr>
        <p:spPr>
          <a:xfrm>
            <a:off x="502920" y="1325880"/>
            <a:ext cx="11430000" cy="1097280"/>
          </a:xfrm>
          <a:prstGeom prst="rect">
            <a:avLst/>
          </a:prstGeom>
          <a:noFill/>
        </p:spPr>
        <p:txBody>
          <a:bodyPr wrap="square" lIns="0" tIns="18288" rIns="0" bIns="18288" anchor="t">
            <a:spAutoFit/>
          </a:bodyPr>
          <a:lstStyle/>
          <a:p>
            <a:pPr algn="l">
              <a:lnSpc>
                <a:spcPct val="105000"/>
              </a:lnSpc>
            </a:pPr>
            <a:r>
              <a:rPr sz="4400" b="0" i="0">
                <a:solidFill>
                  <a:srgbClr val="1A1A1A"/>
                </a:solidFill>
                <a:latin typeface="Georgia"/>
              </a:rPr>
              <a:t>What is image </a:t>
            </a:r>
            <a:r>
              <a:rPr sz="4400" b="0" i="1">
                <a:solidFill>
                  <a:srgbClr val="1A1A1A"/>
                </a:solidFill>
                <a:latin typeface="Georgia"/>
              </a:rPr>
              <a:t>segmentation</a:t>
            </a:r>
            <a:r>
              <a:rPr sz="4400" b="0" i="0">
                <a:solidFill>
                  <a:srgbClr val="1A1A1A"/>
                </a:solidFill>
                <a:latin typeface="Georgia"/>
              </a:rPr>
              <a:t>?</a:t>
            </a:r>
          </a:p>
        </p:txBody>
      </p:sp>
      <p:sp>
        <p:nvSpPr>
          <p:cNvPr id="8" name="TextBox 7"/>
          <p:cNvSpPr txBox="1"/>
          <p:nvPr/>
        </p:nvSpPr>
        <p:spPr>
          <a:xfrm>
            <a:off x="548640" y="2697480"/>
            <a:ext cx="10972800" cy="914400"/>
          </a:xfrm>
          <a:prstGeom prst="rect">
            <a:avLst/>
          </a:prstGeom>
          <a:noFill/>
        </p:spPr>
        <p:txBody>
          <a:bodyPr wrap="square" lIns="0" tIns="18288" rIns="0" bIns="18288" anchor="t">
            <a:spAutoFit/>
          </a:bodyPr>
          <a:lstStyle/>
          <a:p>
            <a:pPr algn="l">
              <a:lnSpc>
                <a:spcPct val="135000"/>
              </a:lnSpc>
            </a:pPr>
            <a:r>
              <a:rPr sz="1800" b="0" i="1">
                <a:solidFill>
                  <a:srgbClr val="2C2C2C"/>
                </a:solidFill>
                <a:latin typeface="Georgia"/>
              </a:rPr>
              <a:t>Splitting an image into regions that mean something — a tumour, a cell, a building, a road. Almost every computer vision task starts with this question: </a:t>
            </a:r>
            <a:r>
              <a:rPr sz="1800" b="0" i="1">
                <a:solidFill>
                  <a:srgbClr val="1A1A1A"/>
                </a:solidFill>
                <a:latin typeface="Georgia"/>
              </a:rPr>
              <a:t>what is where?</a:t>
            </a:r>
          </a:p>
        </p:txBody>
      </p:sp>
      <p:sp>
        <p:nvSpPr>
          <p:cNvPr id="9" name="Rounded Rectangle 8"/>
          <p:cNvSpPr/>
          <p:nvPr/>
        </p:nvSpPr>
        <p:spPr>
          <a:xfrm>
            <a:off x="548640" y="4023360"/>
            <a:ext cx="3657600" cy="1874519"/>
          </a:xfrm>
          <a:prstGeom prst="roundRect">
            <a:avLst>
              <a:gd name="adj" fmla="val 6000"/>
            </a:avLst>
          </a:prstGeom>
          <a:solidFill>
            <a:srgbClr val="F6F4EE"/>
          </a:solidFill>
          <a:ln w="6350">
            <a:solidFill>
              <a:srgbClr val="D4D1C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77240" y="4206240"/>
            <a:ext cx="3200400" cy="274320"/>
          </a:xfrm>
          <a:prstGeom prst="rect">
            <a:avLst/>
          </a:prstGeom>
          <a:noFill/>
        </p:spPr>
        <p:txBody>
          <a:bodyPr wrap="square" lIns="0" tIns="18288" rIns="0" bIns="18288" anchor="t">
            <a:spAutoFit/>
          </a:bodyPr>
          <a:lstStyle/>
          <a:p>
            <a:pPr algn="l">
              <a:lnSpc>
                <a:spcPct val="115000"/>
              </a:lnSpc>
            </a:pPr>
            <a:r>
              <a:rPr sz="900" b="0" i="0" spc="80">
                <a:solidFill>
                  <a:srgbClr val="6E6E6E"/>
                </a:solidFill>
                <a:latin typeface="Courier New"/>
              </a:rPr>
              <a:t>DOMAIN  ·  01</a:t>
            </a:r>
          </a:p>
        </p:txBody>
      </p:sp>
      <p:sp>
        <p:nvSpPr>
          <p:cNvPr id="11" name="TextBox 10"/>
          <p:cNvSpPr txBox="1"/>
          <p:nvPr/>
        </p:nvSpPr>
        <p:spPr>
          <a:xfrm>
            <a:off x="777240" y="4526280"/>
            <a:ext cx="3200400" cy="457200"/>
          </a:xfrm>
          <a:prstGeom prst="rect">
            <a:avLst/>
          </a:prstGeom>
          <a:noFill/>
        </p:spPr>
        <p:txBody>
          <a:bodyPr wrap="square" lIns="0" tIns="18288" rIns="0" bIns="18288" anchor="t">
            <a:spAutoFit/>
          </a:bodyPr>
          <a:lstStyle/>
          <a:p>
            <a:pPr algn="l">
              <a:lnSpc>
                <a:spcPct val="115000"/>
              </a:lnSpc>
            </a:pPr>
            <a:r>
              <a:rPr sz="1800" b="0" i="0">
                <a:solidFill>
                  <a:srgbClr val="1A1A1A"/>
                </a:solidFill>
                <a:latin typeface="Georgia"/>
              </a:rPr>
              <a:t>Medical imaging</a:t>
            </a:r>
          </a:p>
        </p:txBody>
      </p:sp>
      <p:sp>
        <p:nvSpPr>
          <p:cNvPr id="12" name="TextBox 11"/>
          <p:cNvSpPr txBox="1"/>
          <p:nvPr/>
        </p:nvSpPr>
        <p:spPr>
          <a:xfrm>
            <a:off x="777240" y="4937760"/>
            <a:ext cx="3200400" cy="914400"/>
          </a:xfrm>
          <a:prstGeom prst="rect">
            <a:avLst/>
          </a:prstGeom>
          <a:noFill/>
        </p:spPr>
        <p:txBody>
          <a:bodyPr wrap="square" lIns="0" tIns="18288" rIns="0" bIns="18288" anchor="t">
            <a:spAutoFit/>
          </a:bodyPr>
          <a:lstStyle/>
          <a:p>
            <a:pPr algn="l">
              <a:lnSpc>
                <a:spcPct val="135000"/>
              </a:lnSpc>
            </a:pPr>
            <a:r>
              <a:rPr sz="1200" b="0" i="0">
                <a:solidFill>
                  <a:srgbClr val="2C2C2C"/>
                </a:solidFill>
                <a:latin typeface="Calibri"/>
              </a:rPr>
              <a:t>Delineating tumour boundaries in CT and MRI scans, separating cells in histology slides.</a:t>
            </a:r>
          </a:p>
        </p:txBody>
      </p:sp>
      <p:sp>
        <p:nvSpPr>
          <p:cNvPr id="13" name="Rounded Rectangle 12"/>
          <p:cNvSpPr/>
          <p:nvPr/>
        </p:nvSpPr>
        <p:spPr>
          <a:xfrm>
            <a:off x="4343400" y="4023360"/>
            <a:ext cx="3657600" cy="1874519"/>
          </a:xfrm>
          <a:prstGeom prst="roundRect">
            <a:avLst>
              <a:gd name="adj" fmla="val 6000"/>
            </a:avLst>
          </a:prstGeom>
          <a:solidFill>
            <a:srgbClr val="F6F4EE"/>
          </a:solidFill>
          <a:ln w="6350">
            <a:solidFill>
              <a:srgbClr val="D4D1C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572000" y="4206240"/>
            <a:ext cx="3200400" cy="274320"/>
          </a:xfrm>
          <a:prstGeom prst="rect">
            <a:avLst/>
          </a:prstGeom>
          <a:noFill/>
        </p:spPr>
        <p:txBody>
          <a:bodyPr wrap="square" lIns="0" tIns="18288" rIns="0" bIns="18288" anchor="t">
            <a:spAutoFit/>
          </a:bodyPr>
          <a:lstStyle/>
          <a:p>
            <a:pPr algn="l">
              <a:lnSpc>
                <a:spcPct val="115000"/>
              </a:lnSpc>
            </a:pPr>
            <a:r>
              <a:rPr sz="900" b="0" i="0" spc="80">
                <a:solidFill>
                  <a:srgbClr val="6E6E6E"/>
                </a:solidFill>
                <a:latin typeface="Courier New"/>
              </a:rPr>
              <a:t>DOMAIN  ·  02</a:t>
            </a:r>
          </a:p>
        </p:txBody>
      </p:sp>
      <p:sp>
        <p:nvSpPr>
          <p:cNvPr id="15" name="TextBox 14"/>
          <p:cNvSpPr txBox="1"/>
          <p:nvPr/>
        </p:nvSpPr>
        <p:spPr>
          <a:xfrm>
            <a:off x="4572000" y="4526280"/>
            <a:ext cx="3200400" cy="457200"/>
          </a:xfrm>
          <a:prstGeom prst="rect">
            <a:avLst/>
          </a:prstGeom>
          <a:noFill/>
        </p:spPr>
        <p:txBody>
          <a:bodyPr wrap="square" lIns="0" tIns="18288" rIns="0" bIns="18288" anchor="t">
            <a:spAutoFit/>
          </a:bodyPr>
          <a:lstStyle/>
          <a:p>
            <a:pPr algn="l">
              <a:lnSpc>
                <a:spcPct val="115000"/>
              </a:lnSpc>
            </a:pPr>
            <a:r>
              <a:rPr sz="1800" b="0" i="0">
                <a:solidFill>
                  <a:srgbClr val="1A1A1A"/>
                </a:solidFill>
                <a:latin typeface="Georgia"/>
              </a:rPr>
              <a:t>Remote sensing</a:t>
            </a:r>
          </a:p>
        </p:txBody>
      </p:sp>
      <p:sp>
        <p:nvSpPr>
          <p:cNvPr id="16" name="TextBox 15"/>
          <p:cNvSpPr txBox="1"/>
          <p:nvPr/>
        </p:nvSpPr>
        <p:spPr>
          <a:xfrm>
            <a:off x="4572000" y="4937760"/>
            <a:ext cx="3200400" cy="914400"/>
          </a:xfrm>
          <a:prstGeom prst="rect">
            <a:avLst/>
          </a:prstGeom>
          <a:noFill/>
        </p:spPr>
        <p:txBody>
          <a:bodyPr wrap="square" lIns="0" tIns="18288" rIns="0" bIns="18288" anchor="t">
            <a:spAutoFit/>
          </a:bodyPr>
          <a:lstStyle/>
          <a:p>
            <a:pPr algn="l">
              <a:lnSpc>
                <a:spcPct val="135000"/>
              </a:lnSpc>
            </a:pPr>
            <a:r>
              <a:rPr sz="1200" b="0" i="0">
                <a:solidFill>
                  <a:srgbClr val="2C2C2C"/>
                </a:solidFill>
                <a:latin typeface="Calibri"/>
              </a:rPr>
              <a:t>Identifying land cover, water bodies, and built environment in satellite imagery.</a:t>
            </a:r>
          </a:p>
        </p:txBody>
      </p:sp>
      <p:sp>
        <p:nvSpPr>
          <p:cNvPr id="17" name="Rounded Rectangle 16"/>
          <p:cNvSpPr/>
          <p:nvPr/>
        </p:nvSpPr>
        <p:spPr>
          <a:xfrm>
            <a:off x="8138160" y="4023360"/>
            <a:ext cx="3657600" cy="1874519"/>
          </a:xfrm>
          <a:prstGeom prst="roundRect">
            <a:avLst>
              <a:gd name="adj" fmla="val 6000"/>
            </a:avLst>
          </a:prstGeom>
          <a:solidFill>
            <a:srgbClr val="F6F4EE"/>
          </a:solidFill>
          <a:ln w="6350">
            <a:solidFill>
              <a:srgbClr val="D4D1C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366760" y="4206240"/>
            <a:ext cx="3200400" cy="274320"/>
          </a:xfrm>
          <a:prstGeom prst="rect">
            <a:avLst/>
          </a:prstGeom>
          <a:noFill/>
        </p:spPr>
        <p:txBody>
          <a:bodyPr wrap="square" lIns="0" tIns="18288" rIns="0" bIns="18288" anchor="t">
            <a:spAutoFit/>
          </a:bodyPr>
          <a:lstStyle/>
          <a:p>
            <a:pPr algn="l">
              <a:lnSpc>
                <a:spcPct val="115000"/>
              </a:lnSpc>
            </a:pPr>
            <a:r>
              <a:rPr sz="900" b="0" i="0" spc="80">
                <a:solidFill>
                  <a:srgbClr val="6E6E6E"/>
                </a:solidFill>
                <a:latin typeface="Courier New"/>
              </a:rPr>
              <a:t>DOMAIN  ·  03</a:t>
            </a:r>
          </a:p>
        </p:txBody>
      </p:sp>
      <p:sp>
        <p:nvSpPr>
          <p:cNvPr id="19" name="TextBox 18"/>
          <p:cNvSpPr txBox="1"/>
          <p:nvPr/>
        </p:nvSpPr>
        <p:spPr>
          <a:xfrm>
            <a:off x="8366760" y="4526280"/>
            <a:ext cx="3200400" cy="457200"/>
          </a:xfrm>
          <a:prstGeom prst="rect">
            <a:avLst/>
          </a:prstGeom>
          <a:noFill/>
        </p:spPr>
        <p:txBody>
          <a:bodyPr wrap="square" lIns="0" tIns="18288" rIns="0" bIns="18288" anchor="t">
            <a:spAutoFit/>
          </a:bodyPr>
          <a:lstStyle/>
          <a:p>
            <a:pPr algn="l">
              <a:lnSpc>
                <a:spcPct val="115000"/>
              </a:lnSpc>
            </a:pPr>
            <a:r>
              <a:rPr sz="1800" b="0" i="0">
                <a:solidFill>
                  <a:srgbClr val="1A1A1A"/>
                </a:solidFill>
                <a:latin typeface="Georgia"/>
              </a:rPr>
              <a:t>Industrial  ·  vision</a:t>
            </a:r>
          </a:p>
        </p:txBody>
      </p:sp>
      <p:sp>
        <p:nvSpPr>
          <p:cNvPr id="20" name="TextBox 19"/>
          <p:cNvSpPr txBox="1"/>
          <p:nvPr/>
        </p:nvSpPr>
        <p:spPr>
          <a:xfrm>
            <a:off x="8366760" y="4937760"/>
            <a:ext cx="3200400" cy="914400"/>
          </a:xfrm>
          <a:prstGeom prst="rect">
            <a:avLst/>
          </a:prstGeom>
          <a:noFill/>
        </p:spPr>
        <p:txBody>
          <a:bodyPr wrap="square" lIns="0" tIns="18288" rIns="0" bIns="18288" anchor="t">
            <a:spAutoFit/>
          </a:bodyPr>
          <a:lstStyle/>
          <a:p>
            <a:pPr algn="l">
              <a:lnSpc>
                <a:spcPct val="135000"/>
              </a:lnSpc>
            </a:pPr>
            <a:r>
              <a:rPr sz="1200" b="0" i="0">
                <a:solidFill>
                  <a:srgbClr val="2C2C2C"/>
                </a:solidFill>
                <a:latin typeface="Calibri"/>
              </a:rPr>
              <a:t>Particle sizing in fluid flow; instance segmentation for autonomous driving.</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A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7315200" cy="208134"/>
          </a:xfrm>
          <a:prstGeom prst="rect">
            <a:avLst/>
          </a:prstGeom>
          <a:noFill/>
        </p:spPr>
        <p:txBody>
          <a:bodyPr wrap="square" lIns="0" tIns="18288" rIns="0" bIns="18288" anchor="t">
            <a:spAutoFit/>
          </a:bodyPr>
          <a:lstStyle/>
          <a:p>
            <a:pPr algn="l">
              <a:lnSpc>
                <a:spcPct val="115000"/>
              </a:lnSpc>
            </a:pPr>
            <a:r>
              <a:rPr sz="1000" b="0" i="0" spc="50" dirty="0">
                <a:solidFill>
                  <a:srgbClr val="6E6E6E"/>
                </a:solidFill>
                <a:latin typeface="Courier New"/>
              </a:rPr>
              <a:t>Topographical Metaphor</a:t>
            </a:r>
          </a:p>
        </p:txBody>
      </p:sp>
      <p:sp>
        <p:nvSpPr>
          <p:cNvPr id="5" name="TextBox 4"/>
          <p:cNvSpPr txBox="1"/>
          <p:nvPr/>
        </p:nvSpPr>
        <p:spPr>
          <a:xfrm>
            <a:off x="548640" y="6400800"/>
            <a:ext cx="7315200" cy="274320"/>
          </a:xfrm>
          <a:prstGeom prst="rect">
            <a:avLst/>
          </a:prstGeom>
          <a:noFill/>
        </p:spPr>
        <p:txBody>
          <a:bodyPr wrap="square" lIns="0" tIns="18288" rIns="0" bIns="18288" anchor="t">
            <a:spAutoFit/>
          </a:bodyPr>
          <a:lstStyle/>
          <a:p>
            <a:pPr algn="l">
              <a:lnSpc>
                <a:spcPct val="115000"/>
              </a:lnSpc>
            </a:pPr>
            <a:r>
              <a:rPr sz="1000" b="0" i="0" spc="30">
                <a:solidFill>
                  <a:srgbClr val="6E6E6E"/>
                </a:solidFill>
                <a:latin typeface="Courier New"/>
              </a:rPr>
              <a:t>03 — From image to landscape</a:t>
            </a:r>
          </a:p>
        </p:txBody>
      </p:sp>
      <p:sp>
        <p:nvSpPr>
          <p:cNvPr id="7" name="TextBox 6"/>
          <p:cNvSpPr txBox="1"/>
          <p:nvPr/>
        </p:nvSpPr>
        <p:spPr>
          <a:xfrm>
            <a:off x="502920" y="1325880"/>
            <a:ext cx="11430000" cy="1097280"/>
          </a:xfrm>
          <a:prstGeom prst="rect">
            <a:avLst/>
          </a:prstGeom>
          <a:noFill/>
        </p:spPr>
        <p:txBody>
          <a:bodyPr wrap="square" lIns="0" tIns="18288" rIns="0" bIns="18288" anchor="t">
            <a:spAutoFit/>
          </a:bodyPr>
          <a:lstStyle/>
          <a:p>
            <a:pPr algn="l">
              <a:lnSpc>
                <a:spcPct val="105000"/>
              </a:lnSpc>
            </a:pPr>
            <a:r>
              <a:rPr sz="4400" b="0" i="0">
                <a:solidFill>
                  <a:srgbClr val="1A1A1A"/>
                </a:solidFill>
                <a:latin typeface="Georgia"/>
              </a:rPr>
              <a:t>A greyscale image </a:t>
            </a:r>
            <a:r>
              <a:rPr sz="4400" b="0" i="1">
                <a:solidFill>
                  <a:srgbClr val="1A1A1A"/>
                </a:solidFill>
                <a:latin typeface="Georgia"/>
              </a:rPr>
              <a:t>is</a:t>
            </a:r>
            <a:r>
              <a:rPr sz="4400" b="0" i="0">
                <a:solidFill>
                  <a:srgbClr val="1A1A1A"/>
                </a:solidFill>
                <a:latin typeface="Georgia"/>
              </a:rPr>
              <a:t> a terrain.</a:t>
            </a:r>
          </a:p>
        </p:txBody>
      </p:sp>
      <p:sp>
        <p:nvSpPr>
          <p:cNvPr id="8" name="TextBox 7"/>
          <p:cNvSpPr txBox="1"/>
          <p:nvPr/>
        </p:nvSpPr>
        <p:spPr>
          <a:xfrm>
            <a:off x="548640" y="2697480"/>
            <a:ext cx="7315200" cy="850361"/>
          </a:xfrm>
          <a:prstGeom prst="rect">
            <a:avLst/>
          </a:prstGeom>
          <a:noFill/>
        </p:spPr>
        <p:txBody>
          <a:bodyPr wrap="square" lIns="0" tIns="18288" rIns="0" bIns="18288" anchor="t">
            <a:spAutoFit/>
          </a:bodyPr>
          <a:lstStyle/>
          <a:p>
            <a:pPr algn="l">
              <a:lnSpc>
                <a:spcPct val="140000"/>
              </a:lnSpc>
            </a:pPr>
            <a:r>
              <a:rPr sz="2000" b="0" i="1" dirty="0">
                <a:solidFill>
                  <a:srgbClr val="2C2C2C"/>
                </a:solidFill>
                <a:latin typeface="Georgia"/>
              </a:rPr>
              <a:t>Bright pixels = mountains. Dark pixels = valleys. </a:t>
            </a:r>
          </a:p>
          <a:p>
            <a:pPr algn="l">
              <a:lnSpc>
                <a:spcPct val="140000"/>
              </a:lnSpc>
            </a:pPr>
            <a:r>
              <a:rPr sz="2000" b="0" i="1" dirty="0">
                <a:solidFill>
                  <a:srgbClr val="1A1A1A"/>
                </a:solidFill>
                <a:latin typeface="Georgia"/>
              </a:rPr>
              <a:t>If it rained on this landscape, where would the water </a:t>
            </a:r>
            <a:r>
              <a:rPr lang="en-GB" sz="2000" i="1" dirty="0">
                <a:solidFill>
                  <a:srgbClr val="1A1A1A"/>
                </a:solidFill>
                <a:latin typeface="Georgia"/>
              </a:rPr>
              <a:t>go</a:t>
            </a:r>
            <a:r>
              <a:rPr sz="2000" b="0" i="1" dirty="0">
                <a:solidFill>
                  <a:srgbClr val="1A1A1A"/>
                </a:solidFill>
                <a:latin typeface="Georgia"/>
              </a:rPr>
              <a:t>?</a:t>
            </a:r>
          </a:p>
        </p:txBody>
      </p:sp>
      <p:sp>
        <p:nvSpPr>
          <p:cNvPr id="9" name="Rounded Rectangle 8"/>
          <p:cNvSpPr/>
          <p:nvPr/>
        </p:nvSpPr>
        <p:spPr>
          <a:xfrm>
            <a:off x="6949440" y="4160520"/>
            <a:ext cx="4663440" cy="2103120"/>
          </a:xfrm>
          <a:prstGeom prst="roundRect">
            <a:avLst>
              <a:gd name="adj" fmla="val 6000"/>
            </a:avLst>
          </a:prstGeom>
          <a:solidFill>
            <a:srgbClr val="F6F4EE"/>
          </a:solidFill>
          <a:ln w="6350">
            <a:solidFill>
              <a:srgbClr val="D4D1C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0" name="Connector 9"/>
          <p:cNvCxnSpPr/>
          <p:nvPr/>
        </p:nvCxnSpPr>
        <p:spPr>
          <a:xfrm>
            <a:off x="7223760" y="5897880"/>
            <a:ext cx="4114800" cy="0"/>
          </a:xfrm>
          <a:prstGeom prst="line">
            <a:avLst/>
          </a:prstGeom>
          <a:ln w="9525">
            <a:solidFill>
              <a:srgbClr val="6E6E6E"/>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7223760" y="5143500"/>
            <a:ext cx="411480" cy="754380"/>
          </a:xfrm>
          <a:prstGeom prst="line">
            <a:avLst/>
          </a:prstGeom>
          <a:ln w="19050">
            <a:solidFill>
              <a:srgbClr val="1A1A1A"/>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7635240" y="4663440"/>
            <a:ext cx="493776" cy="480060"/>
          </a:xfrm>
          <a:prstGeom prst="line">
            <a:avLst/>
          </a:prstGeom>
          <a:ln w="19050">
            <a:solidFill>
              <a:srgbClr val="1A1A1A"/>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8129016" y="4663440"/>
            <a:ext cx="493776" cy="617220"/>
          </a:xfrm>
          <a:prstGeom prst="line">
            <a:avLst/>
          </a:prstGeom>
          <a:ln w="19050">
            <a:solidFill>
              <a:srgbClr val="1A1A1A"/>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8622792" y="5280660"/>
            <a:ext cx="452628" cy="315468"/>
          </a:xfrm>
          <a:prstGeom prst="line">
            <a:avLst/>
          </a:prstGeom>
          <a:ln w="19050">
            <a:solidFill>
              <a:srgbClr val="1A1A1A"/>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V="1">
            <a:off x="9075420" y="5074920"/>
            <a:ext cx="411480" cy="521208"/>
          </a:xfrm>
          <a:prstGeom prst="line">
            <a:avLst/>
          </a:prstGeom>
          <a:ln w="19050">
            <a:solidFill>
              <a:srgbClr val="1A1A1A"/>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V="1">
            <a:off x="9486900" y="4594860"/>
            <a:ext cx="452628" cy="480060"/>
          </a:xfrm>
          <a:prstGeom prst="line">
            <a:avLst/>
          </a:prstGeom>
          <a:ln w="19050">
            <a:solidFill>
              <a:srgbClr val="1A1A1A"/>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9939528" y="4594860"/>
            <a:ext cx="493776" cy="548640"/>
          </a:xfrm>
          <a:prstGeom prst="line">
            <a:avLst/>
          </a:prstGeom>
          <a:ln w="19050">
            <a:solidFill>
              <a:srgbClr val="1A1A1A"/>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0433304" y="5143500"/>
            <a:ext cx="411480" cy="411480"/>
          </a:xfrm>
          <a:prstGeom prst="line">
            <a:avLst/>
          </a:prstGeom>
          <a:ln w="19050">
            <a:solidFill>
              <a:srgbClr val="1A1A1A"/>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10844784" y="5554980"/>
            <a:ext cx="493776" cy="205740"/>
          </a:xfrm>
          <a:prstGeom prst="line">
            <a:avLst/>
          </a:prstGeom>
          <a:ln w="19050">
            <a:solidFill>
              <a:srgbClr val="1A1A1A"/>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7223760" y="5554980"/>
            <a:ext cx="4114800" cy="0"/>
          </a:xfrm>
          <a:prstGeom prst="line">
            <a:avLst/>
          </a:prstGeom>
          <a:ln w="12700">
            <a:solidFill>
              <a:srgbClr val="8EB1CC"/>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7223760" y="4480560"/>
            <a:ext cx="1828800" cy="274320"/>
          </a:xfrm>
          <a:prstGeom prst="rect">
            <a:avLst/>
          </a:prstGeom>
          <a:noFill/>
        </p:spPr>
        <p:txBody>
          <a:bodyPr wrap="square" lIns="0" tIns="18288" rIns="0" bIns="18288" anchor="t">
            <a:spAutoFit/>
          </a:bodyPr>
          <a:lstStyle/>
          <a:p>
            <a:pPr algn="l">
              <a:lnSpc>
                <a:spcPct val="115000"/>
              </a:lnSpc>
            </a:pPr>
            <a:r>
              <a:rPr sz="900" b="0" i="0">
                <a:solidFill>
                  <a:srgbClr val="6E6E6E"/>
                </a:solidFill>
                <a:latin typeface="Courier New"/>
              </a:rPr>
              <a:t>intensity = elevation</a:t>
            </a:r>
          </a:p>
        </p:txBody>
      </p:sp>
      <p:sp>
        <p:nvSpPr>
          <p:cNvPr id="22" name="TextBox 21"/>
          <p:cNvSpPr txBox="1"/>
          <p:nvPr/>
        </p:nvSpPr>
        <p:spPr>
          <a:xfrm>
            <a:off x="9875520" y="5600700"/>
            <a:ext cx="1371600" cy="228600"/>
          </a:xfrm>
          <a:prstGeom prst="rect">
            <a:avLst/>
          </a:prstGeom>
          <a:noFill/>
        </p:spPr>
        <p:txBody>
          <a:bodyPr wrap="square" lIns="0" tIns="18288" rIns="0" bIns="18288" anchor="t">
            <a:spAutoFit/>
          </a:bodyPr>
          <a:lstStyle/>
          <a:p>
            <a:pPr algn="r">
              <a:lnSpc>
                <a:spcPct val="115000"/>
              </a:lnSpc>
            </a:pPr>
            <a:r>
              <a:rPr sz="900" b="0" i="0">
                <a:solidFill>
                  <a:srgbClr val="8EB1CC"/>
                </a:solidFill>
                <a:latin typeface="Courier New"/>
              </a:rPr>
              <a:t>↑ water rises</a:t>
            </a:r>
          </a:p>
        </p:txBody>
      </p:sp>
      <p:sp>
        <p:nvSpPr>
          <p:cNvPr id="23" name="TextBox 22"/>
          <p:cNvSpPr txBox="1"/>
          <p:nvPr/>
        </p:nvSpPr>
        <p:spPr>
          <a:xfrm>
            <a:off x="7178040" y="4251960"/>
            <a:ext cx="2743200" cy="274320"/>
          </a:xfrm>
          <a:prstGeom prst="rect">
            <a:avLst/>
          </a:prstGeom>
          <a:noFill/>
        </p:spPr>
        <p:txBody>
          <a:bodyPr wrap="square" lIns="0" tIns="18288" rIns="0" bIns="18288" anchor="t">
            <a:spAutoFit/>
          </a:bodyPr>
          <a:lstStyle/>
          <a:p>
            <a:pPr algn="l">
              <a:lnSpc>
                <a:spcPct val="115000"/>
              </a:lnSpc>
            </a:pPr>
            <a:r>
              <a:rPr sz="900" b="0" i="0" spc="80">
                <a:solidFill>
                  <a:srgbClr val="6E6E6E"/>
                </a:solidFill>
                <a:latin typeface="Courier New"/>
              </a:rPr>
              <a:t>SCHEMATIC</a:t>
            </a:r>
          </a:p>
        </p:txBody>
      </p:sp>
      <p:sp>
        <p:nvSpPr>
          <p:cNvPr id="24" name="TextBox 23"/>
          <p:cNvSpPr txBox="1"/>
          <p:nvPr/>
        </p:nvSpPr>
        <p:spPr>
          <a:xfrm>
            <a:off x="7178040" y="5897880"/>
            <a:ext cx="4206240" cy="274320"/>
          </a:xfrm>
          <a:prstGeom prst="rect">
            <a:avLst/>
          </a:prstGeom>
          <a:noFill/>
        </p:spPr>
        <p:txBody>
          <a:bodyPr wrap="square" lIns="0" tIns="18288" rIns="0" bIns="18288" anchor="t">
            <a:spAutoFit/>
          </a:bodyPr>
          <a:lstStyle/>
          <a:p>
            <a:pPr algn="l">
              <a:lnSpc>
                <a:spcPct val="115000"/>
              </a:lnSpc>
            </a:pPr>
            <a:r>
              <a:rPr sz="1100" b="0" i="1">
                <a:solidFill>
                  <a:srgbClr val="6E6E6E"/>
                </a:solidFill>
                <a:latin typeface="Calibri"/>
              </a:rPr>
              <a:t>1D cross-section of an image as terrain — simplified.</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A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7315200" cy="208134"/>
          </a:xfrm>
          <a:prstGeom prst="rect">
            <a:avLst/>
          </a:prstGeom>
          <a:noFill/>
        </p:spPr>
        <p:txBody>
          <a:bodyPr wrap="square" lIns="0" tIns="18288" rIns="0" bIns="18288" anchor="t">
            <a:spAutoFit/>
          </a:bodyPr>
          <a:lstStyle/>
          <a:p>
            <a:pPr algn="l">
              <a:lnSpc>
                <a:spcPct val="115000"/>
              </a:lnSpc>
            </a:pPr>
            <a:r>
              <a:rPr sz="1000" b="0" i="0" spc="50" dirty="0">
                <a:solidFill>
                  <a:srgbClr val="6E6E6E"/>
                </a:solidFill>
                <a:latin typeface="Courier New"/>
              </a:rPr>
              <a:t>Key Definitions</a:t>
            </a:r>
          </a:p>
        </p:txBody>
      </p:sp>
      <p:sp>
        <p:nvSpPr>
          <p:cNvPr id="5" name="TextBox 4"/>
          <p:cNvSpPr txBox="1"/>
          <p:nvPr/>
        </p:nvSpPr>
        <p:spPr>
          <a:xfrm>
            <a:off x="548640" y="6400800"/>
            <a:ext cx="7315200" cy="274320"/>
          </a:xfrm>
          <a:prstGeom prst="rect">
            <a:avLst/>
          </a:prstGeom>
          <a:noFill/>
        </p:spPr>
        <p:txBody>
          <a:bodyPr wrap="square" lIns="0" tIns="18288" rIns="0" bIns="18288" anchor="t">
            <a:spAutoFit/>
          </a:bodyPr>
          <a:lstStyle/>
          <a:p>
            <a:pPr algn="l">
              <a:lnSpc>
                <a:spcPct val="115000"/>
              </a:lnSpc>
            </a:pPr>
            <a:r>
              <a:rPr sz="1000" b="0" i="0" spc="30">
                <a:solidFill>
                  <a:srgbClr val="6E6E6E"/>
                </a:solidFill>
                <a:latin typeface="Courier New"/>
              </a:rPr>
              <a:t>04 — Vocabulary</a:t>
            </a:r>
          </a:p>
        </p:txBody>
      </p:sp>
      <p:sp>
        <p:nvSpPr>
          <p:cNvPr id="7" name="TextBox 6"/>
          <p:cNvSpPr txBox="1"/>
          <p:nvPr/>
        </p:nvSpPr>
        <p:spPr>
          <a:xfrm>
            <a:off x="502920" y="1325880"/>
            <a:ext cx="11430000" cy="1097280"/>
          </a:xfrm>
          <a:prstGeom prst="rect">
            <a:avLst/>
          </a:prstGeom>
          <a:noFill/>
        </p:spPr>
        <p:txBody>
          <a:bodyPr wrap="square" lIns="0" tIns="18288" rIns="0" bIns="18288" anchor="t">
            <a:spAutoFit/>
          </a:bodyPr>
          <a:lstStyle/>
          <a:p>
            <a:pPr algn="l">
              <a:lnSpc>
                <a:spcPct val="105000"/>
              </a:lnSpc>
            </a:pPr>
            <a:r>
              <a:rPr sz="3800" b="0" i="0">
                <a:solidFill>
                  <a:srgbClr val="1A1A1A"/>
                </a:solidFill>
                <a:latin typeface="Georgia"/>
              </a:rPr>
              <a:t>Words you'll hear </a:t>
            </a:r>
            <a:r>
              <a:rPr sz="3800" b="0" i="1">
                <a:solidFill>
                  <a:srgbClr val="1A1A1A"/>
                </a:solidFill>
                <a:latin typeface="Georgia"/>
              </a:rPr>
              <a:t>throughout</a:t>
            </a:r>
            <a:r>
              <a:rPr sz="3800" b="0" i="0">
                <a:solidFill>
                  <a:srgbClr val="1A1A1A"/>
                </a:solidFill>
                <a:latin typeface="Georgia"/>
              </a:rPr>
              <a:t> this talk.</a:t>
            </a:r>
          </a:p>
        </p:txBody>
      </p:sp>
      <p:sp>
        <p:nvSpPr>
          <p:cNvPr id="8" name="Rounded Rectangle 7"/>
          <p:cNvSpPr/>
          <p:nvPr/>
        </p:nvSpPr>
        <p:spPr>
          <a:xfrm>
            <a:off x="548640" y="2788920"/>
            <a:ext cx="3657600" cy="3200400"/>
          </a:xfrm>
          <a:prstGeom prst="roundRect">
            <a:avLst>
              <a:gd name="adj" fmla="val 6000"/>
            </a:avLst>
          </a:prstGeom>
          <a:solidFill>
            <a:srgbClr val="F6F4EE"/>
          </a:solidFill>
          <a:ln w="6350">
            <a:solidFill>
              <a:srgbClr val="D4D1C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22960" y="3063240"/>
            <a:ext cx="3108960" cy="274320"/>
          </a:xfrm>
          <a:prstGeom prst="rect">
            <a:avLst/>
          </a:prstGeom>
          <a:noFill/>
        </p:spPr>
        <p:txBody>
          <a:bodyPr wrap="square" lIns="0" tIns="18288" rIns="0" bIns="18288" anchor="t">
            <a:spAutoFit/>
          </a:bodyPr>
          <a:lstStyle/>
          <a:p>
            <a:pPr algn="l">
              <a:lnSpc>
                <a:spcPct val="115000"/>
              </a:lnSpc>
            </a:pPr>
            <a:r>
              <a:rPr sz="1000" b="0" i="0" spc="80">
                <a:solidFill>
                  <a:srgbClr val="1F5FA8"/>
                </a:solidFill>
                <a:latin typeface="Courier New"/>
              </a:rPr>
              <a:t>01 / VALLEY FLOOR</a:t>
            </a:r>
          </a:p>
        </p:txBody>
      </p:sp>
      <p:sp>
        <p:nvSpPr>
          <p:cNvPr id="10" name="TextBox 9"/>
          <p:cNvSpPr txBox="1"/>
          <p:nvPr/>
        </p:nvSpPr>
        <p:spPr>
          <a:xfrm>
            <a:off x="822960" y="3474720"/>
            <a:ext cx="3108960" cy="548640"/>
          </a:xfrm>
          <a:prstGeom prst="rect">
            <a:avLst/>
          </a:prstGeom>
          <a:noFill/>
        </p:spPr>
        <p:txBody>
          <a:bodyPr wrap="square" lIns="0" tIns="18288" rIns="0" bIns="18288" anchor="t">
            <a:spAutoFit/>
          </a:bodyPr>
          <a:lstStyle/>
          <a:p>
            <a:pPr algn="l">
              <a:lnSpc>
                <a:spcPct val="115000"/>
              </a:lnSpc>
            </a:pPr>
            <a:r>
              <a:rPr sz="2200" b="0" i="0">
                <a:solidFill>
                  <a:srgbClr val="1A1A1A"/>
                </a:solidFill>
                <a:latin typeface="Georgia"/>
              </a:rPr>
              <a:t>Regional minimum</a:t>
            </a:r>
          </a:p>
        </p:txBody>
      </p:sp>
      <p:sp>
        <p:nvSpPr>
          <p:cNvPr id="11" name="TextBox 10"/>
          <p:cNvSpPr txBox="1"/>
          <p:nvPr/>
        </p:nvSpPr>
        <p:spPr>
          <a:xfrm>
            <a:off x="822960" y="4206240"/>
            <a:ext cx="3108960" cy="1828800"/>
          </a:xfrm>
          <a:prstGeom prst="rect">
            <a:avLst/>
          </a:prstGeom>
          <a:noFill/>
        </p:spPr>
        <p:txBody>
          <a:bodyPr wrap="square" lIns="0" tIns="18288" rIns="0" bIns="18288" anchor="t">
            <a:spAutoFit/>
          </a:bodyPr>
          <a:lstStyle/>
          <a:p>
            <a:pPr algn="l">
              <a:lnSpc>
                <a:spcPct val="140000"/>
              </a:lnSpc>
            </a:pPr>
            <a:r>
              <a:rPr sz="1300" b="0" i="0">
                <a:solidFill>
                  <a:srgbClr val="2C2C2C"/>
                </a:solidFill>
                <a:latin typeface="Calibri"/>
              </a:rPr>
              <a:t>A flat patch in the landscape where every step you take outward goes uphill — the bottom of a valley.</a:t>
            </a:r>
          </a:p>
        </p:txBody>
      </p:sp>
      <p:sp>
        <p:nvSpPr>
          <p:cNvPr id="12" name="Rounded Rectangle 11"/>
          <p:cNvSpPr/>
          <p:nvPr/>
        </p:nvSpPr>
        <p:spPr>
          <a:xfrm>
            <a:off x="4343400" y="2788920"/>
            <a:ext cx="3657600" cy="3200400"/>
          </a:xfrm>
          <a:prstGeom prst="roundRect">
            <a:avLst>
              <a:gd name="adj" fmla="val 6000"/>
            </a:avLst>
          </a:prstGeom>
          <a:solidFill>
            <a:srgbClr val="F6F4EE"/>
          </a:solidFill>
          <a:ln w="6350">
            <a:solidFill>
              <a:srgbClr val="D4D1C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617720" y="3063240"/>
            <a:ext cx="3108960" cy="274320"/>
          </a:xfrm>
          <a:prstGeom prst="rect">
            <a:avLst/>
          </a:prstGeom>
          <a:noFill/>
        </p:spPr>
        <p:txBody>
          <a:bodyPr wrap="square" lIns="0" tIns="18288" rIns="0" bIns="18288" anchor="t">
            <a:spAutoFit/>
          </a:bodyPr>
          <a:lstStyle/>
          <a:p>
            <a:pPr algn="l">
              <a:lnSpc>
                <a:spcPct val="115000"/>
              </a:lnSpc>
            </a:pPr>
            <a:r>
              <a:rPr sz="1000" b="0" i="0" spc="80">
                <a:solidFill>
                  <a:srgbClr val="1F5FA8"/>
                </a:solidFill>
                <a:latin typeface="Courier New"/>
              </a:rPr>
              <a:t>02 / DRAINAGE REGION</a:t>
            </a:r>
          </a:p>
        </p:txBody>
      </p:sp>
      <p:sp>
        <p:nvSpPr>
          <p:cNvPr id="14" name="TextBox 13"/>
          <p:cNvSpPr txBox="1"/>
          <p:nvPr/>
        </p:nvSpPr>
        <p:spPr>
          <a:xfrm>
            <a:off x="4617720" y="3474720"/>
            <a:ext cx="3108960" cy="548640"/>
          </a:xfrm>
          <a:prstGeom prst="rect">
            <a:avLst/>
          </a:prstGeom>
          <a:noFill/>
        </p:spPr>
        <p:txBody>
          <a:bodyPr wrap="square" lIns="0" tIns="18288" rIns="0" bIns="18288" anchor="t">
            <a:spAutoFit/>
          </a:bodyPr>
          <a:lstStyle/>
          <a:p>
            <a:pPr algn="l">
              <a:lnSpc>
                <a:spcPct val="115000"/>
              </a:lnSpc>
            </a:pPr>
            <a:r>
              <a:rPr sz="2200" b="0" i="0">
                <a:solidFill>
                  <a:srgbClr val="1A1A1A"/>
                </a:solidFill>
                <a:latin typeface="Georgia"/>
              </a:rPr>
              <a:t>Catchment basin</a:t>
            </a:r>
          </a:p>
        </p:txBody>
      </p:sp>
      <p:sp>
        <p:nvSpPr>
          <p:cNvPr id="15" name="TextBox 14"/>
          <p:cNvSpPr txBox="1"/>
          <p:nvPr/>
        </p:nvSpPr>
        <p:spPr>
          <a:xfrm>
            <a:off x="4617720" y="4206240"/>
            <a:ext cx="3108960" cy="1828800"/>
          </a:xfrm>
          <a:prstGeom prst="rect">
            <a:avLst/>
          </a:prstGeom>
          <a:noFill/>
        </p:spPr>
        <p:txBody>
          <a:bodyPr wrap="square" lIns="0" tIns="18288" rIns="0" bIns="18288" anchor="t">
            <a:spAutoFit/>
          </a:bodyPr>
          <a:lstStyle/>
          <a:p>
            <a:pPr algn="l">
              <a:lnSpc>
                <a:spcPct val="140000"/>
              </a:lnSpc>
            </a:pPr>
            <a:r>
              <a:rPr sz="1300" b="0" i="0">
                <a:solidFill>
                  <a:srgbClr val="2C2C2C"/>
                </a:solidFill>
                <a:latin typeface="Calibri"/>
              </a:rPr>
              <a:t>All the pixels whose water would flow downhill into the same valley. One basin per valley.</a:t>
            </a:r>
          </a:p>
        </p:txBody>
      </p:sp>
      <p:sp>
        <p:nvSpPr>
          <p:cNvPr id="16" name="Rounded Rectangle 15"/>
          <p:cNvSpPr/>
          <p:nvPr/>
        </p:nvSpPr>
        <p:spPr>
          <a:xfrm>
            <a:off x="8138160" y="2788920"/>
            <a:ext cx="3657600" cy="3200400"/>
          </a:xfrm>
          <a:prstGeom prst="roundRect">
            <a:avLst>
              <a:gd name="adj" fmla="val 6000"/>
            </a:avLst>
          </a:prstGeom>
          <a:solidFill>
            <a:srgbClr val="F6F4EE"/>
          </a:solidFill>
          <a:ln w="6350">
            <a:solidFill>
              <a:srgbClr val="D4D1C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412480" y="3063240"/>
            <a:ext cx="3108960" cy="274320"/>
          </a:xfrm>
          <a:prstGeom prst="rect">
            <a:avLst/>
          </a:prstGeom>
          <a:noFill/>
        </p:spPr>
        <p:txBody>
          <a:bodyPr wrap="square" lIns="0" tIns="18288" rIns="0" bIns="18288" anchor="t">
            <a:spAutoFit/>
          </a:bodyPr>
          <a:lstStyle/>
          <a:p>
            <a:pPr algn="l">
              <a:lnSpc>
                <a:spcPct val="115000"/>
              </a:lnSpc>
            </a:pPr>
            <a:r>
              <a:rPr sz="1000" b="0" i="0" spc="80">
                <a:solidFill>
                  <a:srgbClr val="1F5FA8"/>
                </a:solidFill>
                <a:latin typeface="Courier New"/>
              </a:rPr>
              <a:t>03 / THE BOUNDARY</a:t>
            </a:r>
          </a:p>
        </p:txBody>
      </p:sp>
      <p:sp>
        <p:nvSpPr>
          <p:cNvPr id="18" name="TextBox 17"/>
          <p:cNvSpPr txBox="1"/>
          <p:nvPr/>
        </p:nvSpPr>
        <p:spPr>
          <a:xfrm>
            <a:off x="8412480" y="3474720"/>
            <a:ext cx="3108960" cy="548640"/>
          </a:xfrm>
          <a:prstGeom prst="rect">
            <a:avLst/>
          </a:prstGeom>
          <a:noFill/>
        </p:spPr>
        <p:txBody>
          <a:bodyPr wrap="square" lIns="0" tIns="18288" rIns="0" bIns="18288" anchor="t">
            <a:spAutoFit/>
          </a:bodyPr>
          <a:lstStyle/>
          <a:p>
            <a:pPr algn="l">
              <a:lnSpc>
                <a:spcPct val="115000"/>
              </a:lnSpc>
            </a:pPr>
            <a:r>
              <a:rPr sz="2200" b="0" i="0">
                <a:solidFill>
                  <a:srgbClr val="1A1A1A"/>
                </a:solidFill>
                <a:latin typeface="Georgia"/>
              </a:rPr>
              <a:t>Watershed line</a:t>
            </a:r>
          </a:p>
        </p:txBody>
      </p:sp>
      <p:sp>
        <p:nvSpPr>
          <p:cNvPr id="19" name="TextBox 18"/>
          <p:cNvSpPr txBox="1"/>
          <p:nvPr/>
        </p:nvSpPr>
        <p:spPr>
          <a:xfrm>
            <a:off x="8412480" y="4206240"/>
            <a:ext cx="3108960" cy="1828800"/>
          </a:xfrm>
          <a:prstGeom prst="rect">
            <a:avLst/>
          </a:prstGeom>
          <a:noFill/>
        </p:spPr>
        <p:txBody>
          <a:bodyPr wrap="square" lIns="0" tIns="18288" rIns="0" bIns="18288" anchor="t">
            <a:spAutoFit/>
          </a:bodyPr>
          <a:lstStyle/>
          <a:p>
            <a:pPr algn="l">
              <a:lnSpc>
                <a:spcPct val="140000"/>
              </a:lnSpc>
            </a:pPr>
            <a:r>
              <a:rPr sz="1300" b="0" i="0">
                <a:solidFill>
                  <a:srgbClr val="2C2C2C"/>
                </a:solidFill>
                <a:latin typeface="Calibri"/>
              </a:rPr>
              <a:t>The ridge between two valleys — where water could fall either way. Exactly where we want our segmentation boundary.</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A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7315200" cy="208134"/>
          </a:xfrm>
          <a:prstGeom prst="rect">
            <a:avLst/>
          </a:prstGeom>
          <a:noFill/>
        </p:spPr>
        <p:txBody>
          <a:bodyPr wrap="square" lIns="0" tIns="18288" rIns="0" bIns="18288" anchor="t">
            <a:spAutoFit/>
          </a:bodyPr>
          <a:lstStyle/>
          <a:p>
            <a:pPr algn="l">
              <a:lnSpc>
                <a:spcPct val="115000"/>
              </a:lnSpc>
            </a:pPr>
            <a:r>
              <a:rPr sz="1000" b="0" i="0" spc="50" dirty="0">
                <a:solidFill>
                  <a:srgbClr val="6E6E6E"/>
                </a:solidFill>
                <a:latin typeface="Courier New"/>
              </a:rPr>
              <a:t>The Flooding Simulation</a:t>
            </a:r>
          </a:p>
        </p:txBody>
      </p:sp>
      <p:sp>
        <p:nvSpPr>
          <p:cNvPr id="5" name="TextBox 4"/>
          <p:cNvSpPr txBox="1"/>
          <p:nvPr/>
        </p:nvSpPr>
        <p:spPr>
          <a:xfrm>
            <a:off x="548640" y="6400800"/>
            <a:ext cx="7315200" cy="274320"/>
          </a:xfrm>
          <a:prstGeom prst="rect">
            <a:avLst/>
          </a:prstGeom>
          <a:noFill/>
        </p:spPr>
        <p:txBody>
          <a:bodyPr wrap="square" lIns="0" tIns="18288" rIns="0" bIns="18288" anchor="t">
            <a:spAutoFit/>
          </a:bodyPr>
          <a:lstStyle/>
          <a:p>
            <a:pPr algn="l">
              <a:lnSpc>
                <a:spcPct val="115000"/>
              </a:lnSpc>
            </a:pPr>
            <a:r>
              <a:rPr sz="1000" b="0" i="0" spc="30">
                <a:solidFill>
                  <a:srgbClr val="6E6E6E"/>
                </a:solidFill>
                <a:latin typeface="Courier New"/>
              </a:rPr>
              <a:t>05 — Flooding</a:t>
            </a:r>
          </a:p>
        </p:txBody>
      </p:sp>
      <p:sp>
        <p:nvSpPr>
          <p:cNvPr id="6" name="TextBox 5"/>
          <p:cNvSpPr txBox="1"/>
          <p:nvPr/>
        </p:nvSpPr>
        <p:spPr>
          <a:xfrm>
            <a:off x="548640" y="960120"/>
            <a:ext cx="3657600" cy="274320"/>
          </a:xfrm>
          <a:prstGeom prst="rect">
            <a:avLst/>
          </a:prstGeom>
          <a:noFill/>
        </p:spPr>
        <p:txBody>
          <a:bodyPr wrap="square" lIns="0" tIns="18288" rIns="0" bIns="18288" anchor="t">
            <a:spAutoFit/>
          </a:bodyPr>
          <a:lstStyle/>
          <a:p>
            <a:pPr algn="l">
              <a:lnSpc>
                <a:spcPct val="115000"/>
              </a:lnSpc>
            </a:pPr>
            <a:r>
              <a:rPr sz="1000" b="0" i="0" spc="80">
                <a:solidFill>
                  <a:srgbClr val="1F5FA8"/>
                </a:solidFill>
                <a:latin typeface="Courier New"/>
              </a:rPr>
              <a:t>STEP BY STEP</a:t>
            </a:r>
          </a:p>
        </p:txBody>
      </p:sp>
      <p:sp>
        <p:nvSpPr>
          <p:cNvPr id="7" name="TextBox 6"/>
          <p:cNvSpPr txBox="1"/>
          <p:nvPr/>
        </p:nvSpPr>
        <p:spPr>
          <a:xfrm>
            <a:off x="502920" y="1325880"/>
            <a:ext cx="11430000" cy="1097280"/>
          </a:xfrm>
          <a:prstGeom prst="rect">
            <a:avLst/>
          </a:prstGeom>
          <a:noFill/>
        </p:spPr>
        <p:txBody>
          <a:bodyPr wrap="square" lIns="0" tIns="18288" rIns="0" bIns="18288" anchor="t">
            <a:spAutoFit/>
          </a:bodyPr>
          <a:lstStyle/>
          <a:p>
            <a:pPr algn="l">
              <a:lnSpc>
                <a:spcPct val="105000"/>
              </a:lnSpc>
            </a:pPr>
            <a:r>
              <a:rPr sz="4400" b="0" i="0">
                <a:solidFill>
                  <a:srgbClr val="1A1A1A"/>
                </a:solidFill>
                <a:latin typeface="Georgia"/>
              </a:rPr>
              <a:t>Submerge the terrain from </a:t>
            </a:r>
            <a:r>
              <a:rPr sz="4400" b="0" i="1">
                <a:solidFill>
                  <a:srgbClr val="1A1A1A"/>
                </a:solidFill>
                <a:latin typeface="Georgia"/>
              </a:rPr>
              <a:t>below.</a:t>
            </a:r>
          </a:p>
        </p:txBody>
      </p:sp>
      <p:sp>
        <p:nvSpPr>
          <p:cNvPr id="8" name="Rounded Rectangle 7"/>
          <p:cNvSpPr/>
          <p:nvPr/>
        </p:nvSpPr>
        <p:spPr>
          <a:xfrm>
            <a:off x="548640" y="2697480"/>
            <a:ext cx="3703320" cy="2560320"/>
          </a:xfrm>
          <a:prstGeom prst="roundRect">
            <a:avLst>
              <a:gd name="adj" fmla="val 6000"/>
            </a:avLst>
          </a:prstGeom>
          <a:solidFill>
            <a:srgbClr val="F6F4EE"/>
          </a:solidFill>
          <a:ln w="6350">
            <a:solidFill>
              <a:srgbClr val="D4D1C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77240" y="2880360"/>
            <a:ext cx="3246120" cy="274320"/>
          </a:xfrm>
          <a:prstGeom prst="rect">
            <a:avLst/>
          </a:prstGeom>
          <a:noFill/>
        </p:spPr>
        <p:txBody>
          <a:bodyPr wrap="square" lIns="0" tIns="18288" rIns="0" bIns="18288" anchor="t">
            <a:spAutoFit/>
          </a:bodyPr>
          <a:lstStyle/>
          <a:p>
            <a:pPr algn="l">
              <a:lnSpc>
                <a:spcPct val="115000"/>
              </a:lnSpc>
            </a:pPr>
            <a:r>
              <a:rPr sz="900" b="0" i="0" spc="60">
                <a:solidFill>
                  <a:srgbClr val="6E6E6E"/>
                </a:solidFill>
                <a:latin typeface="Courier New"/>
              </a:rPr>
              <a:t>STAGE 01  ·  H IS LOW</a:t>
            </a:r>
          </a:p>
        </p:txBody>
      </p:sp>
      <p:sp>
        <p:nvSpPr>
          <p:cNvPr id="10" name="Rectangle 9"/>
          <p:cNvSpPr/>
          <p:nvPr/>
        </p:nvSpPr>
        <p:spPr>
          <a:xfrm>
            <a:off x="822960" y="4279392"/>
            <a:ext cx="3154680" cy="384048"/>
          </a:xfrm>
          <a:prstGeom prst="rect">
            <a:avLst/>
          </a:prstGeom>
          <a:solidFill>
            <a:srgbClr val="8EB1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1" name="Connector 10"/>
          <p:cNvCxnSpPr/>
          <p:nvPr/>
        </p:nvCxnSpPr>
        <p:spPr>
          <a:xfrm flipV="1">
            <a:off x="822960" y="3771899"/>
            <a:ext cx="567842" cy="891541"/>
          </a:xfrm>
          <a:prstGeom prst="line">
            <a:avLst/>
          </a:prstGeom>
          <a:ln w="19050">
            <a:solidFill>
              <a:srgbClr val="1A1A1A"/>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1390802" y="3360420"/>
            <a:ext cx="378562" cy="411479"/>
          </a:xfrm>
          <a:prstGeom prst="line">
            <a:avLst/>
          </a:prstGeom>
          <a:ln w="19050">
            <a:solidFill>
              <a:srgbClr val="1A1A1A"/>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769364" y="3360420"/>
            <a:ext cx="378561" cy="617220"/>
          </a:xfrm>
          <a:prstGeom prst="line">
            <a:avLst/>
          </a:prstGeom>
          <a:ln w="19050">
            <a:solidFill>
              <a:srgbClr val="1A1A1A"/>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2147925" y="3977640"/>
            <a:ext cx="315468" cy="205740"/>
          </a:xfrm>
          <a:prstGeom prst="line">
            <a:avLst/>
          </a:prstGeom>
          <a:ln w="19050">
            <a:solidFill>
              <a:srgbClr val="1A1A1A"/>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V="1">
            <a:off x="2463393" y="3703320"/>
            <a:ext cx="315468" cy="480060"/>
          </a:xfrm>
          <a:prstGeom prst="line">
            <a:avLst/>
          </a:prstGeom>
          <a:ln w="19050">
            <a:solidFill>
              <a:srgbClr val="1A1A1A"/>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V="1">
            <a:off x="2778861" y="3360420"/>
            <a:ext cx="315468" cy="342900"/>
          </a:xfrm>
          <a:prstGeom prst="line">
            <a:avLst/>
          </a:prstGeom>
          <a:ln w="19050">
            <a:solidFill>
              <a:srgbClr val="1A1A1A"/>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3094329" y="3360420"/>
            <a:ext cx="378562" cy="685800"/>
          </a:xfrm>
          <a:prstGeom prst="line">
            <a:avLst/>
          </a:prstGeom>
          <a:ln w="19050">
            <a:solidFill>
              <a:srgbClr val="1A1A1A"/>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3472891" y="4046220"/>
            <a:ext cx="504749" cy="548640"/>
          </a:xfrm>
          <a:prstGeom prst="line">
            <a:avLst/>
          </a:prstGeom>
          <a:ln w="19050">
            <a:solidFill>
              <a:srgbClr val="1A1A1A"/>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777240" y="4617720"/>
            <a:ext cx="3246120" cy="548640"/>
          </a:xfrm>
          <a:prstGeom prst="rect">
            <a:avLst/>
          </a:prstGeom>
          <a:noFill/>
        </p:spPr>
        <p:txBody>
          <a:bodyPr wrap="square" lIns="0" tIns="18288" rIns="0" bIns="18288" anchor="t">
            <a:spAutoFit/>
          </a:bodyPr>
          <a:lstStyle/>
          <a:p>
            <a:pPr algn="l">
              <a:lnSpc>
                <a:spcPct val="135000"/>
              </a:lnSpc>
            </a:pPr>
            <a:r>
              <a:rPr sz="1200" b="0" i="1">
                <a:solidFill>
                  <a:srgbClr val="2C2C2C"/>
                </a:solidFill>
                <a:latin typeface="Calibri"/>
              </a:rPr>
              <a:t>Deepest minima flood first — isolated lakes appear.</a:t>
            </a:r>
          </a:p>
        </p:txBody>
      </p:sp>
      <p:sp>
        <p:nvSpPr>
          <p:cNvPr id="20" name="Rounded Rectangle 19"/>
          <p:cNvSpPr/>
          <p:nvPr/>
        </p:nvSpPr>
        <p:spPr>
          <a:xfrm>
            <a:off x="4370832" y="2697480"/>
            <a:ext cx="3703320" cy="2560320"/>
          </a:xfrm>
          <a:prstGeom prst="roundRect">
            <a:avLst>
              <a:gd name="adj" fmla="val 6000"/>
            </a:avLst>
          </a:prstGeom>
          <a:solidFill>
            <a:srgbClr val="F6F4EE"/>
          </a:solidFill>
          <a:ln w="6350">
            <a:solidFill>
              <a:srgbClr val="D4D1C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599432" y="2880360"/>
            <a:ext cx="3246120" cy="274320"/>
          </a:xfrm>
          <a:prstGeom prst="rect">
            <a:avLst/>
          </a:prstGeom>
          <a:noFill/>
        </p:spPr>
        <p:txBody>
          <a:bodyPr wrap="square" lIns="0" tIns="18288" rIns="0" bIns="18288" anchor="t">
            <a:spAutoFit/>
          </a:bodyPr>
          <a:lstStyle/>
          <a:p>
            <a:pPr algn="l">
              <a:lnSpc>
                <a:spcPct val="115000"/>
              </a:lnSpc>
            </a:pPr>
            <a:r>
              <a:rPr sz="900" b="0" i="0" spc="60">
                <a:solidFill>
                  <a:srgbClr val="6E6E6E"/>
                </a:solidFill>
                <a:latin typeface="Courier New"/>
              </a:rPr>
              <a:t>STAGE 02  ·  H RISING</a:t>
            </a:r>
          </a:p>
        </p:txBody>
      </p:sp>
      <p:sp>
        <p:nvSpPr>
          <p:cNvPr id="22" name="Rectangle 21"/>
          <p:cNvSpPr/>
          <p:nvPr/>
        </p:nvSpPr>
        <p:spPr>
          <a:xfrm>
            <a:off x="4645152" y="3977640"/>
            <a:ext cx="3154680" cy="685800"/>
          </a:xfrm>
          <a:prstGeom prst="rect">
            <a:avLst/>
          </a:prstGeom>
          <a:solidFill>
            <a:srgbClr val="8EB1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3" name="Connector 22"/>
          <p:cNvCxnSpPr/>
          <p:nvPr/>
        </p:nvCxnSpPr>
        <p:spPr>
          <a:xfrm flipV="1">
            <a:off x="4645152" y="3771899"/>
            <a:ext cx="567842" cy="891541"/>
          </a:xfrm>
          <a:prstGeom prst="line">
            <a:avLst/>
          </a:prstGeom>
          <a:ln w="19050">
            <a:solidFill>
              <a:srgbClr val="1A1A1A"/>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V="1">
            <a:off x="5212994" y="3360420"/>
            <a:ext cx="378562" cy="411479"/>
          </a:xfrm>
          <a:prstGeom prst="line">
            <a:avLst/>
          </a:prstGeom>
          <a:ln w="19050">
            <a:solidFill>
              <a:srgbClr val="1A1A1A"/>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5591556" y="3360420"/>
            <a:ext cx="378561" cy="617220"/>
          </a:xfrm>
          <a:prstGeom prst="line">
            <a:avLst/>
          </a:prstGeom>
          <a:ln w="19050">
            <a:solidFill>
              <a:srgbClr val="1A1A1A"/>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5970117" y="3977640"/>
            <a:ext cx="315468" cy="205740"/>
          </a:xfrm>
          <a:prstGeom prst="line">
            <a:avLst/>
          </a:prstGeom>
          <a:ln w="19050">
            <a:solidFill>
              <a:srgbClr val="1A1A1A"/>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V="1">
            <a:off x="6285585" y="3703320"/>
            <a:ext cx="315468" cy="480060"/>
          </a:xfrm>
          <a:prstGeom prst="line">
            <a:avLst/>
          </a:prstGeom>
          <a:ln w="19050">
            <a:solidFill>
              <a:srgbClr val="1A1A1A"/>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V="1">
            <a:off x="6601053" y="3360420"/>
            <a:ext cx="315468" cy="342900"/>
          </a:xfrm>
          <a:prstGeom prst="line">
            <a:avLst/>
          </a:prstGeom>
          <a:ln w="19050">
            <a:solidFill>
              <a:srgbClr val="1A1A1A"/>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6916521" y="3360420"/>
            <a:ext cx="378562" cy="685800"/>
          </a:xfrm>
          <a:prstGeom prst="line">
            <a:avLst/>
          </a:prstGeom>
          <a:ln w="19050">
            <a:solidFill>
              <a:srgbClr val="1A1A1A"/>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7295083" y="4046220"/>
            <a:ext cx="504749" cy="548640"/>
          </a:xfrm>
          <a:prstGeom prst="line">
            <a:avLst/>
          </a:prstGeom>
          <a:ln w="19050">
            <a:solidFill>
              <a:srgbClr val="1A1A1A"/>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4599432" y="4617720"/>
            <a:ext cx="3246120" cy="548640"/>
          </a:xfrm>
          <a:prstGeom prst="rect">
            <a:avLst/>
          </a:prstGeom>
          <a:noFill/>
        </p:spPr>
        <p:txBody>
          <a:bodyPr wrap="square" lIns="0" tIns="18288" rIns="0" bIns="18288" anchor="t">
            <a:spAutoFit/>
          </a:bodyPr>
          <a:lstStyle/>
          <a:p>
            <a:pPr algn="l">
              <a:lnSpc>
                <a:spcPct val="135000"/>
              </a:lnSpc>
            </a:pPr>
            <a:r>
              <a:rPr sz="1200" b="0" i="1">
                <a:solidFill>
                  <a:srgbClr val="2C2C2C"/>
                </a:solidFill>
                <a:latin typeface="Calibri"/>
              </a:rPr>
              <a:t>Two lakes are about to touch.</a:t>
            </a:r>
          </a:p>
        </p:txBody>
      </p:sp>
      <p:sp>
        <p:nvSpPr>
          <p:cNvPr id="32" name="Rounded Rectangle 31"/>
          <p:cNvSpPr/>
          <p:nvPr/>
        </p:nvSpPr>
        <p:spPr>
          <a:xfrm>
            <a:off x="8193024" y="2697480"/>
            <a:ext cx="3703320" cy="2560320"/>
          </a:xfrm>
          <a:prstGeom prst="roundRect">
            <a:avLst>
              <a:gd name="adj" fmla="val 6000"/>
            </a:avLst>
          </a:prstGeom>
          <a:solidFill>
            <a:srgbClr val="F6F4EE"/>
          </a:solidFill>
          <a:ln w="6350">
            <a:solidFill>
              <a:srgbClr val="D4D1C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8421624" y="2880360"/>
            <a:ext cx="3246120" cy="274320"/>
          </a:xfrm>
          <a:prstGeom prst="rect">
            <a:avLst/>
          </a:prstGeom>
          <a:noFill/>
        </p:spPr>
        <p:txBody>
          <a:bodyPr wrap="square" lIns="0" tIns="18288" rIns="0" bIns="18288" anchor="t">
            <a:spAutoFit/>
          </a:bodyPr>
          <a:lstStyle/>
          <a:p>
            <a:pPr algn="l">
              <a:lnSpc>
                <a:spcPct val="115000"/>
              </a:lnSpc>
            </a:pPr>
            <a:r>
              <a:rPr sz="900" b="0" i="0" spc="60">
                <a:solidFill>
                  <a:srgbClr val="6E6E6E"/>
                </a:solidFill>
                <a:latin typeface="Courier New"/>
              </a:rPr>
              <a:t>STAGE 03  ·  DAM BUILT</a:t>
            </a:r>
          </a:p>
        </p:txBody>
      </p:sp>
      <p:sp>
        <p:nvSpPr>
          <p:cNvPr id="34" name="Rectangle 33"/>
          <p:cNvSpPr/>
          <p:nvPr/>
        </p:nvSpPr>
        <p:spPr>
          <a:xfrm>
            <a:off x="8467344" y="3730752"/>
            <a:ext cx="3154680" cy="932688"/>
          </a:xfrm>
          <a:prstGeom prst="rect">
            <a:avLst/>
          </a:prstGeom>
          <a:solidFill>
            <a:srgbClr val="8EB1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5" name="Connector 34"/>
          <p:cNvCxnSpPr/>
          <p:nvPr/>
        </p:nvCxnSpPr>
        <p:spPr>
          <a:xfrm flipV="1">
            <a:off x="8467344" y="3771899"/>
            <a:ext cx="567842" cy="891541"/>
          </a:xfrm>
          <a:prstGeom prst="line">
            <a:avLst/>
          </a:prstGeom>
          <a:ln w="19050">
            <a:solidFill>
              <a:srgbClr val="1A1A1A"/>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V="1">
            <a:off x="9035186" y="3360420"/>
            <a:ext cx="378562" cy="411479"/>
          </a:xfrm>
          <a:prstGeom prst="line">
            <a:avLst/>
          </a:prstGeom>
          <a:ln w="19050">
            <a:solidFill>
              <a:srgbClr val="1A1A1A"/>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9413748" y="3360420"/>
            <a:ext cx="378561" cy="617220"/>
          </a:xfrm>
          <a:prstGeom prst="line">
            <a:avLst/>
          </a:prstGeom>
          <a:ln w="19050">
            <a:solidFill>
              <a:srgbClr val="1A1A1A"/>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9792309" y="3977640"/>
            <a:ext cx="315468" cy="205740"/>
          </a:xfrm>
          <a:prstGeom prst="line">
            <a:avLst/>
          </a:prstGeom>
          <a:ln w="19050">
            <a:solidFill>
              <a:srgbClr val="1A1A1A"/>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V="1">
            <a:off x="10107777" y="3703320"/>
            <a:ext cx="315468" cy="480060"/>
          </a:xfrm>
          <a:prstGeom prst="line">
            <a:avLst/>
          </a:prstGeom>
          <a:ln w="19050">
            <a:solidFill>
              <a:srgbClr val="1A1A1A"/>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V="1">
            <a:off x="10423245" y="3360420"/>
            <a:ext cx="315468" cy="342900"/>
          </a:xfrm>
          <a:prstGeom prst="line">
            <a:avLst/>
          </a:prstGeom>
          <a:ln w="19050">
            <a:solidFill>
              <a:srgbClr val="1A1A1A"/>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10738713" y="3360420"/>
            <a:ext cx="378562" cy="685800"/>
          </a:xfrm>
          <a:prstGeom prst="line">
            <a:avLst/>
          </a:prstGeom>
          <a:ln w="19050">
            <a:solidFill>
              <a:srgbClr val="1A1A1A"/>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11117275" y="4046220"/>
            <a:ext cx="504749" cy="548640"/>
          </a:xfrm>
          <a:prstGeom prst="line">
            <a:avLst/>
          </a:prstGeom>
          <a:ln w="19050">
            <a:solidFill>
              <a:srgbClr val="1A1A1A"/>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10738713" y="3195828"/>
            <a:ext cx="0" cy="164592"/>
          </a:xfrm>
          <a:prstGeom prst="line">
            <a:avLst/>
          </a:prstGeom>
          <a:ln w="38100">
            <a:solidFill>
              <a:srgbClr val="A84B2F"/>
            </a:solidFill>
          </a:ln>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10372953" y="2921508"/>
            <a:ext cx="731520" cy="228600"/>
          </a:xfrm>
          <a:prstGeom prst="rect">
            <a:avLst/>
          </a:prstGeom>
          <a:noFill/>
        </p:spPr>
        <p:txBody>
          <a:bodyPr wrap="square" lIns="0" tIns="18288" rIns="0" bIns="18288" anchor="t">
            <a:spAutoFit/>
          </a:bodyPr>
          <a:lstStyle/>
          <a:p>
            <a:pPr algn="ctr">
              <a:lnSpc>
                <a:spcPct val="115000"/>
              </a:lnSpc>
            </a:pPr>
            <a:r>
              <a:rPr sz="800" b="0" i="0">
                <a:solidFill>
                  <a:srgbClr val="A84B2F"/>
                </a:solidFill>
                <a:latin typeface="Courier New"/>
              </a:rPr>
              <a:t>DAM</a:t>
            </a:r>
          </a:p>
        </p:txBody>
      </p:sp>
      <p:sp>
        <p:nvSpPr>
          <p:cNvPr id="45" name="TextBox 44"/>
          <p:cNvSpPr txBox="1"/>
          <p:nvPr/>
        </p:nvSpPr>
        <p:spPr>
          <a:xfrm>
            <a:off x="8421624" y="4617720"/>
            <a:ext cx="3246120" cy="548640"/>
          </a:xfrm>
          <a:prstGeom prst="rect">
            <a:avLst/>
          </a:prstGeom>
          <a:noFill/>
        </p:spPr>
        <p:txBody>
          <a:bodyPr wrap="square" lIns="0" tIns="18288" rIns="0" bIns="18288" anchor="t">
            <a:spAutoFit/>
          </a:bodyPr>
          <a:lstStyle/>
          <a:p>
            <a:pPr algn="l">
              <a:lnSpc>
                <a:spcPct val="135000"/>
              </a:lnSpc>
            </a:pPr>
            <a:r>
              <a:rPr sz="1200" b="0" i="1">
                <a:solidFill>
                  <a:srgbClr val="2C2C2C"/>
                </a:solidFill>
                <a:latin typeface="Calibri"/>
              </a:rPr>
              <a:t>A 1-pixel dam joins the watershed line.</a:t>
            </a:r>
          </a:p>
        </p:txBody>
      </p:sp>
      <p:cxnSp>
        <p:nvCxnSpPr>
          <p:cNvPr id="46" name="Connector 45"/>
          <p:cNvCxnSpPr/>
          <p:nvPr/>
        </p:nvCxnSpPr>
        <p:spPr>
          <a:xfrm>
            <a:off x="548640" y="5532120"/>
            <a:ext cx="11091672" cy="0"/>
          </a:xfrm>
          <a:prstGeom prst="line">
            <a:avLst/>
          </a:prstGeom>
          <a:ln w="6350">
            <a:solidFill>
              <a:srgbClr val="D4D1CA"/>
            </a:solidFill>
          </a:ln>
        </p:spPr>
        <p:style>
          <a:lnRef idx="2">
            <a:schemeClr val="accent1"/>
          </a:lnRef>
          <a:fillRef idx="0">
            <a:schemeClr val="accent1"/>
          </a:fillRef>
          <a:effectRef idx="1">
            <a:schemeClr val="accent1"/>
          </a:effectRef>
          <a:fontRef idx="minor">
            <a:schemeClr val="tx1"/>
          </a:fontRef>
        </p:style>
      </p:cxnSp>
      <p:sp>
        <p:nvSpPr>
          <p:cNvPr id="47" name="TextBox 46"/>
          <p:cNvSpPr txBox="1"/>
          <p:nvPr/>
        </p:nvSpPr>
        <p:spPr>
          <a:xfrm>
            <a:off x="548640" y="5623560"/>
            <a:ext cx="10972800" cy="365760"/>
          </a:xfrm>
          <a:prstGeom prst="rect">
            <a:avLst/>
          </a:prstGeom>
          <a:noFill/>
        </p:spPr>
        <p:txBody>
          <a:bodyPr wrap="square" lIns="0" tIns="18288" rIns="0" bIns="18288" anchor="t">
            <a:spAutoFit/>
          </a:bodyPr>
          <a:lstStyle/>
          <a:p>
            <a:pPr algn="l">
              <a:lnSpc>
                <a:spcPct val="115000"/>
              </a:lnSpc>
            </a:pPr>
            <a:r>
              <a:rPr sz="1400" b="0" i="0">
                <a:solidFill>
                  <a:srgbClr val="1A1A1A"/>
                </a:solidFill>
                <a:latin typeface="Courier New"/>
              </a:rPr>
              <a:t>flooded at level h = { every pixel with intensity ≤ h }</a:t>
            </a:r>
          </a:p>
        </p:txBody>
      </p:sp>
      <p:sp>
        <p:nvSpPr>
          <p:cNvPr id="48" name="TextBox 47"/>
          <p:cNvSpPr txBox="1"/>
          <p:nvPr/>
        </p:nvSpPr>
        <p:spPr>
          <a:xfrm>
            <a:off x="548640" y="6080760"/>
            <a:ext cx="10972800" cy="274320"/>
          </a:xfrm>
          <a:prstGeom prst="rect">
            <a:avLst/>
          </a:prstGeom>
          <a:noFill/>
        </p:spPr>
        <p:txBody>
          <a:bodyPr wrap="square" lIns="0" tIns="18288" rIns="0" bIns="18288" anchor="t">
            <a:spAutoFit/>
          </a:bodyPr>
          <a:lstStyle/>
          <a:p>
            <a:pPr algn="l">
              <a:lnSpc>
                <a:spcPct val="115000"/>
              </a:lnSpc>
            </a:pPr>
            <a:r>
              <a:rPr sz="1100" b="0" i="1">
                <a:solidFill>
                  <a:srgbClr val="6E6E6E"/>
                </a:solidFill>
                <a:latin typeface="Calibri"/>
              </a:rPr>
              <a:t>Not just a metaphor — this is a constructive definition that maps onto an efficient flooding algorithm.</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A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7315200" cy="208134"/>
          </a:xfrm>
          <a:prstGeom prst="rect">
            <a:avLst/>
          </a:prstGeom>
          <a:noFill/>
        </p:spPr>
        <p:txBody>
          <a:bodyPr wrap="square" lIns="0" tIns="18288" rIns="0" bIns="18288" anchor="t">
            <a:spAutoFit/>
          </a:bodyPr>
          <a:lstStyle/>
          <a:p>
            <a:pPr algn="l">
              <a:lnSpc>
                <a:spcPct val="115000"/>
              </a:lnSpc>
            </a:pPr>
            <a:r>
              <a:rPr sz="1000" b="0" i="0" spc="50" dirty="0">
                <a:solidFill>
                  <a:srgbClr val="6E6E6E"/>
                </a:solidFill>
                <a:latin typeface="Courier New"/>
              </a:rPr>
              <a:t>Why Gradient?</a:t>
            </a:r>
          </a:p>
        </p:txBody>
      </p:sp>
      <p:sp>
        <p:nvSpPr>
          <p:cNvPr id="5" name="TextBox 4"/>
          <p:cNvSpPr txBox="1"/>
          <p:nvPr/>
        </p:nvSpPr>
        <p:spPr>
          <a:xfrm>
            <a:off x="548640" y="6400800"/>
            <a:ext cx="7315200" cy="274320"/>
          </a:xfrm>
          <a:prstGeom prst="rect">
            <a:avLst/>
          </a:prstGeom>
          <a:noFill/>
        </p:spPr>
        <p:txBody>
          <a:bodyPr wrap="square" lIns="0" tIns="18288" rIns="0" bIns="18288" anchor="t">
            <a:spAutoFit/>
          </a:bodyPr>
          <a:lstStyle/>
          <a:p>
            <a:pPr algn="l">
              <a:lnSpc>
                <a:spcPct val="115000"/>
              </a:lnSpc>
            </a:pPr>
            <a:r>
              <a:rPr sz="1000" b="0" i="0" spc="30">
                <a:solidFill>
                  <a:srgbClr val="6E6E6E"/>
                </a:solidFill>
                <a:latin typeface="Courier New"/>
              </a:rPr>
              <a:t>06 — Why we don't use raw intensity</a:t>
            </a:r>
          </a:p>
        </p:txBody>
      </p:sp>
      <p:sp>
        <p:nvSpPr>
          <p:cNvPr id="6" name="TextBox 5"/>
          <p:cNvSpPr txBox="1"/>
          <p:nvPr/>
        </p:nvSpPr>
        <p:spPr>
          <a:xfrm>
            <a:off x="548640" y="960120"/>
            <a:ext cx="5486400" cy="274320"/>
          </a:xfrm>
          <a:prstGeom prst="rect">
            <a:avLst/>
          </a:prstGeom>
          <a:noFill/>
        </p:spPr>
        <p:txBody>
          <a:bodyPr wrap="square" lIns="0" tIns="18288" rIns="0" bIns="18288" anchor="t">
            <a:spAutoFit/>
          </a:bodyPr>
          <a:lstStyle/>
          <a:p>
            <a:pPr algn="l">
              <a:lnSpc>
                <a:spcPct val="115000"/>
              </a:lnSpc>
            </a:pPr>
            <a:r>
              <a:rPr sz="1000" b="0" i="0" spc="80">
                <a:solidFill>
                  <a:srgbClr val="1F5FA8"/>
                </a:solidFill>
                <a:latin typeface="Courier New"/>
              </a:rPr>
              <a:t>THE OBVIOUS APPROACH FAILS</a:t>
            </a:r>
          </a:p>
        </p:txBody>
      </p:sp>
      <p:sp>
        <p:nvSpPr>
          <p:cNvPr id="7" name="TextBox 6"/>
          <p:cNvSpPr txBox="1"/>
          <p:nvPr/>
        </p:nvSpPr>
        <p:spPr>
          <a:xfrm>
            <a:off x="502920" y="1325880"/>
            <a:ext cx="11430000" cy="1097280"/>
          </a:xfrm>
          <a:prstGeom prst="rect">
            <a:avLst/>
          </a:prstGeom>
          <a:noFill/>
        </p:spPr>
        <p:txBody>
          <a:bodyPr wrap="square" lIns="0" tIns="18288" rIns="0" bIns="18288" anchor="t">
            <a:spAutoFit/>
          </a:bodyPr>
          <a:lstStyle/>
          <a:p>
            <a:pPr algn="l">
              <a:lnSpc>
                <a:spcPct val="105000"/>
              </a:lnSpc>
            </a:pPr>
            <a:r>
              <a:rPr sz="3600" b="0" i="0">
                <a:solidFill>
                  <a:srgbClr val="1A1A1A"/>
                </a:solidFill>
                <a:latin typeface="Georgia"/>
              </a:rPr>
              <a:t>Watershed on the image directly? </a:t>
            </a:r>
            <a:r>
              <a:rPr sz="3600" b="0" i="1">
                <a:solidFill>
                  <a:srgbClr val="1A1A1A"/>
                </a:solidFill>
                <a:latin typeface="Georgia"/>
              </a:rPr>
              <a:t>Almost never.</a:t>
            </a:r>
          </a:p>
        </p:txBody>
      </p:sp>
      <p:sp>
        <p:nvSpPr>
          <p:cNvPr id="8" name="Rounded Rectangle 7"/>
          <p:cNvSpPr/>
          <p:nvPr/>
        </p:nvSpPr>
        <p:spPr>
          <a:xfrm>
            <a:off x="548640" y="2743200"/>
            <a:ext cx="5486400" cy="3200400"/>
          </a:xfrm>
          <a:prstGeom prst="roundRect">
            <a:avLst>
              <a:gd name="adj" fmla="val 6000"/>
            </a:avLst>
          </a:prstGeom>
          <a:solidFill>
            <a:srgbClr val="F6F4EE"/>
          </a:solidFill>
          <a:ln w="6350">
            <a:solidFill>
              <a:srgbClr val="D4D1C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22960" y="2971800"/>
            <a:ext cx="5029200" cy="274320"/>
          </a:xfrm>
          <a:prstGeom prst="rect">
            <a:avLst/>
          </a:prstGeom>
          <a:noFill/>
        </p:spPr>
        <p:txBody>
          <a:bodyPr wrap="square" lIns="0" tIns="18288" rIns="0" bIns="18288" anchor="t">
            <a:spAutoFit/>
          </a:bodyPr>
          <a:lstStyle/>
          <a:p>
            <a:pPr algn="l">
              <a:lnSpc>
                <a:spcPct val="115000"/>
              </a:lnSpc>
            </a:pPr>
            <a:r>
              <a:rPr sz="1000" b="0" i="0" spc="80" dirty="0">
                <a:solidFill>
                  <a:srgbClr val="1F5FA8"/>
                </a:solidFill>
                <a:latin typeface="Courier New"/>
              </a:rPr>
              <a:t>F  ·  RAW INTENSITY</a:t>
            </a:r>
          </a:p>
        </p:txBody>
      </p:sp>
      <p:sp>
        <p:nvSpPr>
          <p:cNvPr id="10" name="TextBox 9"/>
          <p:cNvSpPr txBox="1"/>
          <p:nvPr/>
        </p:nvSpPr>
        <p:spPr>
          <a:xfrm>
            <a:off x="822960" y="3383280"/>
            <a:ext cx="4937760" cy="548640"/>
          </a:xfrm>
          <a:prstGeom prst="rect">
            <a:avLst/>
          </a:prstGeom>
          <a:noFill/>
        </p:spPr>
        <p:txBody>
          <a:bodyPr wrap="square" lIns="0" tIns="18288" rIns="0" bIns="18288" anchor="t">
            <a:spAutoFit/>
          </a:bodyPr>
          <a:lstStyle/>
          <a:p>
            <a:pPr algn="l">
              <a:lnSpc>
                <a:spcPct val="115000"/>
              </a:lnSpc>
            </a:pPr>
            <a:r>
              <a:rPr sz="2200" b="0" i="0" dirty="0">
                <a:solidFill>
                  <a:srgbClr val="1A1A1A"/>
                </a:solidFill>
                <a:latin typeface="Georgia"/>
              </a:rPr>
              <a:t>Run watershed on f</a:t>
            </a:r>
          </a:p>
        </p:txBody>
      </p:sp>
      <p:sp>
        <p:nvSpPr>
          <p:cNvPr id="11" name="Rectangle 10"/>
          <p:cNvSpPr/>
          <p:nvPr/>
        </p:nvSpPr>
        <p:spPr>
          <a:xfrm>
            <a:off x="1005840" y="4206240"/>
            <a:ext cx="4572000" cy="640080"/>
          </a:xfrm>
          <a:prstGeom prst="rect">
            <a:avLst/>
          </a:prstGeom>
          <a:solidFill>
            <a:srgbClr val="D8D0BC"/>
          </a:solidFill>
          <a:ln w="6350">
            <a:solidFill>
              <a:srgbClr val="D4D1C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3200400" y="4389120"/>
            <a:ext cx="182880" cy="27432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468880" y="4892040"/>
            <a:ext cx="1645920" cy="228600"/>
          </a:xfrm>
          <a:prstGeom prst="rect">
            <a:avLst/>
          </a:prstGeom>
          <a:noFill/>
        </p:spPr>
        <p:txBody>
          <a:bodyPr wrap="square" lIns="0" tIns="18288" rIns="0" bIns="18288" anchor="t">
            <a:spAutoFit/>
          </a:bodyPr>
          <a:lstStyle/>
          <a:p>
            <a:pPr algn="ctr">
              <a:lnSpc>
                <a:spcPct val="115000"/>
              </a:lnSpc>
            </a:pPr>
            <a:r>
              <a:rPr sz="900" b="0" i="0">
                <a:solidFill>
                  <a:srgbClr val="6E6E6E"/>
                </a:solidFill>
                <a:latin typeface="Courier New"/>
              </a:rPr>
              <a:t>darkest pixel</a:t>
            </a:r>
          </a:p>
        </p:txBody>
      </p:sp>
      <p:sp>
        <p:nvSpPr>
          <p:cNvPr id="14" name="TextBox 13"/>
          <p:cNvSpPr txBox="1"/>
          <p:nvPr/>
        </p:nvSpPr>
        <p:spPr>
          <a:xfrm>
            <a:off x="822960" y="5074920"/>
            <a:ext cx="4937760" cy="822960"/>
          </a:xfrm>
          <a:prstGeom prst="rect">
            <a:avLst/>
          </a:prstGeom>
          <a:noFill/>
        </p:spPr>
        <p:txBody>
          <a:bodyPr wrap="square" lIns="0" tIns="18288" rIns="0" bIns="18288" anchor="t">
            <a:spAutoFit/>
          </a:bodyPr>
          <a:lstStyle/>
          <a:p>
            <a:pPr algn="l">
              <a:lnSpc>
                <a:spcPct val="140000"/>
              </a:lnSpc>
            </a:pPr>
            <a:r>
              <a:rPr sz="1300" b="0" i="1" dirty="0">
                <a:solidFill>
                  <a:srgbClr val="2C2C2C"/>
                </a:solidFill>
                <a:latin typeface="Calibri"/>
              </a:rPr>
              <a:t>Basins seed inside the object (darkest pixel) — boundaries land in the wrong place.</a:t>
            </a:r>
          </a:p>
        </p:txBody>
      </p:sp>
      <p:sp>
        <p:nvSpPr>
          <p:cNvPr id="15" name="Rounded Rectangle 14"/>
          <p:cNvSpPr/>
          <p:nvPr/>
        </p:nvSpPr>
        <p:spPr>
          <a:xfrm>
            <a:off x="6309360" y="2743200"/>
            <a:ext cx="5486400" cy="3200400"/>
          </a:xfrm>
          <a:prstGeom prst="roundRect">
            <a:avLst>
              <a:gd name="adj" fmla="val 6000"/>
            </a:avLst>
          </a:prstGeom>
          <a:solidFill>
            <a:srgbClr val="F6F4EE"/>
          </a:solidFill>
          <a:ln w="6350">
            <a:solidFill>
              <a:srgbClr val="D4D1C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583680" y="2971800"/>
            <a:ext cx="5029200" cy="274320"/>
          </a:xfrm>
          <a:prstGeom prst="rect">
            <a:avLst/>
          </a:prstGeom>
          <a:noFill/>
        </p:spPr>
        <p:txBody>
          <a:bodyPr wrap="square" lIns="0" tIns="18288" rIns="0" bIns="18288" anchor="t">
            <a:spAutoFit/>
          </a:bodyPr>
          <a:lstStyle/>
          <a:p>
            <a:pPr algn="l">
              <a:lnSpc>
                <a:spcPct val="115000"/>
              </a:lnSpc>
            </a:pPr>
            <a:r>
              <a:rPr sz="1000" b="0" i="0" spc="80">
                <a:solidFill>
                  <a:srgbClr val="1F5FA8"/>
                </a:solidFill>
                <a:latin typeface="Courier New"/>
              </a:rPr>
              <a:t>G(F)  ·  GRADIENT MAGNITUDE</a:t>
            </a:r>
          </a:p>
        </p:txBody>
      </p:sp>
      <p:sp>
        <p:nvSpPr>
          <p:cNvPr id="17" name="TextBox 16"/>
          <p:cNvSpPr txBox="1"/>
          <p:nvPr/>
        </p:nvSpPr>
        <p:spPr>
          <a:xfrm>
            <a:off x="6583680" y="3383280"/>
            <a:ext cx="4937760" cy="548640"/>
          </a:xfrm>
          <a:prstGeom prst="rect">
            <a:avLst/>
          </a:prstGeom>
          <a:noFill/>
        </p:spPr>
        <p:txBody>
          <a:bodyPr wrap="square" lIns="0" tIns="18288" rIns="0" bIns="18288" anchor="t">
            <a:spAutoFit/>
          </a:bodyPr>
          <a:lstStyle/>
          <a:p>
            <a:pPr algn="l">
              <a:lnSpc>
                <a:spcPct val="115000"/>
              </a:lnSpc>
            </a:pPr>
            <a:r>
              <a:rPr sz="2200" b="0" i="0">
                <a:solidFill>
                  <a:srgbClr val="1A1A1A"/>
                </a:solidFill>
                <a:latin typeface="Georgia"/>
              </a:rPr>
              <a:t>Run watershed on g(f)</a:t>
            </a:r>
          </a:p>
        </p:txBody>
      </p:sp>
      <p:sp>
        <p:nvSpPr>
          <p:cNvPr id="18" name="Rectangle 17"/>
          <p:cNvSpPr/>
          <p:nvPr/>
        </p:nvSpPr>
        <p:spPr>
          <a:xfrm>
            <a:off x="6766560" y="4206240"/>
            <a:ext cx="4572000" cy="640080"/>
          </a:xfrm>
          <a:prstGeom prst="rect">
            <a:avLst/>
          </a:prstGeom>
          <a:solidFill>
            <a:srgbClr val="F6F4EE"/>
          </a:solidFill>
          <a:ln w="6350">
            <a:solidFill>
              <a:srgbClr val="D4D1C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6766560" y="4206240"/>
            <a:ext cx="137160" cy="64008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11201400" y="4206240"/>
            <a:ext cx="137160" cy="64008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766560" y="4892040"/>
            <a:ext cx="4572000" cy="228600"/>
          </a:xfrm>
          <a:prstGeom prst="rect">
            <a:avLst/>
          </a:prstGeom>
          <a:noFill/>
        </p:spPr>
        <p:txBody>
          <a:bodyPr wrap="square" lIns="0" tIns="18288" rIns="0" bIns="18288" anchor="t">
            <a:spAutoFit/>
          </a:bodyPr>
          <a:lstStyle/>
          <a:p>
            <a:pPr algn="ctr">
              <a:lnSpc>
                <a:spcPct val="115000"/>
              </a:lnSpc>
            </a:pPr>
            <a:r>
              <a:rPr sz="900" b="0" i="0">
                <a:solidFill>
                  <a:srgbClr val="6E6E6E"/>
                </a:solidFill>
                <a:latin typeface="Courier New"/>
              </a:rPr>
              <a:t>edges = peaks of g(f)</a:t>
            </a:r>
          </a:p>
        </p:txBody>
      </p:sp>
      <p:sp>
        <p:nvSpPr>
          <p:cNvPr id="22" name="TextBox 21"/>
          <p:cNvSpPr txBox="1"/>
          <p:nvPr/>
        </p:nvSpPr>
        <p:spPr>
          <a:xfrm>
            <a:off x="6583680" y="5074920"/>
            <a:ext cx="4937760" cy="822960"/>
          </a:xfrm>
          <a:prstGeom prst="rect">
            <a:avLst/>
          </a:prstGeom>
          <a:noFill/>
        </p:spPr>
        <p:txBody>
          <a:bodyPr wrap="square" lIns="0" tIns="18288" rIns="0" bIns="18288" anchor="t">
            <a:spAutoFit/>
          </a:bodyPr>
          <a:lstStyle/>
          <a:p>
            <a:pPr algn="l">
              <a:lnSpc>
                <a:spcPct val="140000"/>
              </a:lnSpc>
            </a:pPr>
            <a:r>
              <a:rPr sz="1300" b="0" i="1">
                <a:solidFill>
                  <a:srgbClr val="2C2C2C"/>
                </a:solidFill>
                <a:latin typeface="Calibri"/>
              </a:rPr>
              <a:t>Basins seed in flat interiors; ridges fall exactly on the edges.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A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7315200" cy="208134"/>
          </a:xfrm>
          <a:prstGeom prst="rect">
            <a:avLst/>
          </a:prstGeom>
          <a:noFill/>
        </p:spPr>
        <p:txBody>
          <a:bodyPr wrap="square" lIns="0" tIns="18288" rIns="0" bIns="18288" anchor="t">
            <a:spAutoFit/>
          </a:bodyPr>
          <a:lstStyle/>
          <a:p>
            <a:pPr algn="l">
              <a:lnSpc>
                <a:spcPct val="115000"/>
              </a:lnSpc>
            </a:pPr>
            <a:r>
              <a:rPr sz="1000" b="0" i="0" spc="50" dirty="0">
                <a:solidFill>
                  <a:srgbClr val="6E6E6E"/>
                </a:solidFill>
                <a:latin typeface="Courier New"/>
              </a:rPr>
              <a:t>The Morphological Gradient</a:t>
            </a:r>
          </a:p>
        </p:txBody>
      </p:sp>
      <p:sp>
        <p:nvSpPr>
          <p:cNvPr id="5" name="TextBox 4"/>
          <p:cNvSpPr txBox="1"/>
          <p:nvPr/>
        </p:nvSpPr>
        <p:spPr>
          <a:xfrm>
            <a:off x="548640" y="6400800"/>
            <a:ext cx="7315200" cy="274320"/>
          </a:xfrm>
          <a:prstGeom prst="rect">
            <a:avLst/>
          </a:prstGeom>
          <a:noFill/>
        </p:spPr>
        <p:txBody>
          <a:bodyPr wrap="square" lIns="0" tIns="18288" rIns="0" bIns="18288" anchor="t">
            <a:spAutoFit/>
          </a:bodyPr>
          <a:lstStyle/>
          <a:p>
            <a:pPr algn="l">
              <a:lnSpc>
                <a:spcPct val="115000"/>
              </a:lnSpc>
            </a:pPr>
            <a:r>
              <a:rPr sz="1000" b="0" i="0" spc="30">
                <a:solidFill>
                  <a:srgbClr val="6E6E6E"/>
                </a:solidFill>
                <a:latin typeface="Courier New"/>
              </a:rPr>
              <a:t>07 — Morphological gradient</a:t>
            </a:r>
          </a:p>
        </p:txBody>
      </p:sp>
      <p:sp>
        <p:nvSpPr>
          <p:cNvPr id="6" name="TextBox 5"/>
          <p:cNvSpPr txBox="1"/>
          <p:nvPr/>
        </p:nvSpPr>
        <p:spPr>
          <a:xfrm>
            <a:off x="548640" y="960120"/>
            <a:ext cx="5486400" cy="274320"/>
          </a:xfrm>
          <a:prstGeom prst="rect">
            <a:avLst/>
          </a:prstGeom>
          <a:noFill/>
        </p:spPr>
        <p:txBody>
          <a:bodyPr wrap="square" lIns="0" tIns="18288" rIns="0" bIns="18288" anchor="t">
            <a:spAutoFit/>
          </a:bodyPr>
          <a:lstStyle/>
          <a:p>
            <a:pPr algn="l">
              <a:lnSpc>
                <a:spcPct val="115000"/>
              </a:lnSpc>
            </a:pPr>
            <a:r>
              <a:rPr sz="1000" b="0" i="0" spc="80">
                <a:solidFill>
                  <a:srgbClr val="1F5FA8"/>
                </a:solidFill>
                <a:latin typeface="Courier New"/>
              </a:rPr>
              <a:t>WHAT WE RUN WATERSHED ON</a:t>
            </a:r>
          </a:p>
        </p:txBody>
      </p:sp>
      <p:sp>
        <p:nvSpPr>
          <p:cNvPr id="7" name="TextBox 6"/>
          <p:cNvSpPr txBox="1"/>
          <p:nvPr/>
        </p:nvSpPr>
        <p:spPr>
          <a:xfrm>
            <a:off x="502920" y="1325880"/>
            <a:ext cx="11430000" cy="1097280"/>
          </a:xfrm>
          <a:prstGeom prst="rect">
            <a:avLst/>
          </a:prstGeom>
          <a:noFill/>
        </p:spPr>
        <p:txBody>
          <a:bodyPr wrap="square" lIns="0" tIns="18288" rIns="0" bIns="18288" anchor="t">
            <a:spAutoFit/>
          </a:bodyPr>
          <a:lstStyle/>
          <a:p>
            <a:pPr algn="l">
              <a:lnSpc>
                <a:spcPct val="105000"/>
              </a:lnSpc>
            </a:pPr>
            <a:r>
              <a:rPr sz="4200" b="0" i="0">
                <a:solidFill>
                  <a:srgbClr val="1A1A1A"/>
                </a:solidFill>
                <a:latin typeface="Georgia"/>
              </a:rPr>
              <a:t>The </a:t>
            </a:r>
            <a:r>
              <a:rPr sz="4200" b="0" i="1">
                <a:solidFill>
                  <a:srgbClr val="1A1A1A"/>
                </a:solidFill>
                <a:latin typeface="Georgia"/>
              </a:rPr>
              <a:t>morphological</a:t>
            </a:r>
            <a:r>
              <a:rPr sz="4200" b="0" i="0">
                <a:solidFill>
                  <a:srgbClr val="1A1A1A"/>
                </a:solidFill>
                <a:latin typeface="Georgia"/>
              </a:rPr>
              <a:t> gradient.</a:t>
            </a:r>
          </a:p>
        </p:txBody>
      </p:sp>
      <p:cxnSp>
        <p:nvCxnSpPr>
          <p:cNvPr id="8" name="Connector 7"/>
          <p:cNvCxnSpPr/>
          <p:nvPr/>
        </p:nvCxnSpPr>
        <p:spPr>
          <a:xfrm>
            <a:off x="548640" y="2651760"/>
            <a:ext cx="11091672" cy="0"/>
          </a:xfrm>
          <a:prstGeom prst="line">
            <a:avLst/>
          </a:prstGeom>
          <a:ln w="6350">
            <a:solidFill>
              <a:srgbClr val="D4D1CA"/>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48640" y="2743200"/>
            <a:ext cx="10972800" cy="502920"/>
          </a:xfrm>
          <a:prstGeom prst="rect">
            <a:avLst/>
          </a:prstGeom>
          <a:noFill/>
        </p:spPr>
        <p:txBody>
          <a:bodyPr wrap="square" lIns="0" tIns="18288" rIns="0" bIns="18288" anchor="t">
            <a:spAutoFit/>
          </a:bodyPr>
          <a:lstStyle/>
          <a:p>
            <a:pPr algn="ctr">
              <a:lnSpc>
                <a:spcPct val="115000"/>
              </a:lnSpc>
            </a:pPr>
            <a:r>
              <a:rPr sz="2000" b="0" i="0">
                <a:solidFill>
                  <a:srgbClr val="1A1A1A"/>
                </a:solidFill>
                <a:latin typeface="Courier New"/>
              </a:rPr>
              <a:t>g(f)  =  (f ⊕ B)  −  (f ⊖ B)</a:t>
            </a:r>
          </a:p>
        </p:txBody>
      </p:sp>
      <p:cxnSp>
        <p:nvCxnSpPr>
          <p:cNvPr id="10" name="Connector 9"/>
          <p:cNvCxnSpPr/>
          <p:nvPr/>
        </p:nvCxnSpPr>
        <p:spPr>
          <a:xfrm>
            <a:off x="548640" y="3337560"/>
            <a:ext cx="11091672" cy="0"/>
          </a:xfrm>
          <a:prstGeom prst="line">
            <a:avLst/>
          </a:prstGeom>
          <a:ln w="6350">
            <a:solidFill>
              <a:srgbClr val="D4D1CA"/>
            </a:solidFill>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548640" y="3657600"/>
            <a:ext cx="3657600" cy="2286000"/>
          </a:xfrm>
          <a:prstGeom prst="roundRect">
            <a:avLst>
              <a:gd name="adj" fmla="val 6000"/>
            </a:avLst>
          </a:prstGeom>
          <a:solidFill>
            <a:srgbClr val="F6F4EE"/>
          </a:solidFill>
          <a:ln w="6350">
            <a:solidFill>
              <a:srgbClr val="D4D1C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22960" y="3886200"/>
            <a:ext cx="3108960" cy="274320"/>
          </a:xfrm>
          <a:prstGeom prst="rect">
            <a:avLst/>
          </a:prstGeom>
          <a:noFill/>
        </p:spPr>
        <p:txBody>
          <a:bodyPr wrap="square" lIns="0" tIns="18288" rIns="0" bIns="18288" anchor="t">
            <a:spAutoFit/>
          </a:bodyPr>
          <a:lstStyle/>
          <a:p>
            <a:pPr algn="l">
              <a:lnSpc>
                <a:spcPct val="115000"/>
              </a:lnSpc>
            </a:pPr>
            <a:r>
              <a:rPr sz="1000" b="0" i="0" spc="80">
                <a:solidFill>
                  <a:srgbClr val="1F5FA8"/>
                </a:solidFill>
                <a:latin typeface="Courier New"/>
              </a:rPr>
              <a:t>DILATION</a:t>
            </a:r>
          </a:p>
        </p:txBody>
      </p:sp>
      <p:sp>
        <p:nvSpPr>
          <p:cNvPr id="13" name="TextBox 12"/>
          <p:cNvSpPr txBox="1"/>
          <p:nvPr/>
        </p:nvSpPr>
        <p:spPr>
          <a:xfrm>
            <a:off x="822960" y="4251960"/>
            <a:ext cx="3108960" cy="548640"/>
          </a:xfrm>
          <a:prstGeom prst="rect">
            <a:avLst/>
          </a:prstGeom>
          <a:noFill/>
        </p:spPr>
        <p:txBody>
          <a:bodyPr wrap="square" lIns="0" tIns="18288" rIns="0" bIns="18288" anchor="t">
            <a:spAutoFit/>
          </a:bodyPr>
          <a:lstStyle/>
          <a:p>
            <a:pPr algn="l">
              <a:lnSpc>
                <a:spcPct val="115000"/>
              </a:lnSpc>
            </a:pPr>
            <a:r>
              <a:rPr sz="1100" b="0" i="0">
                <a:solidFill>
                  <a:srgbClr val="1A1A1A"/>
                </a:solidFill>
                <a:latin typeface="Courier New"/>
              </a:rPr>
              <a:t>(f ⊕ B)(x) = max{ f(y) : y ∈ Bₓ }</a:t>
            </a:r>
          </a:p>
        </p:txBody>
      </p:sp>
      <p:sp>
        <p:nvSpPr>
          <p:cNvPr id="14" name="TextBox 13"/>
          <p:cNvSpPr txBox="1"/>
          <p:nvPr/>
        </p:nvSpPr>
        <p:spPr>
          <a:xfrm>
            <a:off x="822960" y="4754880"/>
            <a:ext cx="3108960" cy="1097280"/>
          </a:xfrm>
          <a:prstGeom prst="rect">
            <a:avLst/>
          </a:prstGeom>
          <a:noFill/>
        </p:spPr>
        <p:txBody>
          <a:bodyPr wrap="square" lIns="0" tIns="18288" rIns="0" bIns="18288" anchor="t">
            <a:spAutoFit/>
          </a:bodyPr>
          <a:lstStyle/>
          <a:p>
            <a:pPr algn="l">
              <a:lnSpc>
                <a:spcPct val="140000"/>
              </a:lnSpc>
            </a:pPr>
            <a:r>
              <a:rPr sz="1200" b="0" i="0">
                <a:solidFill>
                  <a:srgbClr val="2C2C2C"/>
                </a:solidFill>
                <a:latin typeface="Calibri"/>
              </a:rPr>
              <a:t>Maximum intensity in the local neighbourhood B around x.</a:t>
            </a:r>
          </a:p>
        </p:txBody>
      </p:sp>
      <p:sp>
        <p:nvSpPr>
          <p:cNvPr id="15" name="Rounded Rectangle 14"/>
          <p:cNvSpPr/>
          <p:nvPr/>
        </p:nvSpPr>
        <p:spPr>
          <a:xfrm>
            <a:off x="4343400" y="3657600"/>
            <a:ext cx="3657600" cy="2286000"/>
          </a:xfrm>
          <a:prstGeom prst="roundRect">
            <a:avLst>
              <a:gd name="adj" fmla="val 6000"/>
            </a:avLst>
          </a:prstGeom>
          <a:solidFill>
            <a:srgbClr val="F6F4EE"/>
          </a:solidFill>
          <a:ln w="6350">
            <a:solidFill>
              <a:srgbClr val="D4D1C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617720" y="3886200"/>
            <a:ext cx="3108960" cy="274320"/>
          </a:xfrm>
          <a:prstGeom prst="rect">
            <a:avLst/>
          </a:prstGeom>
          <a:noFill/>
        </p:spPr>
        <p:txBody>
          <a:bodyPr wrap="square" lIns="0" tIns="18288" rIns="0" bIns="18288" anchor="t">
            <a:spAutoFit/>
          </a:bodyPr>
          <a:lstStyle/>
          <a:p>
            <a:pPr algn="l">
              <a:lnSpc>
                <a:spcPct val="115000"/>
              </a:lnSpc>
            </a:pPr>
            <a:r>
              <a:rPr sz="1000" b="0" i="0" spc="80">
                <a:solidFill>
                  <a:srgbClr val="1F5FA8"/>
                </a:solidFill>
                <a:latin typeface="Courier New"/>
              </a:rPr>
              <a:t>EROSION</a:t>
            </a:r>
          </a:p>
        </p:txBody>
      </p:sp>
      <p:sp>
        <p:nvSpPr>
          <p:cNvPr id="17" name="TextBox 16"/>
          <p:cNvSpPr txBox="1"/>
          <p:nvPr/>
        </p:nvSpPr>
        <p:spPr>
          <a:xfrm>
            <a:off x="4617720" y="4251960"/>
            <a:ext cx="3108960" cy="548640"/>
          </a:xfrm>
          <a:prstGeom prst="rect">
            <a:avLst/>
          </a:prstGeom>
          <a:noFill/>
        </p:spPr>
        <p:txBody>
          <a:bodyPr wrap="square" lIns="0" tIns="18288" rIns="0" bIns="18288" anchor="t">
            <a:spAutoFit/>
          </a:bodyPr>
          <a:lstStyle/>
          <a:p>
            <a:pPr algn="l">
              <a:lnSpc>
                <a:spcPct val="115000"/>
              </a:lnSpc>
            </a:pPr>
            <a:r>
              <a:rPr sz="1100" b="0" i="0">
                <a:solidFill>
                  <a:srgbClr val="1A1A1A"/>
                </a:solidFill>
                <a:latin typeface="Courier New"/>
              </a:rPr>
              <a:t>(f ⊖ B)(x) = min{ f(y) : y ∈ Bₓ }</a:t>
            </a:r>
          </a:p>
        </p:txBody>
      </p:sp>
      <p:sp>
        <p:nvSpPr>
          <p:cNvPr id="18" name="TextBox 17"/>
          <p:cNvSpPr txBox="1"/>
          <p:nvPr/>
        </p:nvSpPr>
        <p:spPr>
          <a:xfrm>
            <a:off x="4617720" y="4754880"/>
            <a:ext cx="3108960" cy="1097280"/>
          </a:xfrm>
          <a:prstGeom prst="rect">
            <a:avLst/>
          </a:prstGeom>
          <a:noFill/>
        </p:spPr>
        <p:txBody>
          <a:bodyPr wrap="square" lIns="0" tIns="18288" rIns="0" bIns="18288" anchor="t">
            <a:spAutoFit/>
          </a:bodyPr>
          <a:lstStyle/>
          <a:p>
            <a:pPr algn="l">
              <a:lnSpc>
                <a:spcPct val="140000"/>
              </a:lnSpc>
            </a:pPr>
            <a:r>
              <a:rPr sz="1200" b="0" i="0">
                <a:solidFill>
                  <a:srgbClr val="2C2C2C"/>
                </a:solidFill>
                <a:latin typeface="Calibri"/>
              </a:rPr>
              <a:t>Minimum intensity in that same neighbourhood.</a:t>
            </a:r>
          </a:p>
        </p:txBody>
      </p:sp>
      <p:sp>
        <p:nvSpPr>
          <p:cNvPr id="19" name="Rounded Rectangle 18"/>
          <p:cNvSpPr/>
          <p:nvPr/>
        </p:nvSpPr>
        <p:spPr>
          <a:xfrm>
            <a:off x="8138160" y="3657600"/>
            <a:ext cx="3657600" cy="2286000"/>
          </a:xfrm>
          <a:prstGeom prst="roundRect">
            <a:avLst>
              <a:gd name="adj" fmla="val 6000"/>
            </a:avLst>
          </a:prstGeom>
          <a:solidFill>
            <a:srgbClr val="F6F4EE"/>
          </a:solidFill>
          <a:ln w="6350">
            <a:solidFill>
              <a:srgbClr val="D4D1C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412480" y="3886200"/>
            <a:ext cx="3108960" cy="274320"/>
          </a:xfrm>
          <a:prstGeom prst="rect">
            <a:avLst/>
          </a:prstGeom>
          <a:noFill/>
        </p:spPr>
        <p:txBody>
          <a:bodyPr wrap="square" lIns="0" tIns="18288" rIns="0" bIns="18288" anchor="t">
            <a:spAutoFit/>
          </a:bodyPr>
          <a:lstStyle/>
          <a:p>
            <a:pPr algn="l">
              <a:lnSpc>
                <a:spcPct val="115000"/>
              </a:lnSpc>
            </a:pPr>
            <a:r>
              <a:rPr sz="1000" b="0" i="0" spc="80">
                <a:solidFill>
                  <a:srgbClr val="1F5FA8"/>
                </a:solidFill>
                <a:latin typeface="Courier New"/>
              </a:rPr>
              <a:t>THEIR DIFFERENCE</a:t>
            </a:r>
          </a:p>
        </p:txBody>
      </p:sp>
      <p:sp>
        <p:nvSpPr>
          <p:cNvPr id="21" name="TextBox 20"/>
          <p:cNvSpPr txBox="1"/>
          <p:nvPr/>
        </p:nvSpPr>
        <p:spPr>
          <a:xfrm>
            <a:off x="8412480" y="4251960"/>
            <a:ext cx="3108960" cy="548640"/>
          </a:xfrm>
          <a:prstGeom prst="rect">
            <a:avLst/>
          </a:prstGeom>
          <a:noFill/>
        </p:spPr>
        <p:txBody>
          <a:bodyPr wrap="square" lIns="0" tIns="18288" rIns="0" bIns="18288" anchor="t">
            <a:spAutoFit/>
          </a:bodyPr>
          <a:lstStyle/>
          <a:p>
            <a:pPr algn="l">
              <a:lnSpc>
                <a:spcPct val="115000"/>
              </a:lnSpc>
            </a:pPr>
            <a:r>
              <a:rPr sz="1100" b="0" i="0">
                <a:solidFill>
                  <a:srgbClr val="1A1A1A"/>
                </a:solidFill>
                <a:latin typeface="Courier New"/>
              </a:rPr>
              <a:t>Local intensity spread</a:t>
            </a:r>
          </a:p>
        </p:txBody>
      </p:sp>
      <p:sp>
        <p:nvSpPr>
          <p:cNvPr id="22" name="TextBox 21"/>
          <p:cNvSpPr txBox="1"/>
          <p:nvPr/>
        </p:nvSpPr>
        <p:spPr>
          <a:xfrm>
            <a:off x="8412480" y="4754880"/>
            <a:ext cx="3108960" cy="1097280"/>
          </a:xfrm>
          <a:prstGeom prst="rect">
            <a:avLst/>
          </a:prstGeom>
          <a:noFill/>
        </p:spPr>
        <p:txBody>
          <a:bodyPr wrap="square" lIns="0" tIns="18288" rIns="0" bIns="18288" anchor="t">
            <a:spAutoFit/>
          </a:bodyPr>
          <a:lstStyle/>
          <a:p>
            <a:pPr algn="l">
              <a:lnSpc>
                <a:spcPct val="140000"/>
              </a:lnSpc>
            </a:pPr>
            <a:r>
              <a:rPr sz="1200" b="0" i="0">
                <a:solidFill>
                  <a:srgbClr val="2C2C2C"/>
                </a:solidFill>
                <a:latin typeface="Calibri"/>
              </a:rPr>
              <a:t>Zero on flat regions. Large wherever intensity changes rapidly — i.e. at edges.</a:t>
            </a:r>
          </a:p>
        </p:txBody>
      </p:sp>
      <p:sp>
        <p:nvSpPr>
          <p:cNvPr id="23" name="TextBox 22"/>
          <p:cNvSpPr txBox="1"/>
          <p:nvPr/>
        </p:nvSpPr>
        <p:spPr>
          <a:xfrm>
            <a:off x="548640" y="6126480"/>
            <a:ext cx="10972800" cy="274320"/>
          </a:xfrm>
          <a:prstGeom prst="rect">
            <a:avLst/>
          </a:prstGeom>
          <a:noFill/>
        </p:spPr>
        <p:txBody>
          <a:bodyPr wrap="square" lIns="0" tIns="18288" rIns="0" bIns="18288" anchor="t">
            <a:spAutoFit/>
          </a:bodyPr>
          <a:lstStyle/>
          <a:p>
            <a:pPr algn="l">
              <a:lnSpc>
                <a:spcPct val="115000"/>
              </a:lnSpc>
            </a:pPr>
            <a:r>
              <a:rPr sz="1100" b="0" i="1">
                <a:solidFill>
                  <a:srgbClr val="6E6E6E"/>
                </a:solidFill>
                <a:latin typeface="Calibri"/>
              </a:rPr>
              <a:t>B is a small structuring element (typically 3×3). Smaller B → finer edges; larger B → coarser boundaries. It is a scale knob.</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A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7315200" cy="208134"/>
          </a:xfrm>
          <a:prstGeom prst="rect">
            <a:avLst/>
          </a:prstGeom>
          <a:noFill/>
        </p:spPr>
        <p:txBody>
          <a:bodyPr wrap="square" lIns="0" tIns="18288" rIns="0" bIns="18288" anchor="t">
            <a:spAutoFit/>
          </a:bodyPr>
          <a:lstStyle/>
          <a:p>
            <a:pPr algn="l">
              <a:lnSpc>
                <a:spcPct val="115000"/>
              </a:lnSpc>
            </a:pPr>
            <a:r>
              <a:rPr sz="1000" b="0" i="0" spc="50" dirty="0">
                <a:solidFill>
                  <a:srgbClr val="6E6E6E"/>
                </a:solidFill>
                <a:latin typeface="Courier New"/>
              </a:rPr>
              <a:t>The Flooding Algorithm</a:t>
            </a:r>
          </a:p>
        </p:txBody>
      </p:sp>
      <p:sp>
        <p:nvSpPr>
          <p:cNvPr id="5" name="TextBox 4"/>
          <p:cNvSpPr txBox="1"/>
          <p:nvPr/>
        </p:nvSpPr>
        <p:spPr>
          <a:xfrm>
            <a:off x="548640" y="6400800"/>
            <a:ext cx="7315200" cy="274320"/>
          </a:xfrm>
          <a:prstGeom prst="rect">
            <a:avLst/>
          </a:prstGeom>
          <a:noFill/>
        </p:spPr>
        <p:txBody>
          <a:bodyPr wrap="square" lIns="0" tIns="18288" rIns="0" bIns="18288" anchor="t">
            <a:spAutoFit/>
          </a:bodyPr>
          <a:lstStyle/>
          <a:p>
            <a:pPr algn="l">
              <a:lnSpc>
                <a:spcPct val="115000"/>
              </a:lnSpc>
            </a:pPr>
            <a:r>
              <a:rPr sz="1000" b="0" i="0" spc="30">
                <a:solidFill>
                  <a:srgbClr val="6E6E6E"/>
                </a:solidFill>
                <a:latin typeface="Courier New"/>
              </a:rPr>
              <a:t>08 — Algorithm</a:t>
            </a:r>
          </a:p>
        </p:txBody>
      </p:sp>
      <p:sp>
        <p:nvSpPr>
          <p:cNvPr id="6" name="TextBox 5"/>
          <p:cNvSpPr txBox="1"/>
          <p:nvPr/>
        </p:nvSpPr>
        <p:spPr>
          <a:xfrm>
            <a:off x="548640" y="960120"/>
            <a:ext cx="7315200" cy="274320"/>
          </a:xfrm>
          <a:prstGeom prst="rect">
            <a:avLst/>
          </a:prstGeom>
          <a:noFill/>
        </p:spPr>
        <p:txBody>
          <a:bodyPr wrap="square" lIns="0" tIns="18288" rIns="0" bIns="18288" anchor="t">
            <a:spAutoFit/>
          </a:bodyPr>
          <a:lstStyle/>
          <a:p>
            <a:pPr algn="l">
              <a:lnSpc>
                <a:spcPct val="115000"/>
              </a:lnSpc>
            </a:pPr>
            <a:r>
              <a:rPr sz="1000" b="0" i="0" spc="80">
                <a:solidFill>
                  <a:srgbClr val="1F5FA8"/>
                </a:solidFill>
                <a:latin typeface="Courier New"/>
              </a:rPr>
              <a:t>THE ALGORITHM  ·  LINEAR-TIME WITH ORDERED QUEUES</a:t>
            </a:r>
          </a:p>
        </p:txBody>
      </p:sp>
      <p:sp>
        <p:nvSpPr>
          <p:cNvPr id="7" name="TextBox 6"/>
          <p:cNvSpPr txBox="1"/>
          <p:nvPr/>
        </p:nvSpPr>
        <p:spPr>
          <a:xfrm>
            <a:off x="502920" y="1325880"/>
            <a:ext cx="11430000" cy="1097280"/>
          </a:xfrm>
          <a:prstGeom prst="rect">
            <a:avLst/>
          </a:prstGeom>
          <a:noFill/>
        </p:spPr>
        <p:txBody>
          <a:bodyPr wrap="square" lIns="0" tIns="18288" rIns="0" bIns="18288" anchor="t">
            <a:spAutoFit/>
          </a:bodyPr>
          <a:lstStyle/>
          <a:p>
            <a:pPr algn="l">
              <a:lnSpc>
                <a:spcPct val="105000"/>
              </a:lnSpc>
            </a:pPr>
            <a:r>
              <a:rPr sz="3600" b="0" i="0">
                <a:solidFill>
                  <a:srgbClr val="1A1A1A"/>
                </a:solidFill>
                <a:latin typeface="Georgia"/>
              </a:rPr>
              <a:t>Pop pixels low-to-high. </a:t>
            </a:r>
            <a:r>
              <a:rPr sz="3600" b="0" i="1">
                <a:solidFill>
                  <a:srgbClr val="1A1A1A"/>
                </a:solidFill>
                <a:latin typeface="Georgia"/>
              </a:rPr>
              <a:t>Three cases.</a:t>
            </a:r>
            <a:r>
              <a:rPr sz="3600" b="0" i="0">
                <a:solidFill>
                  <a:srgbClr val="1A1A1A"/>
                </a:solidFill>
                <a:latin typeface="Georgia"/>
              </a:rPr>
              <a:t> That's it.</a:t>
            </a:r>
          </a:p>
        </p:txBody>
      </p:sp>
      <p:sp>
        <p:nvSpPr>
          <p:cNvPr id="8" name="Rounded Rectangle 7"/>
          <p:cNvSpPr/>
          <p:nvPr/>
        </p:nvSpPr>
        <p:spPr>
          <a:xfrm>
            <a:off x="548640" y="2880360"/>
            <a:ext cx="3657600" cy="2743200"/>
          </a:xfrm>
          <a:prstGeom prst="roundRect">
            <a:avLst>
              <a:gd name="adj" fmla="val 6000"/>
            </a:avLst>
          </a:prstGeom>
          <a:solidFill>
            <a:srgbClr val="F6F4EE"/>
          </a:solidFill>
          <a:ln w="6350">
            <a:solidFill>
              <a:srgbClr val="D4D1C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22960" y="3108960"/>
            <a:ext cx="3108960" cy="274320"/>
          </a:xfrm>
          <a:prstGeom prst="rect">
            <a:avLst/>
          </a:prstGeom>
          <a:noFill/>
        </p:spPr>
        <p:txBody>
          <a:bodyPr wrap="square" lIns="0" tIns="18288" rIns="0" bIns="18288" anchor="t">
            <a:spAutoFit/>
          </a:bodyPr>
          <a:lstStyle/>
          <a:p>
            <a:pPr algn="l">
              <a:lnSpc>
                <a:spcPct val="115000"/>
              </a:lnSpc>
            </a:pPr>
            <a:r>
              <a:rPr sz="1000" b="0" i="0" spc="80">
                <a:solidFill>
                  <a:srgbClr val="1F5FA8"/>
                </a:solidFill>
                <a:latin typeface="Courier New"/>
              </a:rPr>
              <a:t>CASE 01</a:t>
            </a:r>
          </a:p>
        </p:txBody>
      </p:sp>
      <p:sp>
        <p:nvSpPr>
          <p:cNvPr id="10" name="TextBox 9"/>
          <p:cNvSpPr txBox="1"/>
          <p:nvPr/>
        </p:nvSpPr>
        <p:spPr>
          <a:xfrm>
            <a:off x="822960" y="3474720"/>
            <a:ext cx="3108960" cy="822960"/>
          </a:xfrm>
          <a:prstGeom prst="rect">
            <a:avLst/>
          </a:prstGeom>
          <a:noFill/>
        </p:spPr>
        <p:txBody>
          <a:bodyPr wrap="square" lIns="0" tIns="18288" rIns="0" bIns="18288" anchor="t">
            <a:spAutoFit/>
          </a:bodyPr>
          <a:lstStyle/>
          <a:p>
            <a:pPr algn="l">
              <a:lnSpc>
                <a:spcPct val="125000"/>
              </a:lnSpc>
            </a:pPr>
            <a:r>
              <a:rPr sz="1500" b="0" i="0">
                <a:solidFill>
                  <a:srgbClr val="1A1A1A"/>
                </a:solidFill>
                <a:latin typeface="Georgia"/>
              </a:rPr>
              <a:t>No labelled neighbours yet.</a:t>
            </a:r>
          </a:p>
        </p:txBody>
      </p:sp>
      <p:sp>
        <p:nvSpPr>
          <p:cNvPr id="11" name="TextBox 10"/>
          <p:cNvSpPr txBox="1"/>
          <p:nvPr/>
        </p:nvSpPr>
        <p:spPr>
          <a:xfrm>
            <a:off x="822960" y="4251960"/>
            <a:ext cx="3108960" cy="502920"/>
          </a:xfrm>
          <a:prstGeom prst="rect">
            <a:avLst/>
          </a:prstGeom>
          <a:noFill/>
        </p:spPr>
        <p:txBody>
          <a:bodyPr wrap="square" lIns="0" tIns="18288" rIns="0" bIns="18288" anchor="t">
            <a:spAutoFit/>
          </a:bodyPr>
          <a:lstStyle/>
          <a:p>
            <a:pPr algn="l">
              <a:lnSpc>
                <a:spcPct val="115000"/>
              </a:lnSpc>
            </a:pPr>
            <a:r>
              <a:rPr sz="1200" b="0" i="0">
                <a:solidFill>
                  <a:srgbClr val="1F5FA8"/>
                </a:solidFill>
                <a:latin typeface="Courier New"/>
              </a:rPr>
              <a:t>→  Seed a new basin Bₖ.</a:t>
            </a:r>
          </a:p>
        </p:txBody>
      </p:sp>
      <p:sp>
        <p:nvSpPr>
          <p:cNvPr id="12" name="TextBox 11"/>
          <p:cNvSpPr txBox="1"/>
          <p:nvPr/>
        </p:nvSpPr>
        <p:spPr>
          <a:xfrm>
            <a:off x="822960" y="4754879"/>
            <a:ext cx="3108960" cy="777240"/>
          </a:xfrm>
          <a:prstGeom prst="rect">
            <a:avLst/>
          </a:prstGeom>
          <a:noFill/>
        </p:spPr>
        <p:txBody>
          <a:bodyPr wrap="square" lIns="0" tIns="18288" rIns="0" bIns="18288" anchor="t">
            <a:spAutoFit/>
          </a:bodyPr>
          <a:lstStyle/>
          <a:p>
            <a:pPr algn="l">
              <a:lnSpc>
                <a:spcPct val="135000"/>
              </a:lnSpc>
            </a:pPr>
            <a:r>
              <a:rPr sz="1200" b="0" i="1">
                <a:solidFill>
                  <a:srgbClr val="2C2C2C"/>
                </a:solidFill>
                <a:latin typeface="Calibri"/>
              </a:rPr>
              <a:t>A fresh regional minimum has been found.</a:t>
            </a:r>
          </a:p>
        </p:txBody>
      </p:sp>
      <p:sp>
        <p:nvSpPr>
          <p:cNvPr id="13" name="Rounded Rectangle 12"/>
          <p:cNvSpPr/>
          <p:nvPr/>
        </p:nvSpPr>
        <p:spPr>
          <a:xfrm>
            <a:off x="4343400" y="2880360"/>
            <a:ext cx="3657600" cy="2743200"/>
          </a:xfrm>
          <a:prstGeom prst="roundRect">
            <a:avLst>
              <a:gd name="adj" fmla="val 6000"/>
            </a:avLst>
          </a:prstGeom>
          <a:solidFill>
            <a:srgbClr val="F6F4EE"/>
          </a:solidFill>
          <a:ln w="6350">
            <a:solidFill>
              <a:srgbClr val="D4D1C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617720" y="3108960"/>
            <a:ext cx="3108960" cy="274320"/>
          </a:xfrm>
          <a:prstGeom prst="rect">
            <a:avLst/>
          </a:prstGeom>
          <a:noFill/>
        </p:spPr>
        <p:txBody>
          <a:bodyPr wrap="square" lIns="0" tIns="18288" rIns="0" bIns="18288" anchor="t">
            <a:spAutoFit/>
          </a:bodyPr>
          <a:lstStyle/>
          <a:p>
            <a:pPr algn="l">
              <a:lnSpc>
                <a:spcPct val="115000"/>
              </a:lnSpc>
            </a:pPr>
            <a:r>
              <a:rPr sz="1000" b="0" i="0" spc="80">
                <a:solidFill>
                  <a:srgbClr val="1F5FA8"/>
                </a:solidFill>
                <a:latin typeface="Courier New"/>
              </a:rPr>
              <a:t>CASE 02</a:t>
            </a:r>
          </a:p>
        </p:txBody>
      </p:sp>
      <p:sp>
        <p:nvSpPr>
          <p:cNvPr id="15" name="TextBox 14"/>
          <p:cNvSpPr txBox="1"/>
          <p:nvPr/>
        </p:nvSpPr>
        <p:spPr>
          <a:xfrm>
            <a:off x="4617720" y="3474720"/>
            <a:ext cx="3108960" cy="822960"/>
          </a:xfrm>
          <a:prstGeom prst="rect">
            <a:avLst/>
          </a:prstGeom>
          <a:noFill/>
        </p:spPr>
        <p:txBody>
          <a:bodyPr wrap="square" lIns="0" tIns="18288" rIns="0" bIns="18288" anchor="t">
            <a:spAutoFit/>
          </a:bodyPr>
          <a:lstStyle/>
          <a:p>
            <a:pPr algn="l">
              <a:lnSpc>
                <a:spcPct val="125000"/>
              </a:lnSpc>
            </a:pPr>
            <a:r>
              <a:rPr sz="1500" b="0" i="0">
                <a:solidFill>
                  <a:srgbClr val="1A1A1A"/>
                </a:solidFill>
                <a:latin typeface="Georgia"/>
              </a:rPr>
              <a:t>All labelled neighbours belong to the same basin.</a:t>
            </a:r>
          </a:p>
        </p:txBody>
      </p:sp>
      <p:sp>
        <p:nvSpPr>
          <p:cNvPr id="16" name="TextBox 15"/>
          <p:cNvSpPr txBox="1"/>
          <p:nvPr/>
        </p:nvSpPr>
        <p:spPr>
          <a:xfrm>
            <a:off x="4617720" y="4251960"/>
            <a:ext cx="3108960" cy="502920"/>
          </a:xfrm>
          <a:prstGeom prst="rect">
            <a:avLst/>
          </a:prstGeom>
          <a:noFill/>
        </p:spPr>
        <p:txBody>
          <a:bodyPr wrap="square" lIns="0" tIns="18288" rIns="0" bIns="18288" anchor="t">
            <a:spAutoFit/>
          </a:bodyPr>
          <a:lstStyle/>
          <a:p>
            <a:pPr algn="l">
              <a:lnSpc>
                <a:spcPct val="115000"/>
              </a:lnSpc>
            </a:pPr>
            <a:r>
              <a:rPr sz="1200" b="0" i="0">
                <a:solidFill>
                  <a:srgbClr val="1F5FA8"/>
                </a:solidFill>
                <a:latin typeface="Courier New"/>
              </a:rPr>
              <a:t>→  Assign p to that basin.</a:t>
            </a:r>
          </a:p>
        </p:txBody>
      </p:sp>
      <p:sp>
        <p:nvSpPr>
          <p:cNvPr id="17" name="TextBox 16"/>
          <p:cNvSpPr txBox="1"/>
          <p:nvPr/>
        </p:nvSpPr>
        <p:spPr>
          <a:xfrm>
            <a:off x="4617720" y="4754879"/>
            <a:ext cx="3108960" cy="777240"/>
          </a:xfrm>
          <a:prstGeom prst="rect">
            <a:avLst/>
          </a:prstGeom>
          <a:noFill/>
        </p:spPr>
        <p:txBody>
          <a:bodyPr wrap="square" lIns="0" tIns="18288" rIns="0" bIns="18288" anchor="t">
            <a:spAutoFit/>
          </a:bodyPr>
          <a:lstStyle/>
          <a:p>
            <a:pPr algn="l">
              <a:lnSpc>
                <a:spcPct val="135000"/>
              </a:lnSpc>
            </a:pPr>
            <a:r>
              <a:rPr sz="1200" b="0" i="1">
                <a:solidFill>
                  <a:srgbClr val="2C2C2C"/>
                </a:solidFill>
                <a:latin typeface="Calibri"/>
              </a:rPr>
              <a:t>The pixel is interior to a region.</a:t>
            </a:r>
          </a:p>
        </p:txBody>
      </p:sp>
      <p:sp>
        <p:nvSpPr>
          <p:cNvPr id="18" name="Rounded Rectangle 17"/>
          <p:cNvSpPr/>
          <p:nvPr/>
        </p:nvSpPr>
        <p:spPr>
          <a:xfrm>
            <a:off x="8138160" y="2880360"/>
            <a:ext cx="3657600" cy="2743200"/>
          </a:xfrm>
          <a:prstGeom prst="roundRect">
            <a:avLst>
              <a:gd name="adj" fmla="val 6000"/>
            </a:avLst>
          </a:prstGeom>
          <a:solidFill>
            <a:srgbClr val="F6F4EE"/>
          </a:solidFill>
          <a:ln w="6350">
            <a:solidFill>
              <a:srgbClr val="D4D1C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412480" y="3108960"/>
            <a:ext cx="3108960" cy="274320"/>
          </a:xfrm>
          <a:prstGeom prst="rect">
            <a:avLst/>
          </a:prstGeom>
          <a:noFill/>
        </p:spPr>
        <p:txBody>
          <a:bodyPr wrap="square" lIns="0" tIns="18288" rIns="0" bIns="18288" anchor="t">
            <a:spAutoFit/>
          </a:bodyPr>
          <a:lstStyle/>
          <a:p>
            <a:pPr algn="l">
              <a:lnSpc>
                <a:spcPct val="115000"/>
              </a:lnSpc>
            </a:pPr>
            <a:r>
              <a:rPr sz="1000" b="0" i="0" spc="80">
                <a:solidFill>
                  <a:srgbClr val="1F5FA8"/>
                </a:solidFill>
                <a:latin typeface="Courier New"/>
              </a:rPr>
              <a:t>CASE 03</a:t>
            </a:r>
          </a:p>
        </p:txBody>
      </p:sp>
      <p:sp>
        <p:nvSpPr>
          <p:cNvPr id="20" name="TextBox 19"/>
          <p:cNvSpPr txBox="1"/>
          <p:nvPr/>
        </p:nvSpPr>
        <p:spPr>
          <a:xfrm>
            <a:off x="8412480" y="3474720"/>
            <a:ext cx="3108960" cy="822960"/>
          </a:xfrm>
          <a:prstGeom prst="rect">
            <a:avLst/>
          </a:prstGeom>
          <a:noFill/>
        </p:spPr>
        <p:txBody>
          <a:bodyPr wrap="square" lIns="0" tIns="18288" rIns="0" bIns="18288" anchor="t">
            <a:spAutoFit/>
          </a:bodyPr>
          <a:lstStyle/>
          <a:p>
            <a:pPr algn="l">
              <a:lnSpc>
                <a:spcPct val="125000"/>
              </a:lnSpc>
            </a:pPr>
            <a:r>
              <a:rPr sz="1500" b="0" i="0">
                <a:solidFill>
                  <a:srgbClr val="1A1A1A"/>
                </a:solidFill>
                <a:latin typeface="Georgia"/>
              </a:rPr>
              <a:t>Labelled neighbours come from two or more basins.</a:t>
            </a:r>
          </a:p>
        </p:txBody>
      </p:sp>
      <p:sp>
        <p:nvSpPr>
          <p:cNvPr id="21" name="TextBox 20"/>
          <p:cNvSpPr txBox="1"/>
          <p:nvPr/>
        </p:nvSpPr>
        <p:spPr>
          <a:xfrm>
            <a:off x="8412480" y="4251960"/>
            <a:ext cx="3108960" cy="502920"/>
          </a:xfrm>
          <a:prstGeom prst="rect">
            <a:avLst/>
          </a:prstGeom>
          <a:noFill/>
        </p:spPr>
        <p:txBody>
          <a:bodyPr wrap="square" lIns="0" tIns="18288" rIns="0" bIns="18288" anchor="t">
            <a:spAutoFit/>
          </a:bodyPr>
          <a:lstStyle/>
          <a:p>
            <a:pPr algn="l">
              <a:lnSpc>
                <a:spcPct val="115000"/>
              </a:lnSpc>
            </a:pPr>
            <a:r>
              <a:rPr sz="1200" b="0" i="0">
                <a:solidFill>
                  <a:srgbClr val="1F5FA8"/>
                </a:solidFill>
                <a:latin typeface="Courier New"/>
              </a:rPr>
              <a:t>→  Mark p as WSHED.</a:t>
            </a:r>
          </a:p>
        </p:txBody>
      </p:sp>
      <p:sp>
        <p:nvSpPr>
          <p:cNvPr id="22" name="TextBox 21"/>
          <p:cNvSpPr txBox="1"/>
          <p:nvPr/>
        </p:nvSpPr>
        <p:spPr>
          <a:xfrm>
            <a:off x="8412480" y="4754879"/>
            <a:ext cx="3108960" cy="777240"/>
          </a:xfrm>
          <a:prstGeom prst="rect">
            <a:avLst/>
          </a:prstGeom>
          <a:noFill/>
        </p:spPr>
        <p:txBody>
          <a:bodyPr wrap="square" lIns="0" tIns="18288" rIns="0" bIns="18288" anchor="t">
            <a:spAutoFit/>
          </a:bodyPr>
          <a:lstStyle/>
          <a:p>
            <a:pPr algn="l">
              <a:lnSpc>
                <a:spcPct val="135000"/>
              </a:lnSpc>
            </a:pPr>
            <a:r>
              <a:rPr sz="1200" b="0" i="1">
                <a:solidFill>
                  <a:srgbClr val="2C2C2C"/>
                </a:solidFill>
                <a:latin typeface="Calibri"/>
              </a:rPr>
              <a:t>The dam between two merging lakes.</a:t>
            </a:r>
          </a:p>
        </p:txBody>
      </p:sp>
      <p:sp>
        <p:nvSpPr>
          <p:cNvPr id="23" name="TextBox 22"/>
          <p:cNvSpPr txBox="1"/>
          <p:nvPr/>
        </p:nvSpPr>
        <p:spPr>
          <a:xfrm>
            <a:off x="548640" y="5852160"/>
            <a:ext cx="10972800" cy="274320"/>
          </a:xfrm>
          <a:prstGeom prst="rect">
            <a:avLst/>
          </a:prstGeom>
          <a:noFill/>
        </p:spPr>
        <p:txBody>
          <a:bodyPr wrap="square" lIns="0" tIns="18288" rIns="0" bIns="18288" anchor="t">
            <a:spAutoFit/>
          </a:bodyPr>
          <a:lstStyle/>
          <a:p>
            <a:pPr algn="l">
              <a:lnSpc>
                <a:spcPct val="115000"/>
              </a:lnSpc>
            </a:pPr>
            <a:r>
              <a:rPr sz="1300" b="0" i="0">
                <a:solidFill>
                  <a:srgbClr val="2C2C2C"/>
                </a:solidFill>
                <a:latin typeface="Calibri"/>
              </a:rPr>
              <a:t>Repeat until every pixel is labelled.</a:t>
            </a:r>
          </a:p>
        </p:txBody>
      </p:sp>
      <p:sp>
        <p:nvSpPr>
          <p:cNvPr id="24" name="TextBox 23"/>
          <p:cNvSpPr txBox="1"/>
          <p:nvPr/>
        </p:nvSpPr>
        <p:spPr>
          <a:xfrm>
            <a:off x="548640" y="6172200"/>
            <a:ext cx="10972800" cy="220188"/>
          </a:xfrm>
          <a:prstGeom prst="rect">
            <a:avLst/>
          </a:prstGeom>
          <a:noFill/>
        </p:spPr>
        <p:txBody>
          <a:bodyPr wrap="square" lIns="0" tIns="18288" rIns="0" bIns="18288" anchor="t">
            <a:spAutoFit/>
          </a:bodyPr>
          <a:lstStyle/>
          <a:p>
            <a:pPr algn="l">
              <a:lnSpc>
                <a:spcPct val="115000"/>
              </a:lnSpc>
            </a:pPr>
            <a:r>
              <a:rPr sz="1100" b="0" i="1" dirty="0">
                <a:solidFill>
                  <a:srgbClr val="6E6E6E"/>
                </a:solidFill>
                <a:latin typeface="Calibri"/>
              </a:rPr>
              <a:t>Complexity: linear-time in common grey-level implementations (bucket / ordered queues).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A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7315200" cy="208134"/>
          </a:xfrm>
          <a:prstGeom prst="rect">
            <a:avLst/>
          </a:prstGeom>
          <a:noFill/>
        </p:spPr>
        <p:txBody>
          <a:bodyPr wrap="square" lIns="0" tIns="18288" rIns="0" bIns="18288" anchor="t">
            <a:spAutoFit/>
          </a:bodyPr>
          <a:lstStyle/>
          <a:p>
            <a:pPr algn="l">
              <a:lnSpc>
                <a:spcPct val="115000"/>
              </a:lnSpc>
            </a:pPr>
            <a:r>
              <a:rPr sz="1000" b="0" i="0" spc="50" dirty="0">
                <a:solidFill>
                  <a:srgbClr val="6E6E6E"/>
                </a:solidFill>
                <a:latin typeface="Courier New"/>
              </a:rPr>
              <a:t>Worked Example  ·  Input + Gradient</a:t>
            </a:r>
          </a:p>
        </p:txBody>
      </p:sp>
      <p:sp>
        <p:nvSpPr>
          <p:cNvPr id="5" name="TextBox 4"/>
          <p:cNvSpPr txBox="1"/>
          <p:nvPr/>
        </p:nvSpPr>
        <p:spPr>
          <a:xfrm>
            <a:off x="548640" y="6400800"/>
            <a:ext cx="7315200" cy="274320"/>
          </a:xfrm>
          <a:prstGeom prst="rect">
            <a:avLst/>
          </a:prstGeom>
          <a:noFill/>
        </p:spPr>
        <p:txBody>
          <a:bodyPr wrap="square" lIns="0" tIns="18288" rIns="0" bIns="18288" anchor="t">
            <a:spAutoFit/>
          </a:bodyPr>
          <a:lstStyle/>
          <a:p>
            <a:pPr algn="l">
              <a:lnSpc>
                <a:spcPct val="115000"/>
              </a:lnSpc>
            </a:pPr>
            <a:r>
              <a:rPr sz="1000" b="0" i="0" spc="30">
                <a:solidFill>
                  <a:srgbClr val="6E6E6E"/>
                </a:solidFill>
                <a:latin typeface="Courier New"/>
              </a:rPr>
              <a:t>09 — Worked example · gradient</a:t>
            </a:r>
          </a:p>
        </p:txBody>
      </p:sp>
      <p:sp>
        <p:nvSpPr>
          <p:cNvPr id="6" name="TextBox 5"/>
          <p:cNvSpPr txBox="1"/>
          <p:nvPr/>
        </p:nvSpPr>
        <p:spPr>
          <a:xfrm>
            <a:off x="548640" y="960120"/>
            <a:ext cx="7315200" cy="274320"/>
          </a:xfrm>
          <a:prstGeom prst="rect">
            <a:avLst/>
          </a:prstGeom>
          <a:noFill/>
        </p:spPr>
        <p:txBody>
          <a:bodyPr wrap="square" lIns="0" tIns="18288" rIns="0" bIns="18288" anchor="t">
            <a:spAutoFit/>
          </a:bodyPr>
          <a:lstStyle/>
          <a:p>
            <a:pPr algn="l">
              <a:lnSpc>
                <a:spcPct val="115000"/>
              </a:lnSpc>
            </a:pPr>
            <a:r>
              <a:rPr sz="1000" b="0" i="0" spc="80">
                <a:solidFill>
                  <a:srgbClr val="1F5FA8"/>
                </a:solidFill>
                <a:latin typeface="Courier New"/>
              </a:rPr>
              <a:t>STEP 1  ·  COMPUTE G ON A TINY 1D IMAGE</a:t>
            </a:r>
          </a:p>
        </p:txBody>
      </p:sp>
      <p:sp>
        <p:nvSpPr>
          <p:cNvPr id="7" name="TextBox 6"/>
          <p:cNvSpPr txBox="1"/>
          <p:nvPr/>
        </p:nvSpPr>
        <p:spPr>
          <a:xfrm>
            <a:off x="502920" y="1325880"/>
            <a:ext cx="11430000" cy="1097280"/>
          </a:xfrm>
          <a:prstGeom prst="rect">
            <a:avLst/>
          </a:prstGeom>
          <a:noFill/>
        </p:spPr>
        <p:txBody>
          <a:bodyPr wrap="square" lIns="0" tIns="18288" rIns="0" bIns="18288" anchor="t">
            <a:spAutoFit/>
          </a:bodyPr>
          <a:lstStyle/>
          <a:p>
            <a:pPr algn="l">
              <a:lnSpc>
                <a:spcPct val="105000"/>
              </a:lnSpc>
            </a:pPr>
            <a:r>
              <a:rPr sz="3200" b="0" i="0">
                <a:solidFill>
                  <a:srgbClr val="1A1A1A"/>
                </a:solidFill>
                <a:latin typeface="Georgia"/>
              </a:rPr>
              <a:t>Seven pixels, </a:t>
            </a:r>
            <a:r>
              <a:rPr sz="3200" b="0" i="1">
                <a:solidFill>
                  <a:srgbClr val="1A1A1A"/>
                </a:solidFill>
                <a:latin typeface="Georgia"/>
              </a:rPr>
              <a:t>two dark objects</a:t>
            </a:r>
            <a:r>
              <a:rPr sz="3200" b="0" i="0">
                <a:solidFill>
                  <a:srgbClr val="1A1A1A"/>
                </a:solidFill>
                <a:latin typeface="Georgia"/>
              </a:rPr>
              <a:t>, one bright peak.</a:t>
            </a:r>
          </a:p>
        </p:txBody>
      </p:sp>
      <p:sp>
        <p:nvSpPr>
          <p:cNvPr id="8" name="TextBox 7"/>
          <p:cNvSpPr txBox="1"/>
          <p:nvPr/>
        </p:nvSpPr>
        <p:spPr>
          <a:xfrm>
            <a:off x="548640" y="2468880"/>
            <a:ext cx="10972800" cy="274320"/>
          </a:xfrm>
          <a:prstGeom prst="rect">
            <a:avLst/>
          </a:prstGeom>
          <a:noFill/>
        </p:spPr>
        <p:txBody>
          <a:bodyPr wrap="square" lIns="0" tIns="18288" rIns="0" bIns="18288" anchor="t">
            <a:spAutoFit/>
          </a:bodyPr>
          <a:lstStyle/>
          <a:p>
            <a:pPr algn="l">
              <a:lnSpc>
                <a:spcPct val="115000"/>
              </a:lnSpc>
            </a:pPr>
            <a:r>
              <a:rPr sz="1000" b="0" i="0" spc="80">
                <a:solidFill>
                  <a:srgbClr val="1F5FA8"/>
                </a:solidFill>
                <a:latin typeface="Courier New"/>
              </a:rPr>
              <a:t>INPUT  ·  f</a:t>
            </a:r>
          </a:p>
        </p:txBody>
      </p:sp>
      <p:sp>
        <p:nvSpPr>
          <p:cNvPr id="9" name="Rectangle 8"/>
          <p:cNvSpPr/>
          <p:nvPr/>
        </p:nvSpPr>
        <p:spPr>
          <a:xfrm>
            <a:off x="548640" y="2743200"/>
            <a:ext cx="777240" cy="640080"/>
          </a:xfrm>
          <a:prstGeom prst="rect">
            <a:avLst/>
          </a:prstGeom>
          <a:solidFill>
            <a:srgbClr val="FBFAF6"/>
          </a:solidFill>
          <a:ln w="6350">
            <a:solidFill>
              <a:srgbClr val="D4D1C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48640" y="2834640"/>
            <a:ext cx="777240" cy="457200"/>
          </a:xfrm>
          <a:prstGeom prst="rect">
            <a:avLst/>
          </a:prstGeom>
          <a:noFill/>
        </p:spPr>
        <p:txBody>
          <a:bodyPr wrap="square" lIns="0" tIns="18288" rIns="0" bIns="18288" anchor="t">
            <a:spAutoFit/>
          </a:bodyPr>
          <a:lstStyle/>
          <a:p>
            <a:pPr algn="ctr">
              <a:lnSpc>
                <a:spcPct val="115000"/>
              </a:lnSpc>
            </a:pPr>
            <a:r>
              <a:rPr sz="2200" b="0" i="0">
                <a:solidFill>
                  <a:srgbClr val="1A1A1A"/>
                </a:solidFill>
                <a:latin typeface="Courier New"/>
              </a:rPr>
              <a:t>3</a:t>
            </a:r>
          </a:p>
        </p:txBody>
      </p:sp>
      <p:sp>
        <p:nvSpPr>
          <p:cNvPr id="11" name="TextBox 10"/>
          <p:cNvSpPr txBox="1"/>
          <p:nvPr/>
        </p:nvSpPr>
        <p:spPr>
          <a:xfrm>
            <a:off x="548640" y="3401568"/>
            <a:ext cx="777240" cy="228600"/>
          </a:xfrm>
          <a:prstGeom prst="rect">
            <a:avLst/>
          </a:prstGeom>
          <a:noFill/>
        </p:spPr>
        <p:txBody>
          <a:bodyPr wrap="square" lIns="0" tIns="18288" rIns="0" bIns="18288" anchor="t">
            <a:spAutoFit/>
          </a:bodyPr>
          <a:lstStyle/>
          <a:p>
            <a:pPr algn="ctr">
              <a:lnSpc>
                <a:spcPct val="115000"/>
              </a:lnSpc>
            </a:pPr>
            <a:r>
              <a:rPr sz="1000" b="0" i="0">
                <a:solidFill>
                  <a:srgbClr val="6E6E6E"/>
                </a:solidFill>
                <a:latin typeface="Courier New"/>
              </a:rPr>
              <a:t>p1</a:t>
            </a:r>
          </a:p>
        </p:txBody>
      </p:sp>
      <p:sp>
        <p:nvSpPr>
          <p:cNvPr id="12" name="Rectangle 11"/>
          <p:cNvSpPr/>
          <p:nvPr/>
        </p:nvSpPr>
        <p:spPr>
          <a:xfrm>
            <a:off x="1417320" y="2743200"/>
            <a:ext cx="777240" cy="640080"/>
          </a:xfrm>
          <a:prstGeom prst="rect">
            <a:avLst/>
          </a:prstGeom>
          <a:solidFill>
            <a:srgbClr val="FBFAF6"/>
          </a:solidFill>
          <a:ln w="6350">
            <a:solidFill>
              <a:srgbClr val="D4D1C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417320" y="2834640"/>
            <a:ext cx="777240" cy="457200"/>
          </a:xfrm>
          <a:prstGeom prst="rect">
            <a:avLst/>
          </a:prstGeom>
          <a:noFill/>
        </p:spPr>
        <p:txBody>
          <a:bodyPr wrap="square" lIns="0" tIns="18288" rIns="0" bIns="18288" anchor="t">
            <a:spAutoFit/>
          </a:bodyPr>
          <a:lstStyle/>
          <a:p>
            <a:pPr algn="ctr">
              <a:lnSpc>
                <a:spcPct val="115000"/>
              </a:lnSpc>
            </a:pPr>
            <a:r>
              <a:rPr sz="2200" b="0" i="0">
                <a:solidFill>
                  <a:srgbClr val="1A1A1A"/>
                </a:solidFill>
                <a:latin typeface="Courier New"/>
              </a:rPr>
              <a:t>1</a:t>
            </a:r>
          </a:p>
        </p:txBody>
      </p:sp>
      <p:sp>
        <p:nvSpPr>
          <p:cNvPr id="14" name="TextBox 13"/>
          <p:cNvSpPr txBox="1"/>
          <p:nvPr/>
        </p:nvSpPr>
        <p:spPr>
          <a:xfrm>
            <a:off x="1417320" y="3401568"/>
            <a:ext cx="777240" cy="228600"/>
          </a:xfrm>
          <a:prstGeom prst="rect">
            <a:avLst/>
          </a:prstGeom>
          <a:noFill/>
        </p:spPr>
        <p:txBody>
          <a:bodyPr wrap="square" lIns="0" tIns="18288" rIns="0" bIns="18288" anchor="t">
            <a:spAutoFit/>
          </a:bodyPr>
          <a:lstStyle/>
          <a:p>
            <a:pPr algn="ctr">
              <a:lnSpc>
                <a:spcPct val="115000"/>
              </a:lnSpc>
            </a:pPr>
            <a:r>
              <a:rPr sz="1000" b="0" i="0">
                <a:solidFill>
                  <a:srgbClr val="6E6E6E"/>
                </a:solidFill>
                <a:latin typeface="Courier New"/>
              </a:rPr>
              <a:t>p2</a:t>
            </a:r>
          </a:p>
        </p:txBody>
      </p:sp>
      <p:sp>
        <p:nvSpPr>
          <p:cNvPr id="15" name="Rectangle 14"/>
          <p:cNvSpPr/>
          <p:nvPr/>
        </p:nvSpPr>
        <p:spPr>
          <a:xfrm>
            <a:off x="2286000" y="2743200"/>
            <a:ext cx="777240" cy="640080"/>
          </a:xfrm>
          <a:prstGeom prst="rect">
            <a:avLst/>
          </a:prstGeom>
          <a:solidFill>
            <a:srgbClr val="FBFAF6"/>
          </a:solidFill>
          <a:ln w="6350">
            <a:solidFill>
              <a:srgbClr val="D4D1C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2286000" y="2834640"/>
            <a:ext cx="777240" cy="457200"/>
          </a:xfrm>
          <a:prstGeom prst="rect">
            <a:avLst/>
          </a:prstGeom>
          <a:noFill/>
        </p:spPr>
        <p:txBody>
          <a:bodyPr wrap="square" lIns="0" tIns="18288" rIns="0" bIns="18288" anchor="t">
            <a:spAutoFit/>
          </a:bodyPr>
          <a:lstStyle/>
          <a:p>
            <a:pPr algn="ctr">
              <a:lnSpc>
                <a:spcPct val="115000"/>
              </a:lnSpc>
            </a:pPr>
            <a:r>
              <a:rPr sz="2200" b="0" i="0">
                <a:solidFill>
                  <a:srgbClr val="1A1A1A"/>
                </a:solidFill>
                <a:latin typeface="Courier New"/>
              </a:rPr>
              <a:t>2</a:t>
            </a:r>
          </a:p>
        </p:txBody>
      </p:sp>
      <p:sp>
        <p:nvSpPr>
          <p:cNvPr id="17" name="TextBox 16"/>
          <p:cNvSpPr txBox="1"/>
          <p:nvPr/>
        </p:nvSpPr>
        <p:spPr>
          <a:xfrm>
            <a:off x="2286000" y="3401568"/>
            <a:ext cx="777240" cy="228600"/>
          </a:xfrm>
          <a:prstGeom prst="rect">
            <a:avLst/>
          </a:prstGeom>
          <a:noFill/>
        </p:spPr>
        <p:txBody>
          <a:bodyPr wrap="square" lIns="0" tIns="18288" rIns="0" bIns="18288" anchor="t">
            <a:spAutoFit/>
          </a:bodyPr>
          <a:lstStyle/>
          <a:p>
            <a:pPr algn="ctr">
              <a:lnSpc>
                <a:spcPct val="115000"/>
              </a:lnSpc>
            </a:pPr>
            <a:r>
              <a:rPr sz="1000" b="0" i="0">
                <a:solidFill>
                  <a:srgbClr val="6E6E6E"/>
                </a:solidFill>
                <a:latin typeface="Courier New"/>
              </a:rPr>
              <a:t>p3</a:t>
            </a:r>
          </a:p>
        </p:txBody>
      </p:sp>
      <p:sp>
        <p:nvSpPr>
          <p:cNvPr id="18" name="Rectangle 17"/>
          <p:cNvSpPr/>
          <p:nvPr/>
        </p:nvSpPr>
        <p:spPr>
          <a:xfrm>
            <a:off x="3154680" y="2743200"/>
            <a:ext cx="777240" cy="640080"/>
          </a:xfrm>
          <a:prstGeom prst="rect">
            <a:avLst/>
          </a:prstGeom>
          <a:solidFill>
            <a:srgbClr val="FBFAF6"/>
          </a:solidFill>
          <a:ln w="6350">
            <a:solidFill>
              <a:srgbClr val="D4D1C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3154680" y="2834640"/>
            <a:ext cx="777240" cy="457200"/>
          </a:xfrm>
          <a:prstGeom prst="rect">
            <a:avLst/>
          </a:prstGeom>
          <a:noFill/>
        </p:spPr>
        <p:txBody>
          <a:bodyPr wrap="square" lIns="0" tIns="18288" rIns="0" bIns="18288" anchor="t">
            <a:spAutoFit/>
          </a:bodyPr>
          <a:lstStyle/>
          <a:p>
            <a:pPr algn="ctr">
              <a:lnSpc>
                <a:spcPct val="115000"/>
              </a:lnSpc>
            </a:pPr>
            <a:r>
              <a:rPr sz="2200" b="0" i="0">
                <a:solidFill>
                  <a:srgbClr val="1A1A1A"/>
                </a:solidFill>
                <a:latin typeface="Courier New"/>
              </a:rPr>
              <a:t>8</a:t>
            </a:r>
          </a:p>
        </p:txBody>
      </p:sp>
      <p:sp>
        <p:nvSpPr>
          <p:cNvPr id="20" name="TextBox 19"/>
          <p:cNvSpPr txBox="1"/>
          <p:nvPr/>
        </p:nvSpPr>
        <p:spPr>
          <a:xfrm>
            <a:off x="3154680" y="3401568"/>
            <a:ext cx="777240" cy="228600"/>
          </a:xfrm>
          <a:prstGeom prst="rect">
            <a:avLst/>
          </a:prstGeom>
          <a:noFill/>
        </p:spPr>
        <p:txBody>
          <a:bodyPr wrap="square" lIns="0" tIns="18288" rIns="0" bIns="18288" anchor="t">
            <a:spAutoFit/>
          </a:bodyPr>
          <a:lstStyle/>
          <a:p>
            <a:pPr algn="ctr">
              <a:lnSpc>
                <a:spcPct val="115000"/>
              </a:lnSpc>
            </a:pPr>
            <a:r>
              <a:rPr sz="1000" b="0" i="0">
                <a:solidFill>
                  <a:srgbClr val="6E6E6E"/>
                </a:solidFill>
                <a:latin typeface="Courier New"/>
              </a:rPr>
              <a:t>p4</a:t>
            </a:r>
          </a:p>
        </p:txBody>
      </p:sp>
      <p:sp>
        <p:nvSpPr>
          <p:cNvPr id="21" name="Rectangle 20"/>
          <p:cNvSpPr/>
          <p:nvPr/>
        </p:nvSpPr>
        <p:spPr>
          <a:xfrm>
            <a:off x="4023360" y="2743200"/>
            <a:ext cx="777240" cy="640080"/>
          </a:xfrm>
          <a:prstGeom prst="rect">
            <a:avLst/>
          </a:prstGeom>
          <a:solidFill>
            <a:srgbClr val="FBFAF6"/>
          </a:solidFill>
          <a:ln w="6350">
            <a:solidFill>
              <a:srgbClr val="D4D1C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023360" y="2834640"/>
            <a:ext cx="777240" cy="457200"/>
          </a:xfrm>
          <a:prstGeom prst="rect">
            <a:avLst/>
          </a:prstGeom>
          <a:noFill/>
        </p:spPr>
        <p:txBody>
          <a:bodyPr wrap="square" lIns="0" tIns="18288" rIns="0" bIns="18288" anchor="t">
            <a:spAutoFit/>
          </a:bodyPr>
          <a:lstStyle/>
          <a:p>
            <a:pPr algn="ctr">
              <a:lnSpc>
                <a:spcPct val="115000"/>
              </a:lnSpc>
            </a:pPr>
            <a:r>
              <a:rPr sz="2200" b="0" i="0">
                <a:solidFill>
                  <a:srgbClr val="1A1A1A"/>
                </a:solidFill>
                <a:latin typeface="Courier New"/>
              </a:rPr>
              <a:t>2</a:t>
            </a:r>
          </a:p>
        </p:txBody>
      </p:sp>
      <p:sp>
        <p:nvSpPr>
          <p:cNvPr id="23" name="TextBox 22"/>
          <p:cNvSpPr txBox="1"/>
          <p:nvPr/>
        </p:nvSpPr>
        <p:spPr>
          <a:xfrm>
            <a:off x="4023360" y="3401568"/>
            <a:ext cx="777240" cy="228600"/>
          </a:xfrm>
          <a:prstGeom prst="rect">
            <a:avLst/>
          </a:prstGeom>
          <a:noFill/>
        </p:spPr>
        <p:txBody>
          <a:bodyPr wrap="square" lIns="0" tIns="18288" rIns="0" bIns="18288" anchor="t">
            <a:spAutoFit/>
          </a:bodyPr>
          <a:lstStyle/>
          <a:p>
            <a:pPr algn="ctr">
              <a:lnSpc>
                <a:spcPct val="115000"/>
              </a:lnSpc>
            </a:pPr>
            <a:r>
              <a:rPr sz="1000" b="0" i="0">
                <a:solidFill>
                  <a:srgbClr val="6E6E6E"/>
                </a:solidFill>
                <a:latin typeface="Courier New"/>
              </a:rPr>
              <a:t>p5</a:t>
            </a:r>
          </a:p>
        </p:txBody>
      </p:sp>
      <p:sp>
        <p:nvSpPr>
          <p:cNvPr id="24" name="Rectangle 23"/>
          <p:cNvSpPr/>
          <p:nvPr/>
        </p:nvSpPr>
        <p:spPr>
          <a:xfrm>
            <a:off x="4892040" y="2743200"/>
            <a:ext cx="777240" cy="640080"/>
          </a:xfrm>
          <a:prstGeom prst="rect">
            <a:avLst/>
          </a:prstGeom>
          <a:solidFill>
            <a:srgbClr val="FBFAF6"/>
          </a:solidFill>
          <a:ln w="6350">
            <a:solidFill>
              <a:srgbClr val="D4D1C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4892040" y="2834640"/>
            <a:ext cx="777240" cy="457200"/>
          </a:xfrm>
          <a:prstGeom prst="rect">
            <a:avLst/>
          </a:prstGeom>
          <a:noFill/>
        </p:spPr>
        <p:txBody>
          <a:bodyPr wrap="square" lIns="0" tIns="18288" rIns="0" bIns="18288" anchor="t">
            <a:spAutoFit/>
          </a:bodyPr>
          <a:lstStyle/>
          <a:p>
            <a:pPr algn="ctr">
              <a:lnSpc>
                <a:spcPct val="115000"/>
              </a:lnSpc>
            </a:pPr>
            <a:r>
              <a:rPr sz="2200" b="0" i="0">
                <a:solidFill>
                  <a:srgbClr val="1A1A1A"/>
                </a:solidFill>
                <a:latin typeface="Courier New"/>
              </a:rPr>
              <a:t>1</a:t>
            </a:r>
          </a:p>
        </p:txBody>
      </p:sp>
      <p:sp>
        <p:nvSpPr>
          <p:cNvPr id="26" name="TextBox 25"/>
          <p:cNvSpPr txBox="1"/>
          <p:nvPr/>
        </p:nvSpPr>
        <p:spPr>
          <a:xfrm>
            <a:off x="4892040" y="3401568"/>
            <a:ext cx="777240" cy="228600"/>
          </a:xfrm>
          <a:prstGeom prst="rect">
            <a:avLst/>
          </a:prstGeom>
          <a:noFill/>
        </p:spPr>
        <p:txBody>
          <a:bodyPr wrap="square" lIns="0" tIns="18288" rIns="0" bIns="18288" anchor="t">
            <a:spAutoFit/>
          </a:bodyPr>
          <a:lstStyle/>
          <a:p>
            <a:pPr algn="ctr">
              <a:lnSpc>
                <a:spcPct val="115000"/>
              </a:lnSpc>
            </a:pPr>
            <a:r>
              <a:rPr sz="1000" b="0" i="0">
                <a:solidFill>
                  <a:srgbClr val="6E6E6E"/>
                </a:solidFill>
                <a:latin typeface="Courier New"/>
              </a:rPr>
              <a:t>p6</a:t>
            </a:r>
          </a:p>
        </p:txBody>
      </p:sp>
      <p:sp>
        <p:nvSpPr>
          <p:cNvPr id="27" name="Rectangle 26"/>
          <p:cNvSpPr/>
          <p:nvPr/>
        </p:nvSpPr>
        <p:spPr>
          <a:xfrm>
            <a:off x="5760720" y="2743200"/>
            <a:ext cx="777240" cy="640080"/>
          </a:xfrm>
          <a:prstGeom prst="rect">
            <a:avLst/>
          </a:prstGeom>
          <a:solidFill>
            <a:srgbClr val="FBFAF6"/>
          </a:solidFill>
          <a:ln w="6350">
            <a:solidFill>
              <a:srgbClr val="D4D1C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5760720" y="2834640"/>
            <a:ext cx="777240" cy="457200"/>
          </a:xfrm>
          <a:prstGeom prst="rect">
            <a:avLst/>
          </a:prstGeom>
          <a:noFill/>
        </p:spPr>
        <p:txBody>
          <a:bodyPr wrap="square" lIns="0" tIns="18288" rIns="0" bIns="18288" anchor="t">
            <a:spAutoFit/>
          </a:bodyPr>
          <a:lstStyle/>
          <a:p>
            <a:pPr algn="ctr">
              <a:lnSpc>
                <a:spcPct val="115000"/>
              </a:lnSpc>
            </a:pPr>
            <a:r>
              <a:rPr sz="2200" b="0" i="0">
                <a:solidFill>
                  <a:srgbClr val="1A1A1A"/>
                </a:solidFill>
                <a:latin typeface="Courier New"/>
              </a:rPr>
              <a:t>3</a:t>
            </a:r>
          </a:p>
        </p:txBody>
      </p:sp>
      <p:sp>
        <p:nvSpPr>
          <p:cNvPr id="29" name="TextBox 28"/>
          <p:cNvSpPr txBox="1"/>
          <p:nvPr/>
        </p:nvSpPr>
        <p:spPr>
          <a:xfrm>
            <a:off x="5760720" y="3401568"/>
            <a:ext cx="777240" cy="228600"/>
          </a:xfrm>
          <a:prstGeom prst="rect">
            <a:avLst/>
          </a:prstGeom>
          <a:noFill/>
        </p:spPr>
        <p:txBody>
          <a:bodyPr wrap="square" lIns="0" tIns="18288" rIns="0" bIns="18288" anchor="t">
            <a:spAutoFit/>
          </a:bodyPr>
          <a:lstStyle/>
          <a:p>
            <a:pPr algn="ctr">
              <a:lnSpc>
                <a:spcPct val="115000"/>
              </a:lnSpc>
            </a:pPr>
            <a:r>
              <a:rPr sz="1000" b="0" i="0">
                <a:solidFill>
                  <a:srgbClr val="6E6E6E"/>
                </a:solidFill>
                <a:latin typeface="Courier New"/>
              </a:rPr>
              <a:t>p7</a:t>
            </a:r>
          </a:p>
        </p:txBody>
      </p:sp>
      <p:sp>
        <p:nvSpPr>
          <p:cNvPr id="30" name="Rounded Rectangle 29"/>
          <p:cNvSpPr/>
          <p:nvPr/>
        </p:nvSpPr>
        <p:spPr>
          <a:xfrm>
            <a:off x="6858000" y="2468880"/>
            <a:ext cx="4846320" cy="1188720"/>
          </a:xfrm>
          <a:prstGeom prst="roundRect">
            <a:avLst>
              <a:gd name="adj" fmla="val 6000"/>
            </a:avLst>
          </a:prstGeom>
          <a:solidFill>
            <a:srgbClr val="F6F4EE"/>
          </a:solidFill>
          <a:ln w="6350">
            <a:solidFill>
              <a:srgbClr val="D4D1C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7086600" y="2606040"/>
            <a:ext cx="4389120" cy="274320"/>
          </a:xfrm>
          <a:prstGeom prst="rect">
            <a:avLst/>
          </a:prstGeom>
          <a:noFill/>
        </p:spPr>
        <p:txBody>
          <a:bodyPr wrap="square" lIns="0" tIns="18288" rIns="0" bIns="18288" anchor="t">
            <a:spAutoFit/>
          </a:bodyPr>
          <a:lstStyle/>
          <a:p>
            <a:pPr algn="l">
              <a:lnSpc>
                <a:spcPct val="115000"/>
              </a:lnSpc>
            </a:pPr>
            <a:r>
              <a:rPr sz="900" b="0" i="0" spc="80">
                <a:solidFill>
                  <a:srgbClr val="6E6E6E"/>
                </a:solidFill>
                <a:latin typeface="Courier New"/>
              </a:rPr>
              <a:t>DEFINITION</a:t>
            </a:r>
          </a:p>
        </p:txBody>
      </p:sp>
      <p:sp>
        <p:nvSpPr>
          <p:cNvPr id="32" name="TextBox 31"/>
          <p:cNvSpPr txBox="1"/>
          <p:nvPr/>
        </p:nvSpPr>
        <p:spPr>
          <a:xfrm>
            <a:off x="7086600" y="2880360"/>
            <a:ext cx="4389120" cy="365760"/>
          </a:xfrm>
          <a:prstGeom prst="rect">
            <a:avLst/>
          </a:prstGeom>
          <a:noFill/>
        </p:spPr>
        <p:txBody>
          <a:bodyPr wrap="square" lIns="0" tIns="18288" rIns="0" bIns="18288" anchor="t">
            <a:spAutoFit/>
          </a:bodyPr>
          <a:lstStyle/>
          <a:p>
            <a:pPr algn="l">
              <a:lnSpc>
                <a:spcPct val="115000"/>
              </a:lnSpc>
            </a:pPr>
            <a:r>
              <a:rPr sz="1200" b="0" i="0">
                <a:solidFill>
                  <a:srgbClr val="1A1A1A"/>
                </a:solidFill>
                <a:latin typeface="Courier New"/>
              </a:rPr>
              <a:t>g(pᵢ) = max(window) − min(window)</a:t>
            </a:r>
          </a:p>
        </p:txBody>
      </p:sp>
      <p:sp>
        <p:nvSpPr>
          <p:cNvPr id="33" name="TextBox 32"/>
          <p:cNvSpPr txBox="1"/>
          <p:nvPr/>
        </p:nvSpPr>
        <p:spPr>
          <a:xfrm>
            <a:off x="7086600" y="3246120"/>
            <a:ext cx="4389120" cy="365760"/>
          </a:xfrm>
          <a:prstGeom prst="rect">
            <a:avLst/>
          </a:prstGeom>
          <a:noFill/>
        </p:spPr>
        <p:txBody>
          <a:bodyPr wrap="square" lIns="0" tIns="18288" rIns="0" bIns="18288" anchor="t">
            <a:spAutoFit/>
          </a:bodyPr>
          <a:lstStyle/>
          <a:p>
            <a:pPr algn="l">
              <a:lnSpc>
                <a:spcPct val="115000"/>
              </a:lnSpc>
            </a:pPr>
            <a:r>
              <a:rPr sz="1100" b="0" i="1" dirty="0">
                <a:solidFill>
                  <a:srgbClr val="2C2C2C"/>
                </a:solidFill>
                <a:latin typeface="Calibri"/>
              </a:rPr>
              <a:t>Window = 3 pixels, mirror padding.</a:t>
            </a:r>
          </a:p>
        </p:txBody>
      </p:sp>
      <p:sp>
        <p:nvSpPr>
          <p:cNvPr id="34" name="TextBox 33"/>
          <p:cNvSpPr txBox="1"/>
          <p:nvPr/>
        </p:nvSpPr>
        <p:spPr>
          <a:xfrm>
            <a:off x="548640" y="3931920"/>
            <a:ext cx="10972800" cy="274320"/>
          </a:xfrm>
          <a:prstGeom prst="rect">
            <a:avLst/>
          </a:prstGeom>
          <a:noFill/>
        </p:spPr>
        <p:txBody>
          <a:bodyPr wrap="square" lIns="0" tIns="18288" rIns="0" bIns="18288" anchor="t">
            <a:spAutoFit/>
          </a:bodyPr>
          <a:lstStyle/>
          <a:p>
            <a:pPr algn="l">
              <a:lnSpc>
                <a:spcPct val="115000"/>
              </a:lnSpc>
            </a:pPr>
            <a:r>
              <a:rPr sz="1000" b="0" i="0" spc="80">
                <a:solidFill>
                  <a:srgbClr val="1F5FA8"/>
                </a:solidFill>
                <a:latin typeface="Courier New"/>
              </a:rPr>
              <a:t>GRADIENT  ·  g(p)</a:t>
            </a:r>
          </a:p>
        </p:txBody>
      </p:sp>
      <p:sp>
        <p:nvSpPr>
          <p:cNvPr id="35" name="TextBox 34"/>
          <p:cNvSpPr txBox="1"/>
          <p:nvPr/>
        </p:nvSpPr>
        <p:spPr>
          <a:xfrm>
            <a:off x="548640" y="4206240"/>
            <a:ext cx="914400" cy="274320"/>
          </a:xfrm>
          <a:prstGeom prst="rect">
            <a:avLst/>
          </a:prstGeom>
          <a:noFill/>
        </p:spPr>
        <p:txBody>
          <a:bodyPr wrap="square" lIns="0" tIns="18288" rIns="0" bIns="18288" anchor="t">
            <a:spAutoFit/>
          </a:bodyPr>
          <a:lstStyle/>
          <a:p>
            <a:pPr algn="l">
              <a:lnSpc>
                <a:spcPct val="115000"/>
              </a:lnSpc>
            </a:pPr>
            <a:r>
              <a:rPr sz="900" b="0" i="0" spc="80">
                <a:solidFill>
                  <a:srgbClr val="6E6E6E"/>
                </a:solidFill>
                <a:latin typeface="Courier New"/>
              </a:rPr>
              <a:t>PIXEL</a:t>
            </a:r>
          </a:p>
        </p:txBody>
      </p:sp>
      <p:sp>
        <p:nvSpPr>
          <p:cNvPr id="36" name="TextBox 35"/>
          <p:cNvSpPr txBox="1"/>
          <p:nvPr/>
        </p:nvSpPr>
        <p:spPr>
          <a:xfrm>
            <a:off x="1463040" y="4206240"/>
            <a:ext cx="1554480" cy="274320"/>
          </a:xfrm>
          <a:prstGeom prst="rect">
            <a:avLst/>
          </a:prstGeom>
          <a:noFill/>
        </p:spPr>
        <p:txBody>
          <a:bodyPr wrap="square" lIns="0" tIns="18288" rIns="0" bIns="18288" anchor="t">
            <a:spAutoFit/>
          </a:bodyPr>
          <a:lstStyle/>
          <a:p>
            <a:pPr algn="l">
              <a:lnSpc>
                <a:spcPct val="115000"/>
              </a:lnSpc>
            </a:pPr>
            <a:r>
              <a:rPr sz="900" b="0" i="0" spc="80">
                <a:solidFill>
                  <a:srgbClr val="6E6E6E"/>
                </a:solidFill>
                <a:latin typeface="Courier New"/>
              </a:rPr>
              <a:t>WINDOW</a:t>
            </a:r>
          </a:p>
        </p:txBody>
      </p:sp>
      <p:sp>
        <p:nvSpPr>
          <p:cNvPr id="37" name="TextBox 36"/>
          <p:cNvSpPr txBox="1"/>
          <p:nvPr/>
        </p:nvSpPr>
        <p:spPr>
          <a:xfrm>
            <a:off x="3017520" y="4206240"/>
            <a:ext cx="1828800" cy="274320"/>
          </a:xfrm>
          <a:prstGeom prst="rect">
            <a:avLst/>
          </a:prstGeom>
          <a:noFill/>
        </p:spPr>
        <p:txBody>
          <a:bodyPr wrap="square" lIns="0" tIns="18288" rIns="0" bIns="18288" anchor="t">
            <a:spAutoFit/>
          </a:bodyPr>
          <a:lstStyle/>
          <a:p>
            <a:pPr algn="l">
              <a:lnSpc>
                <a:spcPct val="115000"/>
              </a:lnSpc>
            </a:pPr>
            <a:r>
              <a:rPr sz="900" b="0" i="0" spc="80">
                <a:solidFill>
                  <a:srgbClr val="6E6E6E"/>
                </a:solidFill>
                <a:latin typeface="Courier New"/>
              </a:rPr>
              <a:t>MAX</a:t>
            </a:r>
          </a:p>
        </p:txBody>
      </p:sp>
      <p:sp>
        <p:nvSpPr>
          <p:cNvPr id="38" name="TextBox 37"/>
          <p:cNvSpPr txBox="1"/>
          <p:nvPr/>
        </p:nvSpPr>
        <p:spPr>
          <a:xfrm>
            <a:off x="4846320" y="4206240"/>
            <a:ext cx="1645920" cy="274320"/>
          </a:xfrm>
          <a:prstGeom prst="rect">
            <a:avLst/>
          </a:prstGeom>
          <a:noFill/>
        </p:spPr>
        <p:txBody>
          <a:bodyPr wrap="square" lIns="0" tIns="18288" rIns="0" bIns="18288" anchor="t">
            <a:spAutoFit/>
          </a:bodyPr>
          <a:lstStyle/>
          <a:p>
            <a:pPr algn="l">
              <a:lnSpc>
                <a:spcPct val="115000"/>
              </a:lnSpc>
            </a:pPr>
            <a:r>
              <a:rPr sz="900" b="0" i="0" spc="80">
                <a:solidFill>
                  <a:srgbClr val="6E6E6E"/>
                </a:solidFill>
                <a:latin typeface="Courier New"/>
              </a:rPr>
              <a:t>MIN</a:t>
            </a:r>
          </a:p>
        </p:txBody>
      </p:sp>
      <p:sp>
        <p:nvSpPr>
          <p:cNvPr id="39" name="TextBox 38"/>
          <p:cNvSpPr txBox="1"/>
          <p:nvPr/>
        </p:nvSpPr>
        <p:spPr>
          <a:xfrm>
            <a:off x="6492240" y="4206240"/>
            <a:ext cx="1645920" cy="274320"/>
          </a:xfrm>
          <a:prstGeom prst="rect">
            <a:avLst/>
          </a:prstGeom>
          <a:noFill/>
        </p:spPr>
        <p:txBody>
          <a:bodyPr wrap="square" lIns="0" tIns="18288" rIns="0" bIns="18288" anchor="t">
            <a:spAutoFit/>
          </a:bodyPr>
          <a:lstStyle/>
          <a:p>
            <a:pPr algn="l">
              <a:lnSpc>
                <a:spcPct val="115000"/>
              </a:lnSpc>
            </a:pPr>
            <a:r>
              <a:rPr sz="900" b="0" i="0" spc="80">
                <a:solidFill>
                  <a:srgbClr val="6E6E6E"/>
                </a:solidFill>
                <a:latin typeface="Courier New"/>
              </a:rPr>
              <a:t>G(P)</a:t>
            </a:r>
          </a:p>
        </p:txBody>
      </p:sp>
      <p:sp>
        <p:nvSpPr>
          <p:cNvPr id="40" name="TextBox 39"/>
          <p:cNvSpPr txBox="1"/>
          <p:nvPr/>
        </p:nvSpPr>
        <p:spPr>
          <a:xfrm>
            <a:off x="8138160" y="4206240"/>
            <a:ext cx="1828800" cy="274320"/>
          </a:xfrm>
          <a:prstGeom prst="rect">
            <a:avLst/>
          </a:prstGeom>
          <a:noFill/>
        </p:spPr>
        <p:txBody>
          <a:bodyPr wrap="square" lIns="0" tIns="18288" rIns="0" bIns="18288" anchor="t">
            <a:spAutoFit/>
          </a:bodyPr>
          <a:lstStyle/>
          <a:p>
            <a:pPr algn="l">
              <a:lnSpc>
                <a:spcPct val="115000"/>
              </a:lnSpc>
            </a:pPr>
            <a:r>
              <a:rPr sz="900" b="0" i="0" spc="80">
                <a:solidFill>
                  <a:srgbClr val="6E6E6E"/>
                </a:solidFill>
                <a:latin typeface="Courier New"/>
              </a:rPr>
              <a:t>REGIONAL MIN?</a:t>
            </a:r>
          </a:p>
        </p:txBody>
      </p:sp>
      <p:cxnSp>
        <p:nvCxnSpPr>
          <p:cNvPr id="41" name="Connector 40"/>
          <p:cNvCxnSpPr/>
          <p:nvPr/>
        </p:nvCxnSpPr>
        <p:spPr>
          <a:xfrm>
            <a:off x="548640" y="4498848"/>
            <a:ext cx="11091672" cy="0"/>
          </a:xfrm>
          <a:prstGeom prst="line">
            <a:avLst/>
          </a:prstGeom>
          <a:ln w="6350">
            <a:solidFill>
              <a:srgbClr val="D4D1CA"/>
            </a:solidFill>
          </a:ln>
        </p:spPr>
        <p:style>
          <a:lnRef idx="2">
            <a:schemeClr val="accent1"/>
          </a:lnRef>
          <a:fillRef idx="0">
            <a:schemeClr val="accent1"/>
          </a:fillRef>
          <a:effectRef idx="1">
            <a:schemeClr val="accent1"/>
          </a:effectRef>
          <a:fontRef idx="minor">
            <a:schemeClr val="tx1"/>
          </a:fontRef>
        </p:style>
      </p:cxnSp>
      <p:sp>
        <p:nvSpPr>
          <p:cNvPr id="42" name="TextBox 41"/>
          <p:cNvSpPr txBox="1"/>
          <p:nvPr/>
        </p:nvSpPr>
        <p:spPr>
          <a:xfrm>
            <a:off x="548640" y="4526280"/>
            <a:ext cx="914400" cy="219456"/>
          </a:xfrm>
          <a:prstGeom prst="rect">
            <a:avLst/>
          </a:prstGeom>
          <a:noFill/>
        </p:spPr>
        <p:txBody>
          <a:bodyPr wrap="square" lIns="0" tIns="18288" rIns="0" bIns="18288" anchor="t">
            <a:spAutoFit/>
          </a:bodyPr>
          <a:lstStyle/>
          <a:p>
            <a:pPr algn="l">
              <a:lnSpc>
                <a:spcPct val="115000"/>
              </a:lnSpc>
            </a:pPr>
            <a:r>
              <a:rPr sz="1000" b="0" i="0">
                <a:solidFill>
                  <a:srgbClr val="2C2C2C"/>
                </a:solidFill>
                <a:latin typeface="Courier New"/>
              </a:rPr>
              <a:t>p1</a:t>
            </a:r>
          </a:p>
        </p:txBody>
      </p:sp>
      <p:sp>
        <p:nvSpPr>
          <p:cNvPr id="43" name="TextBox 42"/>
          <p:cNvSpPr txBox="1"/>
          <p:nvPr/>
        </p:nvSpPr>
        <p:spPr>
          <a:xfrm>
            <a:off x="1463040" y="4526280"/>
            <a:ext cx="1554480" cy="219456"/>
          </a:xfrm>
          <a:prstGeom prst="rect">
            <a:avLst/>
          </a:prstGeom>
          <a:noFill/>
        </p:spPr>
        <p:txBody>
          <a:bodyPr wrap="square" lIns="0" tIns="18288" rIns="0" bIns="18288" anchor="t">
            <a:spAutoFit/>
          </a:bodyPr>
          <a:lstStyle/>
          <a:p>
            <a:pPr algn="l">
              <a:lnSpc>
                <a:spcPct val="115000"/>
              </a:lnSpc>
            </a:pPr>
            <a:r>
              <a:rPr sz="1000" b="0" i="0">
                <a:solidFill>
                  <a:srgbClr val="2C2C2C"/>
                </a:solidFill>
                <a:latin typeface="Courier New"/>
              </a:rPr>
              <a:t>3, 3, 1</a:t>
            </a:r>
          </a:p>
        </p:txBody>
      </p:sp>
      <p:sp>
        <p:nvSpPr>
          <p:cNvPr id="44" name="TextBox 43"/>
          <p:cNvSpPr txBox="1"/>
          <p:nvPr/>
        </p:nvSpPr>
        <p:spPr>
          <a:xfrm>
            <a:off x="3017520" y="4526280"/>
            <a:ext cx="1828800" cy="219456"/>
          </a:xfrm>
          <a:prstGeom prst="rect">
            <a:avLst/>
          </a:prstGeom>
          <a:noFill/>
        </p:spPr>
        <p:txBody>
          <a:bodyPr wrap="square" lIns="0" tIns="18288" rIns="0" bIns="18288" anchor="t">
            <a:spAutoFit/>
          </a:bodyPr>
          <a:lstStyle/>
          <a:p>
            <a:pPr algn="l">
              <a:lnSpc>
                <a:spcPct val="115000"/>
              </a:lnSpc>
            </a:pPr>
            <a:r>
              <a:rPr sz="1000" b="0" i="0">
                <a:solidFill>
                  <a:srgbClr val="2C2C2C"/>
                </a:solidFill>
                <a:latin typeface="Courier New"/>
              </a:rPr>
              <a:t>3</a:t>
            </a:r>
          </a:p>
        </p:txBody>
      </p:sp>
      <p:sp>
        <p:nvSpPr>
          <p:cNvPr id="45" name="TextBox 44"/>
          <p:cNvSpPr txBox="1"/>
          <p:nvPr/>
        </p:nvSpPr>
        <p:spPr>
          <a:xfrm>
            <a:off x="4846320" y="4526280"/>
            <a:ext cx="1645920" cy="219456"/>
          </a:xfrm>
          <a:prstGeom prst="rect">
            <a:avLst/>
          </a:prstGeom>
          <a:noFill/>
        </p:spPr>
        <p:txBody>
          <a:bodyPr wrap="square" lIns="0" tIns="18288" rIns="0" bIns="18288" anchor="t">
            <a:spAutoFit/>
          </a:bodyPr>
          <a:lstStyle/>
          <a:p>
            <a:pPr algn="l">
              <a:lnSpc>
                <a:spcPct val="115000"/>
              </a:lnSpc>
            </a:pPr>
            <a:r>
              <a:rPr sz="1000" b="0" i="0">
                <a:solidFill>
                  <a:srgbClr val="2C2C2C"/>
                </a:solidFill>
                <a:latin typeface="Courier New"/>
              </a:rPr>
              <a:t>1</a:t>
            </a:r>
          </a:p>
        </p:txBody>
      </p:sp>
      <p:sp>
        <p:nvSpPr>
          <p:cNvPr id="46" name="TextBox 45"/>
          <p:cNvSpPr txBox="1"/>
          <p:nvPr/>
        </p:nvSpPr>
        <p:spPr>
          <a:xfrm>
            <a:off x="6492240" y="4526280"/>
            <a:ext cx="1645920" cy="219456"/>
          </a:xfrm>
          <a:prstGeom prst="rect">
            <a:avLst/>
          </a:prstGeom>
          <a:noFill/>
        </p:spPr>
        <p:txBody>
          <a:bodyPr wrap="square" lIns="0" tIns="18288" rIns="0" bIns="18288" anchor="t">
            <a:spAutoFit/>
          </a:bodyPr>
          <a:lstStyle/>
          <a:p>
            <a:pPr algn="l">
              <a:lnSpc>
                <a:spcPct val="115000"/>
              </a:lnSpc>
            </a:pPr>
            <a:r>
              <a:rPr sz="1000" b="1" i="0">
                <a:solidFill>
                  <a:srgbClr val="1A1A1A"/>
                </a:solidFill>
                <a:latin typeface="Courier New"/>
              </a:rPr>
              <a:t>2</a:t>
            </a:r>
          </a:p>
        </p:txBody>
      </p:sp>
      <p:sp>
        <p:nvSpPr>
          <p:cNvPr id="47" name="TextBox 46"/>
          <p:cNvSpPr txBox="1"/>
          <p:nvPr/>
        </p:nvSpPr>
        <p:spPr>
          <a:xfrm>
            <a:off x="8138160" y="4526280"/>
            <a:ext cx="1828800" cy="219456"/>
          </a:xfrm>
          <a:prstGeom prst="rect">
            <a:avLst/>
          </a:prstGeom>
          <a:noFill/>
        </p:spPr>
        <p:txBody>
          <a:bodyPr wrap="square" lIns="0" tIns="18288" rIns="0" bIns="18288" anchor="t">
            <a:spAutoFit/>
          </a:bodyPr>
          <a:lstStyle/>
          <a:p>
            <a:pPr algn="l">
              <a:lnSpc>
                <a:spcPct val="115000"/>
              </a:lnSpc>
            </a:pPr>
            <a:r>
              <a:rPr sz="1000" b="0" i="0">
                <a:solidFill>
                  <a:srgbClr val="2C2C2C"/>
                </a:solidFill>
                <a:latin typeface="Courier New"/>
              </a:rPr>
              <a:t>Yes</a:t>
            </a:r>
          </a:p>
        </p:txBody>
      </p:sp>
      <p:sp>
        <p:nvSpPr>
          <p:cNvPr id="48" name="TextBox 47"/>
          <p:cNvSpPr txBox="1"/>
          <p:nvPr/>
        </p:nvSpPr>
        <p:spPr>
          <a:xfrm>
            <a:off x="548640" y="4745736"/>
            <a:ext cx="914400" cy="219456"/>
          </a:xfrm>
          <a:prstGeom prst="rect">
            <a:avLst/>
          </a:prstGeom>
          <a:noFill/>
        </p:spPr>
        <p:txBody>
          <a:bodyPr wrap="square" lIns="0" tIns="18288" rIns="0" bIns="18288" anchor="t">
            <a:spAutoFit/>
          </a:bodyPr>
          <a:lstStyle/>
          <a:p>
            <a:pPr algn="l">
              <a:lnSpc>
                <a:spcPct val="115000"/>
              </a:lnSpc>
            </a:pPr>
            <a:r>
              <a:rPr sz="1000" b="0" i="0">
                <a:solidFill>
                  <a:srgbClr val="2C2C2C"/>
                </a:solidFill>
                <a:latin typeface="Courier New"/>
              </a:rPr>
              <a:t>p2</a:t>
            </a:r>
          </a:p>
        </p:txBody>
      </p:sp>
      <p:sp>
        <p:nvSpPr>
          <p:cNvPr id="49" name="TextBox 48"/>
          <p:cNvSpPr txBox="1"/>
          <p:nvPr/>
        </p:nvSpPr>
        <p:spPr>
          <a:xfrm>
            <a:off x="1463040" y="4745736"/>
            <a:ext cx="1554480" cy="219456"/>
          </a:xfrm>
          <a:prstGeom prst="rect">
            <a:avLst/>
          </a:prstGeom>
          <a:noFill/>
        </p:spPr>
        <p:txBody>
          <a:bodyPr wrap="square" lIns="0" tIns="18288" rIns="0" bIns="18288" anchor="t">
            <a:spAutoFit/>
          </a:bodyPr>
          <a:lstStyle/>
          <a:p>
            <a:pPr algn="l">
              <a:lnSpc>
                <a:spcPct val="115000"/>
              </a:lnSpc>
            </a:pPr>
            <a:r>
              <a:rPr sz="1000" b="0" i="0">
                <a:solidFill>
                  <a:srgbClr val="2C2C2C"/>
                </a:solidFill>
                <a:latin typeface="Courier New"/>
              </a:rPr>
              <a:t>3, 1, 2</a:t>
            </a:r>
          </a:p>
        </p:txBody>
      </p:sp>
      <p:sp>
        <p:nvSpPr>
          <p:cNvPr id="50" name="TextBox 49"/>
          <p:cNvSpPr txBox="1"/>
          <p:nvPr/>
        </p:nvSpPr>
        <p:spPr>
          <a:xfrm>
            <a:off x="3017520" y="4745736"/>
            <a:ext cx="1828800" cy="219456"/>
          </a:xfrm>
          <a:prstGeom prst="rect">
            <a:avLst/>
          </a:prstGeom>
          <a:noFill/>
        </p:spPr>
        <p:txBody>
          <a:bodyPr wrap="square" lIns="0" tIns="18288" rIns="0" bIns="18288" anchor="t">
            <a:spAutoFit/>
          </a:bodyPr>
          <a:lstStyle/>
          <a:p>
            <a:pPr algn="l">
              <a:lnSpc>
                <a:spcPct val="115000"/>
              </a:lnSpc>
            </a:pPr>
            <a:r>
              <a:rPr sz="1000" b="0" i="0">
                <a:solidFill>
                  <a:srgbClr val="2C2C2C"/>
                </a:solidFill>
                <a:latin typeface="Courier New"/>
              </a:rPr>
              <a:t>3</a:t>
            </a:r>
          </a:p>
        </p:txBody>
      </p:sp>
      <p:sp>
        <p:nvSpPr>
          <p:cNvPr id="51" name="TextBox 50"/>
          <p:cNvSpPr txBox="1"/>
          <p:nvPr/>
        </p:nvSpPr>
        <p:spPr>
          <a:xfrm>
            <a:off x="4846320" y="4745736"/>
            <a:ext cx="1645920" cy="219456"/>
          </a:xfrm>
          <a:prstGeom prst="rect">
            <a:avLst/>
          </a:prstGeom>
          <a:noFill/>
        </p:spPr>
        <p:txBody>
          <a:bodyPr wrap="square" lIns="0" tIns="18288" rIns="0" bIns="18288" anchor="t">
            <a:spAutoFit/>
          </a:bodyPr>
          <a:lstStyle/>
          <a:p>
            <a:pPr algn="l">
              <a:lnSpc>
                <a:spcPct val="115000"/>
              </a:lnSpc>
            </a:pPr>
            <a:r>
              <a:rPr sz="1000" b="0" i="0">
                <a:solidFill>
                  <a:srgbClr val="2C2C2C"/>
                </a:solidFill>
                <a:latin typeface="Courier New"/>
              </a:rPr>
              <a:t>1</a:t>
            </a:r>
          </a:p>
        </p:txBody>
      </p:sp>
      <p:sp>
        <p:nvSpPr>
          <p:cNvPr id="52" name="TextBox 51"/>
          <p:cNvSpPr txBox="1"/>
          <p:nvPr/>
        </p:nvSpPr>
        <p:spPr>
          <a:xfrm>
            <a:off x="6492240" y="4745736"/>
            <a:ext cx="1645920" cy="219456"/>
          </a:xfrm>
          <a:prstGeom prst="rect">
            <a:avLst/>
          </a:prstGeom>
          <a:noFill/>
        </p:spPr>
        <p:txBody>
          <a:bodyPr wrap="square" lIns="0" tIns="18288" rIns="0" bIns="18288" anchor="t">
            <a:spAutoFit/>
          </a:bodyPr>
          <a:lstStyle/>
          <a:p>
            <a:pPr algn="l">
              <a:lnSpc>
                <a:spcPct val="115000"/>
              </a:lnSpc>
            </a:pPr>
            <a:r>
              <a:rPr sz="1000" b="1" i="0">
                <a:solidFill>
                  <a:srgbClr val="1A1A1A"/>
                </a:solidFill>
                <a:latin typeface="Courier New"/>
              </a:rPr>
              <a:t>2</a:t>
            </a:r>
          </a:p>
        </p:txBody>
      </p:sp>
      <p:sp>
        <p:nvSpPr>
          <p:cNvPr id="53" name="TextBox 52"/>
          <p:cNvSpPr txBox="1"/>
          <p:nvPr/>
        </p:nvSpPr>
        <p:spPr>
          <a:xfrm>
            <a:off x="8138160" y="4745736"/>
            <a:ext cx="1828800" cy="219456"/>
          </a:xfrm>
          <a:prstGeom prst="rect">
            <a:avLst/>
          </a:prstGeom>
          <a:noFill/>
        </p:spPr>
        <p:txBody>
          <a:bodyPr wrap="square" lIns="0" tIns="18288" rIns="0" bIns="18288" anchor="t">
            <a:spAutoFit/>
          </a:bodyPr>
          <a:lstStyle/>
          <a:p>
            <a:pPr algn="l">
              <a:lnSpc>
                <a:spcPct val="115000"/>
              </a:lnSpc>
            </a:pPr>
            <a:r>
              <a:rPr sz="1000" b="0" i="0">
                <a:solidFill>
                  <a:srgbClr val="2C2C2C"/>
                </a:solidFill>
                <a:latin typeface="Courier New"/>
              </a:rPr>
              <a:t>Yes</a:t>
            </a:r>
          </a:p>
        </p:txBody>
      </p:sp>
      <p:sp>
        <p:nvSpPr>
          <p:cNvPr id="54" name="TextBox 53"/>
          <p:cNvSpPr txBox="1"/>
          <p:nvPr/>
        </p:nvSpPr>
        <p:spPr>
          <a:xfrm>
            <a:off x="548640" y="4965192"/>
            <a:ext cx="914400" cy="219456"/>
          </a:xfrm>
          <a:prstGeom prst="rect">
            <a:avLst/>
          </a:prstGeom>
          <a:noFill/>
        </p:spPr>
        <p:txBody>
          <a:bodyPr wrap="square" lIns="0" tIns="18288" rIns="0" bIns="18288" anchor="t">
            <a:spAutoFit/>
          </a:bodyPr>
          <a:lstStyle/>
          <a:p>
            <a:pPr algn="l">
              <a:lnSpc>
                <a:spcPct val="115000"/>
              </a:lnSpc>
            </a:pPr>
            <a:r>
              <a:rPr sz="1000" b="0" i="0">
                <a:solidFill>
                  <a:srgbClr val="2C2C2C"/>
                </a:solidFill>
                <a:latin typeface="Courier New"/>
              </a:rPr>
              <a:t>p3</a:t>
            </a:r>
          </a:p>
        </p:txBody>
      </p:sp>
      <p:sp>
        <p:nvSpPr>
          <p:cNvPr id="55" name="TextBox 54"/>
          <p:cNvSpPr txBox="1"/>
          <p:nvPr/>
        </p:nvSpPr>
        <p:spPr>
          <a:xfrm>
            <a:off x="1463040" y="4965192"/>
            <a:ext cx="1554480" cy="219456"/>
          </a:xfrm>
          <a:prstGeom prst="rect">
            <a:avLst/>
          </a:prstGeom>
          <a:noFill/>
        </p:spPr>
        <p:txBody>
          <a:bodyPr wrap="square" lIns="0" tIns="18288" rIns="0" bIns="18288" anchor="t">
            <a:spAutoFit/>
          </a:bodyPr>
          <a:lstStyle/>
          <a:p>
            <a:pPr algn="l">
              <a:lnSpc>
                <a:spcPct val="115000"/>
              </a:lnSpc>
            </a:pPr>
            <a:r>
              <a:rPr sz="1000" b="0" i="0">
                <a:solidFill>
                  <a:srgbClr val="2C2C2C"/>
                </a:solidFill>
                <a:latin typeface="Courier New"/>
              </a:rPr>
              <a:t>1, 2, 8</a:t>
            </a:r>
          </a:p>
        </p:txBody>
      </p:sp>
      <p:sp>
        <p:nvSpPr>
          <p:cNvPr id="56" name="TextBox 55"/>
          <p:cNvSpPr txBox="1"/>
          <p:nvPr/>
        </p:nvSpPr>
        <p:spPr>
          <a:xfrm>
            <a:off x="3017520" y="4965192"/>
            <a:ext cx="1828800" cy="219456"/>
          </a:xfrm>
          <a:prstGeom prst="rect">
            <a:avLst/>
          </a:prstGeom>
          <a:noFill/>
        </p:spPr>
        <p:txBody>
          <a:bodyPr wrap="square" lIns="0" tIns="18288" rIns="0" bIns="18288" anchor="t">
            <a:spAutoFit/>
          </a:bodyPr>
          <a:lstStyle/>
          <a:p>
            <a:pPr algn="l">
              <a:lnSpc>
                <a:spcPct val="115000"/>
              </a:lnSpc>
            </a:pPr>
            <a:r>
              <a:rPr sz="1000" b="0" i="0">
                <a:solidFill>
                  <a:srgbClr val="2C2C2C"/>
                </a:solidFill>
                <a:latin typeface="Courier New"/>
              </a:rPr>
              <a:t>8</a:t>
            </a:r>
          </a:p>
        </p:txBody>
      </p:sp>
      <p:sp>
        <p:nvSpPr>
          <p:cNvPr id="57" name="TextBox 56"/>
          <p:cNvSpPr txBox="1"/>
          <p:nvPr/>
        </p:nvSpPr>
        <p:spPr>
          <a:xfrm>
            <a:off x="4846320" y="4965192"/>
            <a:ext cx="1645920" cy="219456"/>
          </a:xfrm>
          <a:prstGeom prst="rect">
            <a:avLst/>
          </a:prstGeom>
          <a:noFill/>
        </p:spPr>
        <p:txBody>
          <a:bodyPr wrap="square" lIns="0" tIns="18288" rIns="0" bIns="18288" anchor="t">
            <a:spAutoFit/>
          </a:bodyPr>
          <a:lstStyle/>
          <a:p>
            <a:pPr algn="l">
              <a:lnSpc>
                <a:spcPct val="115000"/>
              </a:lnSpc>
            </a:pPr>
            <a:r>
              <a:rPr sz="1000" b="0" i="0">
                <a:solidFill>
                  <a:srgbClr val="2C2C2C"/>
                </a:solidFill>
                <a:latin typeface="Courier New"/>
              </a:rPr>
              <a:t>1</a:t>
            </a:r>
          </a:p>
        </p:txBody>
      </p:sp>
      <p:sp>
        <p:nvSpPr>
          <p:cNvPr id="58" name="TextBox 57"/>
          <p:cNvSpPr txBox="1"/>
          <p:nvPr/>
        </p:nvSpPr>
        <p:spPr>
          <a:xfrm>
            <a:off x="6492240" y="4965192"/>
            <a:ext cx="1645920" cy="219456"/>
          </a:xfrm>
          <a:prstGeom prst="rect">
            <a:avLst/>
          </a:prstGeom>
          <a:noFill/>
        </p:spPr>
        <p:txBody>
          <a:bodyPr wrap="square" lIns="0" tIns="18288" rIns="0" bIns="18288" anchor="t">
            <a:spAutoFit/>
          </a:bodyPr>
          <a:lstStyle/>
          <a:p>
            <a:pPr algn="l">
              <a:lnSpc>
                <a:spcPct val="115000"/>
              </a:lnSpc>
            </a:pPr>
            <a:r>
              <a:rPr sz="1000" b="1" i="0">
                <a:solidFill>
                  <a:srgbClr val="1A1A1A"/>
                </a:solidFill>
                <a:latin typeface="Courier New"/>
              </a:rPr>
              <a:t>7</a:t>
            </a:r>
          </a:p>
        </p:txBody>
      </p:sp>
      <p:sp>
        <p:nvSpPr>
          <p:cNvPr id="59" name="TextBox 58"/>
          <p:cNvSpPr txBox="1"/>
          <p:nvPr/>
        </p:nvSpPr>
        <p:spPr>
          <a:xfrm>
            <a:off x="8138160" y="4965192"/>
            <a:ext cx="1828800" cy="219456"/>
          </a:xfrm>
          <a:prstGeom prst="rect">
            <a:avLst/>
          </a:prstGeom>
          <a:noFill/>
        </p:spPr>
        <p:txBody>
          <a:bodyPr wrap="square" lIns="0" tIns="18288" rIns="0" bIns="18288" anchor="t">
            <a:spAutoFit/>
          </a:bodyPr>
          <a:lstStyle/>
          <a:p>
            <a:pPr algn="l">
              <a:lnSpc>
                <a:spcPct val="115000"/>
              </a:lnSpc>
            </a:pPr>
            <a:r>
              <a:rPr sz="1000" b="0" i="0">
                <a:solidFill>
                  <a:srgbClr val="2C2C2C"/>
                </a:solidFill>
                <a:latin typeface="Courier New"/>
              </a:rPr>
              <a:t>—</a:t>
            </a:r>
          </a:p>
        </p:txBody>
      </p:sp>
      <p:sp>
        <p:nvSpPr>
          <p:cNvPr id="60" name="Rectangle 59"/>
          <p:cNvSpPr/>
          <p:nvPr/>
        </p:nvSpPr>
        <p:spPr>
          <a:xfrm>
            <a:off x="502920" y="5166360"/>
            <a:ext cx="11155680" cy="237744"/>
          </a:xfrm>
          <a:prstGeom prst="rect">
            <a:avLst/>
          </a:prstGeom>
          <a:solidFill>
            <a:srgbClr val="FAEC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548640" y="5184648"/>
            <a:ext cx="914400" cy="219456"/>
          </a:xfrm>
          <a:prstGeom prst="rect">
            <a:avLst/>
          </a:prstGeom>
          <a:noFill/>
        </p:spPr>
        <p:txBody>
          <a:bodyPr wrap="square" lIns="0" tIns="18288" rIns="0" bIns="18288" anchor="t">
            <a:spAutoFit/>
          </a:bodyPr>
          <a:lstStyle/>
          <a:p>
            <a:pPr algn="l">
              <a:lnSpc>
                <a:spcPct val="115000"/>
              </a:lnSpc>
            </a:pPr>
            <a:r>
              <a:rPr sz="1000" b="0" i="0">
                <a:solidFill>
                  <a:srgbClr val="2C2C2C"/>
                </a:solidFill>
                <a:latin typeface="Courier New"/>
              </a:rPr>
              <a:t>p4</a:t>
            </a:r>
          </a:p>
        </p:txBody>
      </p:sp>
      <p:sp>
        <p:nvSpPr>
          <p:cNvPr id="62" name="TextBox 61"/>
          <p:cNvSpPr txBox="1"/>
          <p:nvPr/>
        </p:nvSpPr>
        <p:spPr>
          <a:xfrm>
            <a:off x="1463040" y="5184648"/>
            <a:ext cx="1554480" cy="219456"/>
          </a:xfrm>
          <a:prstGeom prst="rect">
            <a:avLst/>
          </a:prstGeom>
          <a:noFill/>
        </p:spPr>
        <p:txBody>
          <a:bodyPr wrap="square" lIns="0" tIns="18288" rIns="0" bIns="18288" anchor="t">
            <a:spAutoFit/>
          </a:bodyPr>
          <a:lstStyle/>
          <a:p>
            <a:pPr algn="l">
              <a:lnSpc>
                <a:spcPct val="115000"/>
              </a:lnSpc>
            </a:pPr>
            <a:r>
              <a:rPr sz="1000" b="0" i="0">
                <a:solidFill>
                  <a:srgbClr val="2C2C2C"/>
                </a:solidFill>
                <a:latin typeface="Courier New"/>
              </a:rPr>
              <a:t>2, 8, 2</a:t>
            </a:r>
          </a:p>
        </p:txBody>
      </p:sp>
      <p:sp>
        <p:nvSpPr>
          <p:cNvPr id="63" name="TextBox 62"/>
          <p:cNvSpPr txBox="1"/>
          <p:nvPr/>
        </p:nvSpPr>
        <p:spPr>
          <a:xfrm>
            <a:off x="3017520" y="5184648"/>
            <a:ext cx="1828800" cy="219456"/>
          </a:xfrm>
          <a:prstGeom prst="rect">
            <a:avLst/>
          </a:prstGeom>
          <a:noFill/>
        </p:spPr>
        <p:txBody>
          <a:bodyPr wrap="square" lIns="0" tIns="18288" rIns="0" bIns="18288" anchor="t">
            <a:spAutoFit/>
          </a:bodyPr>
          <a:lstStyle/>
          <a:p>
            <a:pPr algn="l">
              <a:lnSpc>
                <a:spcPct val="115000"/>
              </a:lnSpc>
            </a:pPr>
            <a:r>
              <a:rPr sz="1000" b="0" i="0">
                <a:solidFill>
                  <a:srgbClr val="2C2C2C"/>
                </a:solidFill>
                <a:latin typeface="Courier New"/>
              </a:rPr>
              <a:t>8</a:t>
            </a:r>
          </a:p>
        </p:txBody>
      </p:sp>
      <p:sp>
        <p:nvSpPr>
          <p:cNvPr id="64" name="TextBox 63"/>
          <p:cNvSpPr txBox="1"/>
          <p:nvPr/>
        </p:nvSpPr>
        <p:spPr>
          <a:xfrm>
            <a:off x="4846320" y="5184648"/>
            <a:ext cx="1645920" cy="219456"/>
          </a:xfrm>
          <a:prstGeom prst="rect">
            <a:avLst/>
          </a:prstGeom>
          <a:noFill/>
        </p:spPr>
        <p:txBody>
          <a:bodyPr wrap="square" lIns="0" tIns="18288" rIns="0" bIns="18288" anchor="t">
            <a:spAutoFit/>
          </a:bodyPr>
          <a:lstStyle/>
          <a:p>
            <a:pPr algn="l">
              <a:lnSpc>
                <a:spcPct val="115000"/>
              </a:lnSpc>
            </a:pPr>
            <a:r>
              <a:rPr sz="1000" b="0" i="0">
                <a:solidFill>
                  <a:srgbClr val="2C2C2C"/>
                </a:solidFill>
                <a:latin typeface="Courier New"/>
              </a:rPr>
              <a:t>2</a:t>
            </a:r>
          </a:p>
        </p:txBody>
      </p:sp>
      <p:sp>
        <p:nvSpPr>
          <p:cNvPr id="65" name="TextBox 64"/>
          <p:cNvSpPr txBox="1"/>
          <p:nvPr/>
        </p:nvSpPr>
        <p:spPr>
          <a:xfrm>
            <a:off x="6492240" y="5184648"/>
            <a:ext cx="1645920" cy="219456"/>
          </a:xfrm>
          <a:prstGeom prst="rect">
            <a:avLst/>
          </a:prstGeom>
          <a:noFill/>
        </p:spPr>
        <p:txBody>
          <a:bodyPr wrap="square" lIns="0" tIns="18288" rIns="0" bIns="18288" anchor="t">
            <a:spAutoFit/>
          </a:bodyPr>
          <a:lstStyle/>
          <a:p>
            <a:pPr algn="l">
              <a:lnSpc>
                <a:spcPct val="115000"/>
              </a:lnSpc>
            </a:pPr>
            <a:r>
              <a:rPr sz="1000" b="1" i="0">
                <a:solidFill>
                  <a:srgbClr val="1A1A1A"/>
                </a:solidFill>
                <a:latin typeface="Courier New"/>
              </a:rPr>
              <a:t>6</a:t>
            </a:r>
          </a:p>
        </p:txBody>
      </p:sp>
      <p:sp>
        <p:nvSpPr>
          <p:cNvPr id="66" name="TextBox 65"/>
          <p:cNvSpPr txBox="1"/>
          <p:nvPr/>
        </p:nvSpPr>
        <p:spPr>
          <a:xfrm>
            <a:off x="8138160" y="5184648"/>
            <a:ext cx="1828800" cy="219456"/>
          </a:xfrm>
          <a:prstGeom prst="rect">
            <a:avLst/>
          </a:prstGeom>
          <a:noFill/>
        </p:spPr>
        <p:txBody>
          <a:bodyPr wrap="square" lIns="0" tIns="18288" rIns="0" bIns="18288" anchor="t">
            <a:spAutoFit/>
          </a:bodyPr>
          <a:lstStyle/>
          <a:p>
            <a:pPr algn="l">
              <a:lnSpc>
                <a:spcPct val="115000"/>
              </a:lnSpc>
            </a:pPr>
            <a:r>
              <a:rPr sz="1000" b="0" i="0">
                <a:solidFill>
                  <a:srgbClr val="2C2C2C"/>
                </a:solidFill>
                <a:latin typeface="Courier New"/>
              </a:rPr>
              <a:t>Yes</a:t>
            </a:r>
          </a:p>
        </p:txBody>
      </p:sp>
      <p:sp>
        <p:nvSpPr>
          <p:cNvPr id="67" name="TextBox 66"/>
          <p:cNvSpPr txBox="1"/>
          <p:nvPr/>
        </p:nvSpPr>
        <p:spPr>
          <a:xfrm>
            <a:off x="548640" y="5404104"/>
            <a:ext cx="914400" cy="219456"/>
          </a:xfrm>
          <a:prstGeom prst="rect">
            <a:avLst/>
          </a:prstGeom>
          <a:noFill/>
        </p:spPr>
        <p:txBody>
          <a:bodyPr wrap="square" lIns="0" tIns="18288" rIns="0" bIns="18288" anchor="t">
            <a:spAutoFit/>
          </a:bodyPr>
          <a:lstStyle/>
          <a:p>
            <a:pPr algn="l">
              <a:lnSpc>
                <a:spcPct val="115000"/>
              </a:lnSpc>
            </a:pPr>
            <a:r>
              <a:rPr sz="1000" b="0" i="0">
                <a:solidFill>
                  <a:srgbClr val="2C2C2C"/>
                </a:solidFill>
                <a:latin typeface="Courier New"/>
              </a:rPr>
              <a:t>p5</a:t>
            </a:r>
          </a:p>
        </p:txBody>
      </p:sp>
      <p:sp>
        <p:nvSpPr>
          <p:cNvPr id="68" name="TextBox 67"/>
          <p:cNvSpPr txBox="1"/>
          <p:nvPr/>
        </p:nvSpPr>
        <p:spPr>
          <a:xfrm>
            <a:off x="1463040" y="5404104"/>
            <a:ext cx="1554480" cy="219456"/>
          </a:xfrm>
          <a:prstGeom prst="rect">
            <a:avLst/>
          </a:prstGeom>
          <a:noFill/>
        </p:spPr>
        <p:txBody>
          <a:bodyPr wrap="square" lIns="0" tIns="18288" rIns="0" bIns="18288" anchor="t">
            <a:spAutoFit/>
          </a:bodyPr>
          <a:lstStyle/>
          <a:p>
            <a:pPr algn="l">
              <a:lnSpc>
                <a:spcPct val="115000"/>
              </a:lnSpc>
            </a:pPr>
            <a:r>
              <a:rPr sz="1000" b="0" i="0">
                <a:solidFill>
                  <a:srgbClr val="2C2C2C"/>
                </a:solidFill>
                <a:latin typeface="Courier New"/>
              </a:rPr>
              <a:t>8, 2, 1</a:t>
            </a:r>
          </a:p>
        </p:txBody>
      </p:sp>
      <p:sp>
        <p:nvSpPr>
          <p:cNvPr id="69" name="TextBox 68"/>
          <p:cNvSpPr txBox="1"/>
          <p:nvPr/>
        </p:nvSpPr>
        <p:spPr>
          <a:xfrm>
            <a:off x="3017520" y="5404104"/>
            <a:ext cx="1828800" cy="219456"/>
          </a:xfrm>
          <a:prstGeom prst="rect">
            <a:avLst/>
          </a:prstGeom>
          <a:noFill/>
        </p:spPr>
        <p:txBody>
          <a:bodyPr wrap="square" lIns="0" tIns="18288" rIns="0" bIns="18288" anchor="t">
            <a:spAutoFit/>
          </a:bodyPr>
          <a:lstStyle/>
          <a:p>
            <a:pPr algn="l">
              <a:lnSpc>
                <a:spcPct val="115000"/>
              </a:lnSpc>
            </a:pPr>
            <a:r>
              <a:rPr sz="1000" b="0" i="0">
                <a:solidFill>
                  <a:srgbClr val="2C2C2C"/>
                </a:solidFill>
                <a:latin typeface="Courier New"/>
              </a:rPr>
              <a:t>8</a:t>
            </a:r>
          </a:p>
        </p:txBody>
      </p:sp>
      <p:sp>
        <p:nvSpPr>
          <p:cNvPr id="70" name="TextBox 69"/>
          <p:cNvSpPr txBox="1"/>
          <p:nvPr/>
        </p:nvSpPr>
        <p:spPr>
          <a:xfrm>
            <a:off x="4846320" y="5404104"/>
            <a:ext cx="1645920" cy="219456"/>
          </a:xfrm>
          <a:prstGeom prst="rect">
            <a:avLst/>
          </a:prstGeom>
          <a:noFill/>
        </p:spPr>
        <p:txBody>
          <a:bodyPr wrap="square" lIns="0" tIns="18288" rIns="0" bIns="18288" anchor="t">
            <a:spAutoFit/>
          </a:bodyPr>
          <a:lstStyle/>
          <a:p>
            <a:pPr algn="l">
              <a:lnSpc>
                <a:spcPct val="115000"/>
              </a:lnSpc>
            </a:pPr>
            <a:r>
              <a:rPr sz="1000" b="0" i="0">
                <a:solidFill>
                  <a:srgbClr val="2C2C2C"/>
                </a:solidFill>
                <a:latin typeface="Courier New"/>
              </a:rPr>
              <a:t>1</a:t>
            </a:r>
          </a:p>
        </p:txBody>
      </p:sp>
      <p:sp>
        <p:nvSpPr>
          <p:cNvPr id="71" name="TextBox 70"/>
          <p:cNvSpPr txBox="1"/>
          <p:nvPr/>
        </p:nvSpPr>
        <p:spPr>
          <a:xfrm>
            <a:off x="6492240" y="5404104"/>
            <a:ext cx="1645920" cy="219456"/>
          </a:xfrm>
          <a:prstGeom prst="rect">
            <a:avLst/>
          </a:prstGeom>
          <a:noFill/>
        </p:spPr>
        <p:txBody>
          <a:bodyPr wrap="square" lIns="0" tIns="18288" rIns="0" bIns="18288" anchor="t">
            <a:spAutoFit/>
          </a:bodyPr>
          <a:lstStyle/>
          <a:p>
            <a:pPr algn="l">
              <a:lnSpc>
                <a:spcPct val="115000"/>
              </a:lnSpc>
            </a:pPr>
            <a:r>
              <a:rPr sz="1000" b="1" i="0">
                <a:solidFill>
                  <a:srgbClr val="1A1A1A"/>
                </a:solidFill>
                <a:latin typeface="Courier New"/>
              </a:rPr>
              <a:t>7</a:t>
            </a:r>
          </a:p>
        </p:txBody>
      </p:sp>
      <p:sp>
        <p:nvSpPr>
          <p:cNvPr id="72" name="TextBox 71"/>
          <p:cNvSpPr txBox="1"/>
          <p:nvPr/>
        </p:nvSpPr>
        <p:spPr>
          <a:xfrm>
            <a:off x="8138160" y="5404104"/>
            <a:ext cx="1828800" cy="219456"/>
          </a:xfrm>
          <a:prstGeom prst="rect">
            <a:avLst/>
          </a:prstGeom>
          <a:noFill/>
        </p:spPr>
        <p:txBody>
          <a:bodyPr wrap="square" lIns="0" tIns="18288" rIns="0" bIns="18288" anchor="t">
            <a:spAutoFit/>
          </a:bodyPr>
          <a:lstStyle/>
          <a:p>
            <a:pPr algn="l">
              <a:lnSpc>
                <a:spcPct val="115000"/>
              </a:lnSpc>
            </a:pPr>
            <a:r>
              <a:rPr sz="1000" b="0" i="0">
                <a:solidFill>
                  <a:srgbClr val="2C2C2C"/>
                </a:solidFill>
                <a:latin typeface="Courier New"/>
              </a:rPr>
              <a:t>—</a:t>
            </a:r>
          </a:p>
        </p:txBody>
      </p:sp>
      <p:sp>
        <p:nvSpPr>
          <p:cNvPr id="73" name="TextBox 72"/>
          <p:cNvSpPr txBox="1"/>
          <p:nvPr/>
        </p:nvSpPr>
        <p:spPr>
          <a:xfrm>
            <a:off x="548640" y="5623560"/>
            <a:ext cx="914400" cy="219456"/>
          </a:xfrm>
          <a:prstGeom prst="rect">
            <a:avLst/>
          </a:prstGeom>
          <a:noFill/>
        </p:spPr>
        <p:txBody>
          <a:bodyPr wrap="square" lIns="0" tIns="18288" rIns="0" bIns="18288" anchor="t">
            <a:spAutoFit/>
          </a:bodyPr>
          <a:lstStyle/>
          <a:p>
            <a:pPr algn="l">
              <a:lnSpc>
                <a:spcPct val="115000"/>
              </a:lnSpc>
            </a:pPr>
            <a:r>
              <a:rPr sz="1000" b="0" i="0">
                <a:solidFill>
                  <a:srgbClr val="2C2C2C"/>
                </a:solidFill>
                <a:latin typeface="Courier New"/>
              </a:rPr>
              <a:t>p6</a:t>
            </a:r>
          </a:p>
        </p:txBody>
      </p:sp>
      <p:sp>
        <p:nvSpPr>
          <p:cNvPr id="74" name="TextBox 73"/>
          <p:cNvSpPr txBox="1"/>
          <p:nvPr/>
        </p:nvSpPr>
        <p:spPr>
          <a:xfrm>
            <a:off x="1463040" y="5623560"/>
            <a:ext cx="1554480" cy="219456"/>
          </a:xfrm>
          <a:prstGeom prst="rect">
            <a:avLst/>
          </a:prstGeom>
          <a:noFill/>
        </p:spPr>
        <p:txBody>
          <a:bodyPr wrap="square" lIns="0" tIns="18288" rIns="0" bIns="18288" anchor="t">
            <a:spAutoFit/>
          </a:bodyPr>
          <a:lstStyle/>
          <a:p>
            <a:pPr algn="l">
              <a:lnSpc>
                <a:spcPct val="115000"/>
              </a:lnSpc>
            </a:pPr>
            <a:r>
              <a:rPr sz="1000" b="0" i="0">
                <a:solidFill>
                  <a:srgbClr val="2C2C2C"/>
                </a:solidFill>
                <a:latin typeface="Courier New"/>
              </a:rPr>
              <a:t>2, 1, 3</a:t>
            </a:r>
          </a:p>
        </p:txBody>
      </p:sp>
      <p:sp>
        <p:nvSpPr>
          <p:cNvPr id="75" name="TextBox 74"/>
          <p:cNvSpPr txBox="1"/>
          <p:nvPr/>
        </p:nvSpPr>
        <p:spPr>
          <a:xfrm>
            <a:off x="3017520" y="5623560"/>
            <a:ext cx="1828800" cy="219456"/>
          </a:xfrm>
          <a:prstGeom prst="rect">
            <a:avLst/>
          </a:prstGeom>
          <a:noFill/>
        </p:spPr>
        <p:txBody>
          <a:bodyPr wrap="square" lIns="0" tIns="18288" rIns="0" bIns="18288" anchor="t">
            <a:spAutoFit/>
          </a:bodyPr>
          <a:lstStyle/>
          <a:p>
            <a:pPr algn="l">
              <a:lnSpc>
                <a:spcPct val="115000"/>
              </a:lnSpc>
            </a:pPr>
            <a:r>
              <a:rPr sz="1000" b="0" i="0">
                <a:solidFill>
                  <a:srgbClr val="2C2C2C"/>
                </a:solidFill>
                <a:latin typeface="Courier New"/>
              </a:rPr>
              <a:t>3</a:t>
            </a:r>
          </a:p>
        </p:txBody>
      </p:sp>
      <p:sp>
        <p:nvSpPr>
          <p:cNvPr id="76" name="TextBox 75"/>
          <p:cNvSpPr txBox="1"/>
          <p:nvPr/>
        </p:nvSpPr>
        <p:spPr>
          <a:xfrm>
            <a:off x="4846320" y="5623560"/>
            <a:ext cx="1645920" cy="219456"/>
          </a:xfrm>
          <a:prstGeom prst="rect">
            <a:avLst/>
          </a:prstGeom>
          <a:noFill/>
        </p:spPr>
        <p:txBody>
          <a:bodyPr wrap="square" lIns="0" tIns="18288" rIns="0" bIns="18288" anchor="t">
            <a:spAutoFit/>
          </a:bodyPr>
          <a:lstStyle/>
          <a:p>
            <a:pPr algn="l">
              <a:lnSpc>
                <a:spcPct val="115000"/>
              </a:lnSpc>
            </a:pPr>
            <a:r>
              <a:rPr sz="1000" b="0" i="0">
                <a:solidFill>
                  <a:srgbClr val="2C2C2C"/>
                </a:solidFill>
                <a:latin typeface="Courier New"/>
              </a:rPr>
              <a:t>1</a:t>
            </a:r>
          </a:p>
        </p:txBody>
      </p:sp>
      <p:sp>
        <p:nvSpPr>
          <p:cNvPr id="77" name="TextBox 76"/>
          <p:cNvSpPr txBox="1"/>
          <p:nvPr/>
        </p:nvSpPr>
        <p:spPr>
          <a:xfrm>
            <a:off x="6492240" y="5623560"/>
            <a:ext cx="1645920" cy="219456"/>
          </a:xfrm>
          <a:prstGeom prst="rect">
            <a:avLst/>
          </a:prstGeom>
          <a:noFill/>
        </p:spPr>
        <p:txBody>
          <a:bodyPr wrap="square" lIns="0" tIns="18288" rIns="0" bIns="18288" anchor="t">
            <a:spAutoFit/>
          </a:bodyPr>
          <a:lstStyle/>
          <a:p>
            <a:pPr algn="l">
              <a:lnSpc>
                <a:spcPct val="115000"/>
              </a:lnSpc>
            </a:pPr>
            <a:r>
              <a:rPr sz="1000" b="1" i="0">
                <a:solidFill>
                  <a:srgbClr val="1A1A1A"/>
                </a:solidFill>
                <a:latin typeface="Courier New"/>
              </a:rPr>
              <a:t>2</a:t>
            </a:r>
          </a:p>
        </p:txBody>
      </p:sp>
      <p:sp>
        <p:nvSpPr>
          <p:cNvPr id="78" name="TextBox 77"/>
          <p:cNvSpPr txBox="1"/>
          <p:nvPr/>
        </p:nvSpPr>
        <p:spPr>
          <a:xfrm>
            <a:off x="8138160" y="5623560"/>
            <a:ext cx="1828800" cy="219456"/>
          </a:xfrm>
          <a:prstGeom prst="rect">
            <a:avLst/>
          </a:prstGeom>
          <a:noFill/>
        </p:spPr>
        <p:txBody>
          <a:bodyPr wrap="square" lIns="0" tIns="18288" rIns="0" bIns="18288" anchor="t">
            <a:spAutoFit/>
          </a:bodyPr>
          <a:lstStyle/>
          <a:p>
            <a:pPr algn="l">
              <a:lnSpc>
                <a:spcPct val="115000"/>
              </a:lnSpc>
            </a:pPr>
            <a:r>
              <a:rPr sz="1000" b="0" i="0">
                <a:solidFill>
                  <a:srgbClr val="2C2C2C"/>
                </a:solidFill>
                <a:latin typeface="Courier New"/>
              </a:rPr>
              <a:t>Yes</a:t>
            </a:r>
          </a:p>
        </p:txBody>
      </p:sp>
      <p:sp>
        <p:nvSpPr>
          <p:cNvPr id="79" name="TextBox 78"/>
          <p:cNvSpPr txBox="1"/>
          <p:nvPr/>
        </p:nvSpPr>
        <p:spPr>
          <a:xfrm>
            <a:off x="548640" y="5843016"/>
            <a:ext cx="914400" cy="219456"/>
          </a:xfrm>
          <a:prstGeom prst="rect">
            <a:avLst/>
          </a:prstGeom>
          <a:noFill/>
        </p:spPr>
        <p:txBody>
          <a:bodyPr wrap="square" lIns="0" tIns="18288" rIns="0" bIns="18288" anchor="t">
            <a:spAutoFit/>
          </a:bodyPr>
          <a:lstStyle/>
          <a:p>
            <a:pPr algn="l">
              <a:lnSpc>
                <a:spcPct val="115000"/>
              </a:lnSpc>
            </a:pPr>
            <a:r>
              <a:rPr sz="1000" b="0" i="0">
                <a:solidFill>
                  <a:srgbClr val="2C2C2C"/>
                </a:solidFill>
                <a:latin typeface="Courier New"/>
              </a:rPr>
              <a:t>p7</a:t>
            </a:r>
          </a:p>
        </p:txBody>
      </p:sp>
      <p:sp>
        <p:nvSpPr>
          <p:cNvPr id="80" name="TextBox 79"/>
          <p:cNvSpPr txBox="1"/>
          <p:nvPr/>
        </p:nvSpPr>
        <p:spPr>
          <a:xfrm>
            <a:off x="1463040" y="5843016"/>
            <a:ext cx="1554480" cy="219456"/>
          </a:xfrm>
          <a:prstGeom prst="rect">
            <a:avLst/>
          </a:prstGeom>
          <a:noFill/>
        </p:spPr>
        <p:txBody>
          <a:bodyPr wrap="square" lIns="0" tIns="18288" rIns="0" bIns="18288" anchor="t">
            <a:spAutoFit/>
          </a:bodyPr>
          <a:lstStyle/>
          <a:p>
            <a:pPr algn="l">
              <a:lnSpc>
                <a:spcPct val="115000"/>
              </a:lnSpc>
            </a:pPr>
            <a:r>
              <a:rPr sz="1000" b="0" i="0">
                <a:solidFill>
                  <a:srgbClr val="2C2C2C"/>
                </a:solidFill>
                <a:latin typeface="Courier New"/>
              </a:rPr>
              <a:t>1, 3, 3</a:t>
            </a:r>
          </a:p>
        </p:txBody>
      </p:sp>
      <p:sp>
        <p:nvSpPr>
          <p:cNvPr id="81" name="TextBox 80"/>
          <p:cNvSpPr txBox="1"/>
          <p:nvPr/>
        </p:nvSpPr>
        <p:spPr>
          <a:xfrm>
            <a:off x="3017520" y="5843016"/>
            <a:ext cx="1828800" cy="219456"/>
          </a:xfrm>
          <a:prstGeom prst="rect">
            <a:avLst/>
          </a:prstGeom>
          <a:noFill/>
        </p:spPr>
        <p:txBody>
          <a:bodyPr wrap="square" lIns="0" tIns="18288" rIns="0" bIns="18288" anchor="t">
            <a:spAutoFit/>
          </a:bodyPr>
          <a:lstStyle/>
          <a:p>
            <a:pPr algn="l">
              <a:lnSpc>
                <a:spcPct val="115000"/>
              </a:lnSpc>
            </a:pPr>
            <a:r>
              <a:rPr sz="1000" b="0" i="0">
                <a:solidFill>
                  <a:srgbClr val="2C2C2C"/>
                </a:solidFill>
                <a:latin typeface="Courier New"/>
              </a:rPr>
              <a:t>3</a:t>
            </a:r>
          </a:p>
        </p:txBody>
      </p:sp>
      <p:sp>
        <p:nvSpPr>
          <p:cNvPr id="82" name="TextBox 81"/>
          <p:cNvSpPr txBox="1"/>
          <p:nvPr/>
        </p:nvSpPr>
        <p:spPr>
          <a:xfrm>
            <a:off x="4846320" y="5843016"/>
            <a:ext cx="1645920" cy="219456"/>
          </a:xfrm>
          <a:prstGeom prst="rect">
            <a:avLst/>
          </a:prstGeom>
          <a:noFill/>
        </p:spPr>
        <p:txBody>
          <a:bodyPr wrap="square" lIns="0" tIns="18288" rIns="0" bIns="18288" anchor="t">
            <a:spAutoFit/>
          </a:bodyPr>
          <a:lstStyle/>
          <a:p>
            <a:pPr algn="l">
              <a:lnSpc>
                <a:spcPct val="115000"/>
              </a:lnSpc>
            </a:pPr>
            <a:r>
              <a:rPr sz="1000" b="0" i="0">
                <a:solidFill>
                  <a:srgbClr val="2C2C2C"/>
                </a:solidFill>
                <a:latin typeface="Courier New"/>
              </a:rPr>
              <a:t>1</a:t>
            </a:r>
          </a:p>
        </p:txBody>
      </p:sp>
      <p:sp>
        <p:nvSpPr>
          <p:cNvPr id="83" name="TextBox 82"/>
          <p:cNvSpPr txBox="1"/>
          <p:nvPr/>
        </p:nvSpPr>
        <p:spPr>
          <a:xfrm>
            <a:off x="6492240" y="5843016"/>
            <a:ext cx="1645920" cy="219456"/>
          </a:xfrm>
          <a:prstGeom prst="rect">
            <a:avLst/>
          </a:prstGeom>
          <a:noFill/>
        </p:spPr>
        <p:txBody>
          <a:bodyPr wrap="square" lIns="0" tIns="18288" rIns="0" bIns="18288" anchor="t">
            <a:spAutoFit/>
          </a:bodyPr>
          <a:lstStyle/>
          <a:p>
            <a:pPr algn="l">
              <a:lnSpc>
                <a:spcPct val="115000"/>
              </a:lnSpc>
            </a:pPr>
            <a:r>
              <a:rPr sz="1000" b="1" i="0">
                <a:solidFill>
                  <a:srgbClr val="1A1A1A"/>
                </a:solidFill>
                <a:latin typeface="Courier New"/>
              </a:rPr>
              <a:t>2</a:t>
            </a:r>
          </a:p>
        </p:txBody>
      </p:sp>
      <p:sp>
        <p:nvSpPr>
          <p:cNvPr id="84" name="TextBox 83"/>
          <p:cNvSpPr txBox="1"/>
          <p:nvPr/>
        </p:nvSpPr>
        <p:spPr>
          <a:xfrm>
            <a:off x="8138160" y="5843016"/>
            <a:ext cx="1828800" cy="219456"/>
          </a:xfrm>
          <a:prstGeom prst="rect">
            <a:avLst/>
          </a:prstGeom>
          <a:noFill/>
        </p:spPr>
        <p:txBody>
          <a:bodyPr wrap="square" lIns="0" tIns="18288" rIns="0" bIns="18288" anchor="t">
            <a:spAutoFit/>
          </a:bodyPr>
          <a:lstStyle/>
          <a:p>
            <a:pPr algn="l">
              <a:lnSpc>
                <a:spcPct val="115000"/>
              </a:lnSpc>
            </a:pPr>
            <a:r>
              <a:rPr sz="1000" b="0" i="0">
                <a:solidFill>
                  <a:srgbClr val="2C2C2C"/>
                </a:solidFill>
                <a:latin typeface="Courier New"/>
              </a:rPr>
              <a:t>Yes</a:t>
            </a:r>
          </a:p>
        </p:txBody>
      </p:sp>
      <p:cxnSp>
        <p:nvCxnSpPr>
          <p:cNvPr id="85" name="Connector 84"/>
          <p:cNvCxnSpPr/>
          <p:nvPr/>
        </p:nvCxnSpPr>
        <p:spPr>
          <a:xfrm>
            <a:off x="502920" y="6126480"/>
            <a:ext cx="11137392" cy="0"/>
          </a:xfrm>
          <a:prstGeom prst="line">
            <a:avLst/>
          </a:prstGeom>
          <a:ln w="6350">
            <a:solidFill>
              <a:srgbClr val="D4D1CA"/>
            </a:solidFill>
          </a:ln>
        </p:spPr>
        <p:style>
          <a:lnRef idx="2">
            <a:schemeClr val="accent1"/>
          </a:lnRef>
          <a:fillRef idx="0">
            <a:schemeClr val="accent1"/>
          </a:fillRef>
          <a:effectRef idx="1">
            <a:schemeClr val="accent1"/>
          </a:effectRef>
          <a:fontRef idx="minor">
            <a:schemeClr val="tx1"/>
          </a:fontRef>
        </p:style>
      </p:cxnSp>
      <p:sp>
        <p:nvSpPr>
          <p:cNvPr id="86" name="TextBox 85"/>
          <p:cNvSpPr txBox="1"/>
          <p:nvPr/>
        </p:nvSpPr>
        <p:spPr>
          <a:xfrm>
            <a:off x="548640" y="6172200"/>
            <a:ext cx="5943600" cy="274320"/>
          </a:xfrm>
          <a:prstGeom prst="rect">
            <a:avLst/>
          </a:prstGeom>
          <a:noFill/>
        </p:spPr>
        <p:txBody>
          <a:bodyPr wrap="square" lIns="0" tIns="18288" rIns="0" bIns="18288" anchor="t">
            <a:spAutoFit/>
          </a:bodyPr>
          <a:lstStyle/>
          <a:p>
            <a:pPr algn="l">
              <a:lnSpc>
                <a:spcPct val="115000"/>
              </a:lnSpc>
            </a:pPr>
            <a:r>
              <a:rPr sz="1100" b="0" i="0">
                <a:solidFill>
                  <a:srgbClr val="1F5FA8"/>
                </a:solidFill>
                <a:latin typeface="Courier New"/>
              </a:rPr>
              <a:t>g  =  [ 2, 2, 7, 6, 7, 2, 2 ]</a:t>
            </a:r>
          </a:p>
        </p:txBody>
      </p:sp>
      <p:sp>
        <p:nvSpPr>
          <p:cNvPr id="87" name="TextBox 86"/>
          <p:cNvSpPr txBox="1"/>
          <p:nvPr/>
        </p:nvSpPr>
        <p:spPr>
          <a:xfrm>
            <a:off x="6400800" y="6190488"/>
            <a:ext cx="5303520" cy="274320"/>
          </a:xfrm>
          <a:prstGeom prst="rect">
            <a:avLst/>
          </a:prstGeom>
          <a:noFill/>
        </p:spPr>
        <p:txBody>
          <a:bodyPr wrap="square" lIns="0" tIns="18288" rIns="0" bIns="18288" anchor="t">
            <a:spAutoFit/>
          </a:bodyPr>
          <a:lstStyle/>
          <a:p>
            <a:pPr algn="l">
              <a:lnSpc>
                <a:spcPct val="115000"/>
              </a:lnSpc>
            </a:pPr>
            <a:r>
              <a:rPr sz="900" b="0" i="1">
                <a:solidFill>
                  <a:srgbClr val="6E6E6E"/>
                </a:solidFill>
                <a:latin typeface="Calibri"/>
              </a:rPr>
              <a:t>p4 is a minimum in g — gradient measures spread, not height.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A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7315200" cy="208134"/>
          </a:xfrm>
          <a:prstGeom prst="rect">
            <a:avLst/>
          </a:prstGeom>
          <a:noFill/>
        </p:spPr>
        <p:txBody>
          <a:bodyPr wrap="square" lIns="0" tIns="18288" rIns="0" bIns="18288" anchor="t">
            <a:spAutoFit/>
          </a:bodyPr>
          <a:lstStyle/>
          <a:p>
            <a:pPr algn="l">
              <a:lnSpc>
                <a:spcPct val="115000"/>
              </a:lnSpc>
            </a:pPr>
            <a:r>
              <a:rPr sz="1000" b="0" i="0" spc="50" dirty="0">
                <a:solidFill>
                  <a:srgbClr val="6E6E6E"/>
                </a:solidFill>
                <a:latin typeface="Courier New"/>
              </a:rPr>
              <a:t>Worked Example  ·  Flood + Result</a:t>
            </a:r>
          </a:p>
        </p:txBody>
      </p:sp>
      <p:sp>
        <p:nvSpPr>
          <p:cNvPr id="5" name="TextBox 4"/>
          <p:cNvSpPr txBox="1"/>
          <p:nvPr/>
        </p:nvSpPr>
        <p:spPr>
          <a:xfrm>
            <a:off x="548640" y="6400800"/>
            <a:ext cx="7315200" cy="274320"/>
          </a:xfrm>
          <a:prstGeom prst="rect">
            <a:avLst/>
          </a:prstGeom>
          <a:noFill/>
        </p:spPr>
        <p:txBody>
          <a:bodyPr wrap="square" lIns="0" tIns="18288" rIns="0" bIns="18288" anchor="t">
            <a:spAutoFit/>
          </a:bodyPr>
          <a:lstStyle/>
          <a:p>
            <a:pPr algn="l">
              <a:lnSpc>
                <a:spcPct val="115000"/>
              </a:lnSpc>
            </a:pPr>
            <a:r>
              <a:rPr sz="1000" b="0" i="0" spc="30">
                <a:solidFill>
                  <a:srgbClr val="6E6E6E"/>
                </a:solidFill>
                <a:latin typeface="Courier New"/>
              </a:rPr>
              <a:t>10 — Worked example · flood</a:t>
            </a:r>
          </a:p>
        </p:txBody>
      </p:sp>
      <p:sp>
        <p:nvSpPr>
          <p:cNvPr id="6" name="TextBox 5"/>
          <p:cNvSpPr txBox="1"/>
          <p:nvPr/>
        </p:nvSpPr>
        <p:spPr>
          <a:xfrm>
            <a:off x="548640" y="960120"/>
            <a:ext cx="7315200" cy="274320"/>
          </a:xfrm>
          <a:prstGeom prst="rect">
            <a:avLst/>
          </a:prstGeom>
          <a:noFill/>
        </p:spPr>
        <p:txBody>
          <a:bodyPr wrap="square" lIns="0" tIns="18288" rIns="0" bIns="18288" anchor="t">
            <a:spAutoFit/>
          </a:bodyPr>
          <a:lstStyle/>
          <a:p>
            <a:pPr algn="l">
              <a:lnSpc>
                <a:spcPct val="115000"/>
              </a:lnSpc>
            </a:pPr>
            <a:r>
              <a:rPr sz="1000" b="0" i="0" spc="80">
                <a:solidFill>
                  <a:srgbClr val="1F5FA8"/>
                </a:solidFill>
                <a:latin typeface="Courier New"/>
              </a:rPr>
              <a:t>STEP 2  ·  FLOOD LOWEST G FIRST</a:t>
            </a:r>
          </a:p>
        </p:txBody>
      </p:sp>
      <p:sp>
        <p:nvSpPr>
          <p:cNvPr id="7" name="TextBox 6"/>
          <p:cNvSpPr txBox="1"/>
          <p:nvPr/>
        </p:nvSpPr>
        <p:spPr>
          <a:xfrm>
            <a:off x="502920" y="1325880"/>
            <a:ext cx="11430000" cy="1097280"/>
          </a:xfrm>
          <a:prstGeom prst="rect">
            <a:avLst/>
          </a:prstGeom>
          <a:noFill/>
        </p:spPr>
        <p:txBody>
          <a:bodyPr wrap="square" lIns="0" tIns="18288" rIns="0" bIns="18288" anchor="t">
            <a:spAutoFit/>
          </a:bodyPr>
          <a:lstStyle/>
          <a:p>
            <a:pPr algn="l">
              <a:lnSpc>
                <a:spcPct val="105000"/>
              </a:lnSpc>
            </a:pPr>
            <a:r>
              <a:rPr sz="2600" b="0" i="0">
                <a:solidFill>
                  <a:srgbClr val="1A1A1A"/>
                </a:solidFill>
                <a:latin typeface="Georgia"/>
              </a:rPr>
              <a:t>Two basins </a:t>
            </a:r>
            <a:r>
              <a:rPr sz="2600" b="0" i="1">
                <a:solidFill>
                  <a:srgbClr val="1A1A1A"/>
                </a:solidFill>
                <a:latin typeface="Georgia"/>
              </a:rPr>
              <a:t>plus</a:t>
            </a:r>
            <a:r>
              <a:rPr sz="2600" b="0" i="0">
                <a:solidFill>
                  <a:srgbClr val="1A1A1A"/>
                </a:solidFill>
                <a:latin typeface="Georgia"/>
              </a:rPr>
              <a:t> an extra one — over-segmentation in miniature.</a:t>
            </a:r>
          </a:p>
        </p:txBody>
      </p:sp>
      <p:sp>
        <p:nvSpPr>
          <p:cNvPr id="8" name="TextBox 7"/>
          <p:cNvSpPr txBox="1"/>
          <p:nvPr/>
        </p:nvSpPr>
        <p:spPr>
          <a:xfrm>
            <a:off x="548640" y="2606040"/>
            <a:ext cx="640080" cy="274320"/>
          </a:xfrm>
          <a:prstGeom prst="rect">
            <a:avLst/>
          </a:prstGeom>
          <a:noFill/>
        </p:spPr>
        <p:txBody>
          <a:bodyPr wrap="square" lIns="0" tIns="18288" rIns="0" bIns="18288" anchor="t">
            <a:spAutoFit/>
          </a:bodyPr>
          <a:lstStyle/>
          <a:p>
            <a:pPr algn="l">
              <a:lnSpc>
                <a:spcPct val="115000"/>
              </a:lnSpc>
            </a:pPr>
            <a:r>
              <a:rPr sz="900" b="0" i="0" spc="80">
                <a:solidFill>
                  <a:srgbClr val="6E6E6E"/>
                </a:solidFill>
                <a:latin typeface="Courier New"/>
              </a:rPr>
              <a:t>STEP</a:t>
            </a:r>
          </a:p>
        </p:txBody>
      </p:sp>
      <p:sp>
        <p:nvSpPr>
          <p:cNvPr id="9" name="TextBox 8"/>
          <p:cNvSpPr txBox="1"/>
          <p:nvPr/>
        </p:nvSpPr>
        <p:spPr>
          <a:xfrm>
            <a:off x="1188720" y="2606040"/>
            <a:ext cx="640080" cy="274320"/>
          </a:xfrm>
          <a:prstGeom prst="rect">
            <a:avLst/>
          </a:prstGeom>
          <a:noFill/>
        </p:spPr>
        <p:txBody>
          <a:bodyPr wrap="square" lIns="0" tIns="18288" rIns="0" bIns="18288" anchor="t">
            <a:spAutoFit/>
          </a:bodyPr>
          <a:lstStyle/>
          <a:p>
            <a:pPr algn="l">
              <a:lnSpc>
                <a:spcPct val="115000"/>
              </a:lnSpc>
            </a:pPr>
            <a:r>
              <a:rPr sz="900" b="0" i="0" spc="80">
                <a:solidFill>
                  <a:srgbClr val="6E6E6E"/>
                </a:solidFill>
                <a:latin typeface="Courier New"/>
              </a:rPr>
              <a:t>H</a:t>
            </a:r>
          </a:p>
        </p:txBody>
      </p:sp>
      <p:sp>
        <p:nvSpPr>
          <p:cNvPr id="10" name="TextBox 9"/>
          <p:cNvSpPr txBox="1"/>
          <p:nvPr/>
        </p:nvSpPr>
        <p:spPr>
          <a:xfrm>
            <a:off x="1828800" y="2606040"/>
            <a:ext cx="777240" cy="274320"/>
          </a:xfrm>
          <a:prstGeom prst="rect">
            <a:avLst/>
          </a:prstGeom>
          <a:noFill/>
        </p:spPr>
        <p:txBody>
          <a:bodyPr wrap="square" lIns="0" tIns="18288" rIns="0" bIns="18288" anchor="t">
            <a:spAutoFit/>
          </a:bodyPr>
          <a:lstStyle/>
          <a:p>
            <a:pPr algn="l">
              <a:lnSpc>
                <a:spcPct val="115000"/>
              </a:lnSpc>
            </a:pPr>
            <a:r>
              <a:rPr sz="900" b="0" i="0" spc="80">
                <a:solidFill>
                  <a:srgbClr val="6E6E6E"/>
                </a:solidFill>
                <a:latin typeface="Courier New"/>
              </a:rPr>
              <a:t>PIXEL</a:t>
            </a:r>
          </a:p>
        </p:txBody>
      </p:sp>
      <p:sp>
        <p:nvSpPr>
          <p:cNvPr id="11" name="TextBox 10"/>
          <p:cNvSpPr txBox="1"/>
          <p:nvPr/>
        </p:nvSpPr>
        <p:spPr>
          <a:xfrm>
            <a:off x="2606040" y="2606040"/>
            <a:ext cx="3977639" cy="274320"/>
          </a:xfrm>
          <a:prstGeom prst="rect">
            <a:avLst/>
          </a:prstGeom>
          <a:noFill/>
        </p:spPr>
        <p:txBody>
          <a:bodyPr wrap="square" lIns="0" tIns="18288" rIns="0" bIns="18288" anchor="t">
            <a:spAutoFit/>
          </a:bodyPr>
          <a:lstStyle/>
          <a:p>
            <a:pPr algn="l">
              <a:lnSpc>
                <a:spcPct val="115000"/>
              </a:lnSpc>
            </a:pPr>
            <a:r>
              <a:rPr sz="900" b="0" i="0" spc="80">
                <a:solidFill>
                  <a:srgbClr val="6E6E6E"/>
                </a:solidFill>
                <a:latin typeface="Courier New"/>
              </a:rPr>
              <a:t>DECISION</a:t>
            </a:r>
          </a:p>
        </p:txBody>
      </p:sp>
      <p:sp>
        <p:nvSpPr>
          <p:cNvPr id="12" name="TextBox 11"/>
          <p:cNvSpPr txBox="1"/>
          <p:nvPr/>
        </p:nvSpPr>
        <p:spPr>
          <a:xfrm>
            <a:off x="6583680" y="2606040"/>
            <a:ext cx="4937760" cy="274320"/>
          </a:xfrm>
          <a:prstGeom prst="rect">
            <a:avLst/>
          </a:prstGeom>
          <a:noFill/>
        </p:spPr>
        <p:txBody>
          <a:bodyPr wrap="square" lIns="0" tIns="18288" rIns="0" bIns="18288" anchor="t">
            <a:spAutoFit/>
          </a:bodyPr>
          <a:lstStyle/>
          <a:p>
            <a:pPr algn="l">
              <a:lnSpc>
                <a:spcPct val="115000"/>
              </a:lnSpc>
            </a:pPr>
            <a:r>
              <a:rPr sz="900" b="0" i="0" spc="80">
                <a:solidFill>
                  <a:srgbClr val="6E6E6E"/>
                </a:solidFill>
                <a:latin typeface="Courier New"/>
              </a:rPr>
              <a:t>STATE  [P1 … P7]</a:t>
            </a:r>
          </a:p>
        </p:txBody>
      </p:sp>
      <p:cxnSp>
        <p:nvCxnSpPr>
          <p:cNvPr id="13" name="Connector 12"/>
          <p:cNvCxnSpPr/>
          <p:nvPr/>
        </p:nvCxnSpPr>
        <p:spPr>
          <a:xfrm>
            <a:off x="502920" y="2898648"/>
            <a:ext cx="11137392" cy="0"/>
          </a:xfrm>
          <a:prstGeom prst="line">
            <a:avLst/>
          </a:prstGeom>
          <a:ln w="6350">
            <a:solidFill>
              <a:srgbClr val="D4D1CA"/>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548640" y="2990088"/>
            <a:ext cx="640080" cy="292608"/>
          </a:xfrm>
          <a:prstGeom prst="rect">
            <a:avLst/>
          </a:prstGeom>
          <a:noFill/>
        </p:spPr>
        <p:txBody>
          <a:bodyPr wrap="square" lIns="0" tIns="18288" rIns="0" bIns="18288" anchor="t">
            <a:spAutoFit/>
          </a:bodyPr>
          <a:lstStyle/>
          <a:p>
            <a:pPr algn="l">
              <a:lnSpc>
                <a:spcPct val="115000"/>
              </a:lnSpc>
            </a:pPr>
            <a:r>
              <a:rPr sz="1100" b="0" i="0">
                <a:solidFill>
                  <a:srgbClr val="2C2C2C"/>
                </a:solidFill>
                <a:latin typeface="Courier New"/>
              </a:rPr>
              <a:t>1</a:t>
            </a:r>
          </a:p>
        </p:txBody>
      </p:sp>
      <p:sp>
        <p:nvSpPr>
          <p:cNvPr id="15" name="TextBox 14"/>
          <p:cNvSpPr txBox="1"/>
          <p:nvPr/>
        </p:nvSpPr>
        <p:spPr>
          <a:xfrm>
            <a:off x="1188720" y="2990088"/>
            <a:ext cx="640080" cy="292608"/>
          </a:xfrm>
          <a:prstGeom prst="rect">
            <a:avLst/>
          </a:prstGeom>
          <a:noFill/>
        </p:spPr>
        <p:txBody>
          <a:bodyPr wrap="square" lIns="0" tIns="18288" rIns="0" bIns="18288" anchor="t">
            <a:spAutoFit/>
          </a:bodyPr>
          <a:lstStyle/>
          <a:p>
            <a:pPr algn="l">
              <a:lnSpc>
                <a:spcPct val="115000"/>
              </a:lnSpc>
            </a:pPr>
            <a:r>
              <a:rPr sz="1100" b="0" i="0">
                <a:solidFill>
                  <a:srgbClr val="2C2C2C"/>
                </a:solidFill>
                <a:latin typeface="Courier New"/>
              </a:rPr>
              <a:t>2</a:t>
            </a:r>
          </a:p>
        </p:txBody>
      </p:sp>
      <p:sp>
        <p:nvSpPr>
          <p:cNvPr id="16" name="TextBox 15"/>
          <p:cNvSpPr txBox="1"/>
          <p:nvPr/>
        </p:nvSpPr>
        <p:spPr>
          <a:xfrm>
            <a:off x="1828800" y="2990088"/>
            <a:ext cx="777240" cy="292608"/>
          </a:xfrm>
          <a:prstGeom prst="rect">
            <a:avLst/>
          </a:prstGeom>
          <a:noFill/>
        </p:spPr>
        <p:txBody>
          <a:bodyPr wrap="square" lIns="0" tIns="18288" rIns="0" bIns="18288" anchor="t">
            <a:spAutoFit/>
          </a:bodyPr>
          <a:lstStyle/>
          <a:p>
            <a:pPr algn="l">
              <a:lnSpc>
                <a:spcPct val="115000"/>
              </a:lnSpc>
            </a:pPr>
            <a:r>
              <a:rPr sz="1100" b="0" i="0">
                <a:solidFill>
                  <a:srgbClr val="2C2C2C"/>
                </a:solidFill>
                <a:latin typeface="Courier New"/>
              </a:rPr>
              <a:t>p1</a:t>
            </a:r>
          </a:p>
        </p:txBody>
      </p:sp>
      <p:sp>
        <p:nvSpPr>
          <p:cNvPr id="17" name="TextBox 16"/>
          <p:cNvSpPr txBox="1"/>
          <p:nvPr/>
        </p:nvSpPr>
        <p:spPr>
          <a:xfrm>
            <a:off x="2606040" y="2990088"/>
            <a:ext cx="3977639" cy="292608"/>
          </a:xfrm>
          <a:prstGeom prst="rect">
            <a:avLst/>
          </a:prstGeom>
          <a:noFill/>
        </p:spPr>
        <p:txBody>
          <a:bodyPr wrap="square" lIns="0" tIns="18288" rIns="0" bIns="18288" anchor="t">
            <a:spAutoFit/>
          </a:bodyPr>
          <a:lstStyle/>
          <a:p>
            <a:pPr algn="l">
              <a:lnSpc>
                <a:spcPct val="115000"/>
              </a:lnSpc>
            </a:pPr>
            <a:r>
              <a:rPr sz="1100" b="0" i="0">
                <a:solidFill>
                  <a:srgbClr val="2C2C2C"/>
                </a:solidFill>
                <a:latin typeface="Courier New"/>
              </a:rPr>
              <a:t>No labels → seed B1</a:t>
            </a:r>
          </a:p>
        </p:txBody>
      </p:sp>
      <p:sp>
        <p:nvSpPr>
          <p:cNvPr id="18" name="TextBox 17"/>
          <p:cNvSpPr txBox="1"/>
          <p:nvPr/>
        </p:nvSpPr>
        <p:spPr>
          <a:xfrm>
            <a:off x="6583680" y="2990088"/>
            <a:ext cx="4937760" cy="292608"/>
          </a:xfrm>
          <a:prstGeom prst="rect">
            <a:avLst/>
          </a:prstGeom>
          <a:noFill/>
        </p:spPr>
        <p:txBody>
          <a:bodyPr wrap="square" lIns="0" tIns="18288" rIns="0" bIns="18288" anchor="t">
            <a:spAutoFit/>
          </a:bodyPr>
          <a:lstStyle/>
          <a:p>
            <a:pPr algn="l">
              <a:lnSpc>
                <a:spcPct val="115000"/>
              </a:lnSpc>
            </a:pPr>
            <a:r>
              <a:rPr sz="1100" b="0" i="0">
                <a:solidFill>
                  <a:srgbClr val="2C2C2C"/>
                </a:solidFill>
                <a:latin typeface="Courier New"/>
              </a:rPr>
              <a:t>[ B1, --, --, --, --, --, -- ]</a:t>
            </a:r>
          </a:p>
        </p:txBody>
      </p:sp>
      <p:sp>
        <p:nvSpPr>
          <p:cNvPr id="19" name="Rectangle 18"/>
          <p:cNvSpPr/>
          <p:nvPr/>
        </p:nvSpPr>
        <p:spPr>
          <a:xfrm>
            <a:off x="502920" y="3264408"/>
            <a:ext cx="11155680" cy="310896"/>
          </a:xfrm>
          <a:prstGeom prst="rect">
            <a:avLst/>
          </a:prstGeom>
          <a:solidFill>
            <a:srgbClr val="F6F4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48640" y="3282696"/>
            <a:ext cx="640080" cy="292608"/>
          </a:xfrm>
          <a:prstGeom prst="rect">
            <a:avLst/>
          </a:prstGeom>
          <a:noFill/>
        </p:spPr>
        <p:txBody>
          <a:bodyPr wrap="square" lIns="0" tIns="18288" rIns="0" bIns="18288" anchor="t">
            <a:spAutoFit/>
          </a:bodyPr>
          <a:lstStyle/>
          <a:p>
            <a:pPr algn="l">
              <a:lnSpc>
                <a:spcPct val="115000"/>
              </a:lnSpc>
            </a:pPr>
            <a:r>
              <a:rPr sz="1100" b="0" i="0">
                <a:solidFill>
                  <a:srgbClr val="2C2C2C"/>
                </a:solidFill>
                <a:latin typeface="Courier New"/>
              </a:rPr>
              <a:t>2</a:t>
            </a:r>
          </a:p>
        </p:txBody>
      </p:sp>
      <p:sp>
        <p:nvSpPr>
          <p:cNvPr id="21" name="TextBox 20"/>
          <p:cNvSpPr txBox="1"/>
          <p:nvPr/>
        </p:nvSpPr>
        <p:spPr>
          <a:xfrm>
            <a:off x="1188720" y="3282696"/>
            <a:ext cx="640080" cy="292608"/>
          </a:xfrm>
          <a:prstGeom prst="rect">
            <a:avLst/>
          </a:prstGeom>
          <a:noFill/>
        </p:spPr>
        <p:txBody>
          <a:bodyPr wrap="square" lIns="0" tIns="18288" rIns="0" bIns="18288" anchor="t">
            <a:spAutoFit/>
          </a:bodyPr>
          <a:lstStyle/>
          <a:p>
            <a:pPr algn="l">
              <a:lnSpc>
                <a:spcPct val="115000"/>
              </a:lnSpc>
            </a:pPr>
            <a:r>
              <a:rPr sz="1100" b="0" i="0">
                <a:solidFill>
                  <a:srgbClr val="2C2C2C"/>
                </a:solidFill>
                <a:latin typeface="Courier New"/>
              </a:rPr>
              <a:t>2</a:t>
            </a:r>
          </a:p>
        </p:txBody>
      </p:sp>
      <p:sp>
        <p:nvSpPr>
          <p:cNvPr id="22" name="TextBox 21"/>
          <p:cNvSpPr txBox="1"/>
          <p:nvPr/>
        </p:nvSpPr>
        <p:spPr>
          <a:xfrm>
            <a:off x="1828800" y="3282696"/>
            <a:ext cx="777240" cy="292608"/>
          </a:xfrm>
          <a:prstGeom prst="rect">
            <a:avLst/>
          </a:prstGeom>
          <a:noFill/>
        </p:spPr>
        <p:txBody>
          <a:bodyPr wrap="square" lIns="0" tIns="18288" rIns="0" bIns="18288" anchor="t">
            <a:spAutoFit/>
          </a:bodyPr>
          <a:lstStyle/>
          <a:p>
            <a:pPr algn="l">
              <a:lnSpc>
                <a:spcPct val="115000"/>
              </a:lnSpc>
            </a:pPr>
            <a:r>
              <a:rPr sz="1100" b="0" i="0">
                <a:solidFill>
                  <a:srgbClr val="2C2C2C"/>
                </a:solidFill>
                <a:latin typeface="Courier New"/>
              </a:rPr>
              <a:t>p2</a:t>
            </a:r>
          </a:p>
        </p:txBody>
      </p:sp>
      <p:sp>
        <p:nvSpPr>
          <p:cNvPr id="23" name="TextBox 22"/>
          <p:cNvSpPr txBox="1"/>
          <p:nvPr/>
        </p:nvSpPr>
        <p:spPr>
          <a:xfrm>
            <a:off x="2606040" y="3282696"/>
            <a:ext cx="3977639" cy="292608"/>
          </a:xfrm>
          <a:prstGeom prst="rect">
            <a:avLst/>
          </a:prstGeom>
          <a:noFill/>
        </p:spPr>
        <p:txBody>
          <a:bodyPr wrap="square" lIns="0" tIns="18288" rIns="0" bIns="18288" anchor="t">
            <a:spAutoFit/>
          </a:bodyPr>
          <a:lstStyle/>
          <a:p>
            <a:pPr algn="l">
              <a:lnSpc>
                <a:spcPct val="115000"/>
              </a:lnSpc>
            </a:pPr>
            <a:r>
              <a:rPr sz="1100" b="0" i="0">
                <a:solidFill>
                  <a:srgbClr val="2C2C2C"/>
                </a:solidFill>
                <a:latin typeface="Courier New"/>
              </a:rPr>
              <a:t>Neighbour p1 = B1 → assign B1</a:t>
            </a:r>
          </a:p>
        </p:txBody>
      </p:sp>
      <p:sp>
        <p:nvSpPr>
          <p:cNvPr id="24" name="TextBox 23"/>
          <p:cNvSpPr txBox="1"/>
          <p:nvPr/>
        </p:nvSpPr>
        <p:spPr>
          <a:xfrm>
            <a:off x="6583680" y="3282696"/>
            <a:ext cx="4937760" cy="292608"/>
          </a:xfrm>
          <a:prstGeom prst="rect">
            <a:avLst/>
          </a:prstGeom>
          <a:noFill/>
        </p:spPr>
        <p:txBody>
          <a:bodyPr wrap="square" lIns="0" tIns="18288" rIns="0" bIns="18288" anchor="t">
            <a:spAutoFit/>
          </a:bodyPr>
          <a:lstStyle/>
          <a:p>
            <a:pPr algn="l">
              <a:lnSpc>
                <a:spcPct val="115000"/>
              </a:lnSpc>
            </a:pPr>
            <a:r>
              <a:rPr sz="1100" b="0" i="0">
                <a:solidFill>
                  <a:srgbClr val="2C2C2C"/>
                </a:solidFill>
                <a:latin typeface="Courier New"/>
              </a:rPr>
              <a:t>[ B1, B1, --, --, --, --, -- ]</a:t>
            </a:r>
          </a:p>
        </p:txBody>
      </p:sp>
      <p:sp>
        <p:nvSpPr>
          <p:cNvPr id="25" name="TextBox 24"/>
          <p:cNvSpPr txBox="1"/>
          <p:nvPr/>
        </p:nvSpPr>
        <p:spPr>
          <a:xfrm>
            <a:off x="548640" y="3575304"/>
            <a:ext cx="640080" cy="292608"/>
          </a:xfrm>
          <a:prstGeom prst="rect">
            <a:avLst/>
          </a:prstGeom>
          <a:noFill/>
        </p:spPr>
        <p:txBody>
          <a:bodyPr wrap="square" lIns="0" tIns="18288" rIns="0" bIns="18288" anchor="t">
            <a:spAutoFit/>
          </a:bodyPr>
          <a:lstStyle/>
          <a:p>
            <a:pPr algn="l">
              <a:lnSpc>
                <a:spcPct val="115000"/>
              </a:lnSpc>
            </a:pPr>
            <a:r>
              <a:rPr sz="1100" b="0" i="0">
                <a:solidFill>
                  <a:srgbClr val="2C2C2C"/>
                </a:solidFill>
                <a:latin typeface="Courier New"/>
              </a:rPr>
              <a:t>3</a:t>
            </a:r>
          </a:p>
        </p:txBody>
      </p:sp>
      <p:sp>
        <p:nvSpPr>
          <p:cNvPr id="26" name="TextBox 25"/>
          <p:cNvSpPr txBox="1"/>
          <p:nvPr/>
        </p:nvSpPr>
        <p:spPr>
          <a:xfrm>
            <a:off x="1188720" y="3575304"/>
            <a:ext cx="640080" cy="292608"/>
          </a:xfrm>
          <a:prstGeom prst="rect">
            <a:avLst/>
          </a:prstGeom>
          <a:noFill/>
        </p:spPr>
        <p:txBody>
          <a:bodyPr wrap="square" lIns="0" tIns="18288" rIns="0" bIns="18288" anchor="t">
            <a:spAutoFit/>
          </a:bodyPr>
          <a:lstStyle/>
          <a:p>
            <a:pPr algn="l">
              <a:lnSpc>
                <a:spcPct val="115000"/>
              </a:lnSpc>
            </a:pPr>
            <a:r>
              <a:rPr sz="1100" b="0" i="0">
                <a:solidFill>
                  <a:srgbClr val="2C2C2C"/>
                </a:solidFill>
                <a:latin typeface="Courier New"/>
              </a:rPr>
              <a:t>2</a:t>
            </a:r>
          </a:p>
        </p:txBody>
      </p:sp>
      <p:sp>
        <p:nvSpPr>
          <p:cNvPr id="27" name="TextBox 26"/>
          <p:cNvSpPr txBox="1"/>
          <p:nvPr/>
        </p:nvSpPr>
        <p:spPr>
          <a:xfrm>
            <a:off x="1828800" y="3575304"/>
            <a:ext cx="777240" cy="292608"/>
          </a:xfrm>
          <a:prstGeom prst="rect">
            <a:avLst/>
          </a:prstGeom>
          <a:noFill/>
        </p:spPr>
        <p:txBody>
          <a:bodyPr wrap="square" lIns="0" tIns="18288" rIns="0" bIns="18288" anchor="t">
            <a:spAutoFit/>
          </a:bodyPr>
          <a:lstStyle/>
          <a:p>
            <a:pPr algn="l">
              <a:lnSpc>
                <a:spcPct val="115000"/>
              </a:lnSpc>
            </a:pPr>
            <a:r>
              <a:rPr sz="1100" b="0" i="0">
                <a:solidFill>
                  <a:srgbClr val="2C2C2C"/>
                </a:solidFill>
                <a:latin typeface="Courier New"/>
              </a:rPr>
              <a:t>p6</a:t>
            </a:r>
          </a:p>
        </p:txBody>
      </p:sp>
      <p:sp>
        <p:nvSpPr>
          <p:cNvPr id="28" name="TextBox 27"/>
          <p:cNvSpPr txBox="1"/>
          <p:nvPr/>
        </p:nvSpPr>
        <p:spPr>
          <a:xfrm>
            <a:off x="2606040" y="3575304"/>
            <a:ext cx="3977639" cy="292608"/>
          </a:xfrm>
          <a:prstGeom prst="rect">
            <a:avLst/>
          </a:prstGeom>
          <a:noFill/>
        </p:spPr>
        <p:txBody>
          <a:bodyPr wrap="square" lIns="0" tIns="18288" rIns="0" bIns="18288" anchor="t">
            <a:spAutoFit/>
          </a:bodyPr>
          <a:lstStyle/>
          <a:p>
            <a:pPr algn="l">
              <a:lnSpc>
                <a:spcPct val="115000"/>
              </a:lnSpc>
            </a:pPr>
            <a:r>
              <a:rPr sz="1100" b="0" i="0">
                <a:solidFill>
                  <a:srgbClr val="2C2C2C"/>
                </a:solidFill>
                <a:latin typeface="Courier New"/>
              </a:rPr>
              <a:t>No labels → seed B2</a:t>
            </a:r>
          </a:p>
        </p:txBody>
      </p:sp>
      <p:sp>
        <p:nvSpPr>
          <p:cNvPr id="29" name="TextBox 28"/>
          <p:cNvSpPr txBox="1"/>
          <p:nvPr/>
        </p:nvSpPr>
        <p:spPr>
          <a:xfrm>
            <a:off x="6583680" y="3575304"/>
            <a:ext cx="4937760" cy="292608"/>
          </a:xfrm>
          <a:prstGeom prst="rect">
            <a:avLst/>
          </a:prstGeom>
          <a:noFill/>
        </p:spPr>
        <p:txBody>
          <a:bodyPr wrap="square" lIns="0" tIns="18288" rIns="0" bIns="18288" anchor="t">
            <a:spAutoFit/>
          </a:bodyPr>
          <a:lstStyle/>
          <a:p>
            <a:pPr algn="l">
              <a:lnSpc>
                <a:spcPct val="115000"/>
              </a:lnSpc>
            </a:pPr>
            <a:r>
              <a:rPr sz="1100" b="0" i="0">
                <a:solidFill>
                  <a:srgbClr val="2C2C2C"/>
                </a:solidFill>
                <a:latin typeface="Courier New"/>
              </a:rPr>
              <a:t>[ B1, B1, --, --, --, B2, -- ]</a:t>
            </a:r>
          </a:p>
        </p:txBody>
      </p:sp>
      <p:sp>
        <p:nvSpPr>
          <p:cNvPr id="30" name="Rectangle 29"/>
          <p:cNvSpPr/>
          <p:nvPr/>
        </p:nvSpPr>
        <p:spPr>
          <a:xfrm>
            <a:off x="502920" y="3849624"/>
            <a:ext cx="11155680" cy="310896"/>
          </a:xfrm>
          <a:prstGeom prst="rect">
            <a:avLst/>
          </a:prstGeom>
          <a:solidFill>
            <a:srgbClr val="F6F4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548640" y="3867912"/>
            <a:ext cx="640080" cy="292608"/>
          </a:xfrm>
          <a:prstGeom prst="rect">
            <a:avLst/>
          </a:prstGeom>
          <a:noFill/>
        </p:spPr>
        <p:txBody>
          <a:bodyPr wrap="square" lIns="0" tIns="18288" rIns="0" bIns="18288" anchor="t">
            <a:spAutoFit/>
          </a:bodyPr>
          <a:lstStyle/>
          <a:p>
            <a:pPr algn="l">
              <a:lnSpc>
                <a:spcPct val="115000"/>
              </a:lnSpc>
            </a:pPr>
            <a:r>
              <a:rPr sz="1100" b="0" i="0">
                <a:solidFill>
                  <a:srgbClr val="2C2C2C"/>
                </a:solidFill>
                <a:latin typeface="Courier New"/>
              </a:rPr>
              <a:t>4</a:t>
            </a:r>
          </a:p>
        </p:txBody>
      </p:sp>
      <p:sp>
        <p:nvSpPr>
          <p:cNvPr id="32" name="TextBox 31"/>
          <p:cNvSpPr txBox="1"/>
          <p:nvPr/>
        </p:nvSpPr>
        <p:spPr>
          <a:xfrm>
            <a:off x="1188720" y="3867912"/>
            <a:ext cx="640080" cy="292608"/>
          </a:xfrm>
          <a:prstGeom prst="rect">
            <a:avLst/>
          </a:prstGeom>
          <a:noFill/>
        </p:spPr>
        <p:txBody>
          <a:bodyPr wrap="square" lIns="0" tIns="18288" rIns="0" bIns="18288" anchor="t">
            <a:spAutoFit/>
          </a:bodyPr>
          <a:lstStyle/>
          <a:p>
            <a:pPr algn="l">
              <a:lnSpc>
                <a:spcPct val="115000"/>
              </a:lnSpc>
            </a:pPr>
            <a:r>
              <a:rPr sz="1100" b="0" i="0">
                <a:solidFill>
                  <a:srgbClr val="2C2C2C"/>
                </a:solidFill>
                <a:latin typeface="Courier New"/>
              </a:rPr>
              <a:t>2</a:t>
            </a:r>
          </a:p>
        </p:txBody>
      </p:sp>
      <p:sp>
        <p:nvSpPr>
          <p:cNvPr id="33" name="TextBox 32"/>
          <p:cNvSpPr txBox="1"/>
          <p:nvPr/>
        </p:nvSpPr>
        <p:spPr>
          <a:xfrm>
            <a:off x="1828800" y="3867912"/>
            <a:ext cx="777240" cy="292608"/>
          </a:xfrm>
          <a:prstGeom prst="rect">
            <a:avLst/>
          </a:prstGeom>
          <a:noFill/>
        </p:spPr>
        <p:txBody>
          <a:bodyPr wrap="square" lIns="0" tIns="18288" rIns="0" bIns="18288" anchor="t">
            <a:spAutoFit/>
          </a:bodyPr>
          <a:lstStyle/>
          <a:p>
            <a:pPr algn="l">
              <a:lnSpc>
                <a:spcPct val="115000"/>
              </a:lnSpc>
            </a:pPr>
            <a:r>
              <a:rPr sz="1100" b="0" i="0">
                <a:solidFill>
                  <a:srgbClr val="2C2C2C"/>
                </a:solidFill>
                <a:latin typeface="Courier New"/>
              </a:rPr>
              <a:t>p7</a:t>
            </a:r>
          </a:p>
        </p:txBody>
      </p:sp>
      <p:sp>
        <p:nvSpPr>
          <p:cNvPr id="34" name="TextBox 33"/>
          <p:cNvSpPr txBox="1"/>
          <p:nvPr/>
        </p:nvSpPr>
        <p:spPr>
          <a:xfrm>
            <a:off x="2606040" y="3867912"/>
            <a:ext cx="3977639" cy="292608"/>
          </a:xfrm>
          <a:prstGeom prst="rect">
            <a:avLst/>
          </a:prstGeom>
          <a:noFill/>
        </p:spPr>
        <p:txBody>
          <a:bodyPr wrap="square" lIns="0" tIns="18288" rIns="0" bIns="18288" anchor="t">
            <a:spAutoFit/>
          </a:bodyPr>
          <a:lstStyle/>
          <a:p>
            <a:pPr algn="l">
              <a:lnSpc>
                <a:spcPct val="115000"/>
              </a:lnSpc>
            </a:pPr>
            <a:r>
              <a:rPr sz="1100" b="0" i="0">
                <a:solidFill>
                  <a:srgbClr val="2C2C2C"/>
                </a:solidFill>
                <a:latin typeface="Courier New"/>
              </a:rPr>
              <a:t>Neighbour p6 = B2 → assign B2</a:t>
            </a:r>
          </a:p>
        </p:txBody>
      </p:sp>
      <p:sp>
        <p:nvSpPr>
          <p:cNvPr id="35" name="TextBox 34"/>
          <p:cNvSpPr txBox="1"/>
          <p:nvPr/>
        </p:nvSpPr>
        <p:spPr>
          <a:xfrm>
            <a:off x="6583680" y="3867912"/>
            <a:ext cx="4937760" cy="292608"/>
          </a:xfrm>
          <a:prstGeom prst="rect">
            <a:avLst/>
          </a:prstGeom>
          <a:noFill/>
        </p:spPr>
        <p:txBody>
          <a:bodyPr wrap="square" lIns="0" tIns="18288" rIns="0" bIns="18288" anchor="t">
            <a:spAutoFit/>
          </a:bodyPr>
          <a:lstStyle/>
          <a:p>
            <a:pPr algn="l">
              <a:lnSpc>
                <a:spcPct val="115000"/>
              </a:lnSpc>
            </a:pPr>
            <a:r>
              <a:rPr sz="1100" b="0" i="0">
                <a:solidFill>
                  <a:srgbClr val="2C2C2C"/>
                </a:solidFill>
                <a:latin typeface="Courier New"/>
              </a:rPr>
              <a:t>[ B1, B1, --, --, --, B2, B2 ]</a:t>
            </a:r>
          </a:p>
        </p:txBody>
      </p:sp>
      <p:sp>
        <p:nvSpPr>
          <p:cNvPr id="36" name="TextBox 35"/>
          <p:cNvSpPr txBox="1"/>
          <p:nvPr/>
        </p:nvSpPr>
        <p:spPr>
          <a:xfrm>
            <a:off x="548640" y="4160520"/>
            <a:ext cx="640080" cy="292608"/>
          </a:xfrm>
          <a:prstGeom prst="rect">
            <a:avLst/>
          </a:prstGeom>
          <a:noFill/>
        </p:spPr>
        <p:txBody>
          <a:bodyPr wrap="square" lIns="0" tIns="18288" rIns="0" bIns="18288" anchor="t">
            <a:spAutoFit/>
          </a:bodyPr>
          <a:lstStyle/>
          <a:p>
            <a:pPr algn="l">
              <a:lnSpc>
                <a:spcPct val="115000"/>
              </a:lnSpc>
            </a:pPr>
            <a:r>
              <a:rPr sz="1100" b="0" i="0">
                <a:solidFill>
                  <a:srgbClr val="2C2C2C"/>
                </a:solidFill>
                <a:latin typeface="Courier New"/>
              </a:rPr>
              <a:t>5</a:t>
            </a:r>
          </a:p>
        </p:txBody>
      </p:sp>
      <p:sp>
        <p:nvSpPr>
          <p:cNvPr id="37" name="TextBox 36"/>
          <p:cNvSpPr txBox="1"/>
          <p:nvPr/>
        </p:nvSpPr>
        <p:spPr>
          <a:xfrm>
            <a:off x="1188720" y="4160520"/>
            <a:ext cx="640080" cy="292608"/>
          </a:xfrm>
          <a:prstGeom prst="rect">
            <a:avLst/>
          </a:prstGeom>
          <a:noFill/>
        </p:spPr>
        <p:txBody>
          <a:bodyPr wrap="square" lIns="0" tIns="18288" rIns="0" bIns="18288" anchor="t">
            <a:spAutoFit/>
          </a:bodyPr>
          <a:lstStyle/>
          <a:p>
            <a:pPr algn="l">
              <a:lnSpc>
                <a:spcPct val="115000"/>
              </a:lnSpc>
            </a:pPr>
            <a:r>
              <a:rPr sz="1100" b="0" i="0">
                <a:solidFill>
                  <a:srgbClr val="2C2C2C"/>
                </a:solidFill>
                <a:latin typeface="Courier New"/>
              </a:rPr>
              <a:t>6</a:t>
            </a:r>
          </a:p>
        </p:txBody>
      </p:sp>
      <p:sp>
        <p:nvSpPr>
          <p:cNvPr id="38" name="TextBox 37"/>
          <p:cNvSpPr txBox="1"/>
          <p:nvPr/>
        </p:nvSpPr>
        <p:spPr>
          <a:xfrm>
            <a:off x="1828800" y="4160520"/>
            <a:ext cx="777240" cy="292608"/>
          </a:xfrm>
          <a:prstGeom prst="rect">
            <a:avLst/>
          </a:prstGeom>
          <a:noFill/>
        </p:spPr>
        <p:txBody>
          <a:bodyPr wrap="square" lIns="0" tIns="18288" rIns="0" bIns="18288" anchor="t">
            <a:spAutoFit/>
          </a:bodyPr>
          <a:lstStyle/>
          <a:p>
            <a:pPr algn="l">
              <a:lnSpc>
                <a:spcPct val="115000"/>
              </a:lnSpc>
            </a:pPr>
            <a:r>
              <a:rPr sz="1100" b="0" i="0">
                <a:solidFill>
                  <a:srgbClr val="2C2C2C"/>
                </a:solidFill>
                <a:latin typeface="Courier New"/>
              </a:rPr>
              <a:t>p4</a:t>
            </a:r>
          </a:p>
        </p:txBody>
      </p:sp>
      <p:sp>
        <p:nvSpPr>
          <p:cNvPr id="39" name="TextBox 38"/>
          <p:cNvSpPr txBox="1"/>
          <p:nvPr/>
        </p:nvSpPr>
        <p:spPr>
          <a:xfrm>
            <a:off x="2606040" y="4160520"/>
            <a:ext cx="3977639" cy="292608"/>
          </a:xfrm>
          <a:prstGeom prst="rect">
            <a:avLst/>
          </a:prstGeom>
          <a:noFill/>
        </p:spPr>
        <p:txBody>
          <a:bodyPr wrap="square" lIns="0" tIns="18288" rIns="0" bIns="18288" anchor="t">
            <a:spAutoFit/>
          </a:bodyPr>
          <a:lstStyle/>
          <a:p>
            <a:pPr algn="l">
              <a:lnSpc>
                <a:spcPct val="115000"/>
              </a:lnSpc>
            </a:pPr>
            <a:r>
              <a:rPr sz="1100" b="0" i="0">
                <a:solidFill>
                  <a:srgbClr val="2C2C2C"/>
                </a:solidFill>
                <a:latin typeface="Courier New"/>
              </a:rPr>
              <a:t>No labels → seed B3</a:t>
            </a:r>
          </a:p>
        </p:txBody>
      </p:sp>
      <p:sp>
        <p:nvSpPr>
          <p:cNvPr id="40" name="TextBox 39"/>
          <p:cNvSpPr txBox="1"/>
          <p:nvPr/>
        </p:nvSpPr>
        <p:spPr>
          <a:xfrm>
            <a:off x="6583680" y="4160520"/>
            <a:ext cx="4937760" cy="292608"/>
          </a:xfrm>
          <a:prstGeom prst="rect">
            <a:avLst/>
          </a:prstGeom>
          <a:noFill/>
        </p:spPr>
        <p:txBody>
          <a:bodyPr wrap="square" lIns="0" tIns="18288" rIns="0" bIns="18288" anchor="t">
            <a:spAutoFit/>
          </a:bodyPr>
          <a:lstStyle/>
          <a:p>
            <a:pPr algn="l">
              <a:lnSpc>
                <a:spcPct val="115000"/>
              </a:lnSpc>
            </a:pPr>
            <a:r>
              <a:rPr sz="1100" b="0" i="0">
                <a:solidFill>
                  <a:srgbClr val="2C2C2C"/>
                </a:solidFill>
                <a:latin typeface="Courier New"/>
              </a:rPr>
              <a:t>[ B1, B1, --, B3, --, B2, B2 ]</a:t>
            </a:r>
          </a:p>
        </p:txBody>
      </p:sp>
      <p:sp>
        <p:nvSpPr>
          <p:cNvPr id="41" name="Rectangle 40"/>
          <p:cNvSpPr/>
          <p:nvPr/>
        </p:nvSpPr>
        <p:spPr>
          <a:xfrm>
            <a:off x="502920" y="4434840"/>
            <a:ext cx="11155680" cy="310896"/>
          </a:xfrm>
          <a:prstGeom prst="rect">
            <a:avLst/>
          </a:prstGeom>
          <a:solidFill>
            <a:srgbClr val="F6F4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548640" y="4453128"/>
            <a:ext cx="640080" cy="292608"/>
          </a:xfrm>
          <a:prstGeom prst="rect">
            <a:avLst/>
          </a:prstGeom>
          <a:noFill/>
        </p:spPr>
        <p:txBody>
          <a:bodyPr wrap="square" lIns="0" tIns="18288" rIns="0" bIns="18288" anchor="t">
            <a:spAutoFit/>
          </a:bodyPr>
          <a:lstStyle/>
          <a:p>
            <a:pPr algn="l">
              <a:lnSpc>
                <a:spcPct val="115000"/>
              </a:lnSpc>
            </a:pPr>
            <a:r>
              <a:rPr sz="1100" b="0" i="0">
                <a:solidFill>
                  <a:srgbClr val="2C2C2C"/>
                </a:solidFill>
                <a:latin typeface="Courier New"/>
              </a:rPr>
              <a:t>6</a:t>
            </a:r>
          </a:p>
        </p:txBody>
      </p:sp>
      <p:sp>
        <p:nvSpPr>
          <p:cNvPr id="43" name="TextBox 42"/>
          <p:cNvSpPr txBox="1"/>
          <p:nvPr/>
        </p:nvSpPr>
        <p:spPr>
          <a:xfrm>
            <a:off x="1188720" y="4453128"/>
            <a:ext cx="640080" cy="292608"/>
          </a:xfrm>
          <a:prstGeom prst="rect">
            <a:avLst/>
          </a:prstGeom>
          <a:noFill/>
        </p:spPr>
        <p:txBody>
          <a:bodyPr wrap="square" lIns="0" tIns="18288" rIns="0" bIns="18288" anchor="t">
            <a:spAutoFit/>
          </a:bodyPr>
          <a:lstStyle/>
          <a:p>
            <a:pPr algn="l">
              <a:lnSpc>
                <a:spcPct val="115000"/>
              </a:lnSpc>
            </a:pPr>
            <a:r>
              <a:rPr sz="1100" b="0" i="0">
                <a:solidFill>
                  <a:srgbClr val="2C2C2C"/>
                </a:solidFill>
                <a:latin typeface="Courier New"/>
              </a:rPr>
              <a:t>7</a:t>
            </a:r>
          </a:p>
        </p:txBody>
      </p:sp>
      <p:sp>
        <p:nvSpPr>
          <p:cNvPr id="44" name="TextBox 43"/>
          <p:cNvSpPr txBox="1"/>
          <p:nvPr/>
        </p:nvSpPr>
        <p:spPr>
          <a:xfrm>
            <a:off x="1828800" y="4453128"/>
            <a:ext cx="777240" cy="292608"/>
          </a:xfrm>
          <a:prstGeom prst="rect">
            <a:avLst/>
          </a:prstGeom>
          <a:noFill/>
        </p:spPr>
        <p:txBody>
          <a:bodyPr wrap="square" lIns="0" tIns="18288" rIns="0" bIns="18288" anchor="t">
            <a:spAutoFit/>
          </a:bodyPr>
          <a:lstStyle/>
          <a:p>
            <a:pPr algn="l">
              <a:lnSpc>
                <a:spcPct val="115000"/>
              </a:lnSpc>
            </a:pPr>
            <a:r>
              <a:rPr sz="1100" b="0" i="0">
                <a:solidFill>
                  <a:srgbClr val="2C2C2C"/>
                </a:solidFill>
                <a:latin typeface="Courier New"/>
              </a:rPr>
              <a:t>p3</a:t>
            </a:r>
          </a:p>
        </p:txBody>
      </p:sp>
      <p:sp>
        <p:nvSpPr>
          <p:cNvPr id="45" name="TextBox 44"/>
          <p:cNvSpPr txBox="1"/>
          <p:nvPr/>
        </p:nvSpPr>
        <p:spPr>
          <a:xfrm>
            <a:off x="2606040" y="4453128"/>
            <a:ext cx="3977639" cy="292608"/>
          </a:xfrm>
          <a:prstGeom prst="rect">
            <a:avLst/>
          </a:prstGeom>
          <a:noFill/>
        </p:spPr>
        <p:txBody>
          <a:bodyPr wrap="square" lIns="0" tIns="18288" rIns="0" bIns="18288" anchor="t">
            <a:spAutoFit/>
          </a:bodyPr>
          <a:lstStyle/>
          <a:p>
            <a:pPr algn="l">
              <a:lnSpc>
                <a:spcPct val="115000"/>
              </a:lnSpc>
            </a:pPr>
            <a:r>
              <a:rPr sz="1100" b="0" i="0">
                <a:solidFill>
                  <a:srgbClr val="2C2C2C"/>
                </a:solidFill>
                <a:latin typeface="Courier New"/>
              </a:rPr>
              <a:t>Two basins (B1, B3) → WSHED</a:t>
            </a:r>
          </a:p>
        </p:txBody>
      </p:sp>
      <p:sp>
        <p:nvSpPr>
          <p:cNvPr id="46" name="TextBox 45"/>
          <p:cNvSpPr txBox="1"/>
          <p:nvPr/>
        </p:nvSpPr>
        <p:spPr>
          <a:xfrm>
            <a:off x="6583680" y="4453128"/>
            <a:ext cx="4937760" cy="292608"/>
          </a:xfrm>
          <a:prstGeom prst="rect">
            <a:avLst/>
          </a:prstGeom>
          <a:noFill/>
        </p:spPr>
        <p:txBody>
          <a:bodyPr wrap="square" lIns="0" tIns="18288" rIns="0" bIns="18288" anchor="t">
            <a:spAutoFit/>
          </a:bodyPr>
          <a:lstStyle/>
          <a:p>
            <a:pPr algn="l">
              <a:lnSpc>
                <a:spcPct val="115000"/>
              </a:lnSpc>
            </a:pPr>
            <a:r>
              <a:rPr sz="1100" b="0" i="0">
                <a:solidFill>
                  <a:srgbClr val="2C2C2C"/>
                </a:solidFill>
                <a:latin typeface="Courier New"/>
              </a:rPr>
              <a:t>[ B1, B1, W,  B3, --, B2, B2 ]</a:t>
            </a:r>
          </a:p>
        </p:txBody>
      </p:sp>
      <p:sp>
        <p:nvSpPr>
          <p:cNvPr id="47" name="TextBox 46"/>
          <p:cNvSpPr txBox="1"/>
          <p:nvPr/>
        </p:nvSpPr>
        <p:spPr>
          <a:xfrm>
            <a:off x="548640" y="4745736"/>
            <a:ext cx="640080" cy="292608"/>
          </a:xfrm>
          <a:prstGeom prst="rect">
            <a:avLst/>
          </a:prstGeom>
          <a:noFill/>
        </p:spPr>
        <p:txBody>
          <a:bodyPr wrap="square" lIns="0" tIns="18288" rIns="0" bIns="18288" anchor="t">
            <a:spAutoFit/>
          </a:bodyPr>
          <a:lstStyle/>
          <a:p>
            <a:pPr algn="l">
              <a:lnSpc>
                <a:spcPct val="115000"/>
              </a:lnSpc>
            </a:pPr>
            <a:r>
              <a:rPr sz="1100" b="0" i="0">
                <a:solidFill>
                  <a:srgbClr val="2C2C2C"/>
                </a:solidFill>
                <a:latin typeface="Courier New"/>
              </a:rPr>
              <a:t>7</a:t>
            </a:r>
          </a:p>
        </p:txBody>
      </p:sp>
      <p:sp>
        <p:nvSpPr>
          <p:cNvPr id="48" name="TextBox 47"/>
          <p:cNvSpPr txBox="1"/>
          <p:nvPr/>
        </p:nvSpPr>
        <p:spPr>
          <a:xfrm>
            <a:off x="1188720" y="4745736"/>
            <a:ext cx="640080" cy="292608"/>
          </a:xfrm>
          <a:prstGeom prst="rect">
            <a:avLst/>
          </a:prstGeom>
          <a:noFill/>
        </p:spPr>
        <p:txBody>
          <a:bodyPr wrap="square" lIns="0" tIns="18288" rIns="0" bIns="18288" anchor="t">
            <a:spAutoFit/>
          </a:bodyPr>
          <a:lstStyle/>
          <a:p>
            <a:pPr algn="l">
              <a:lnSpc>
                <a:spcPct val="115000"/>
              </a:lnSpc>
            </a:pPr>
            <a:r>
              <a:rPr sz="1100" b="0" i="0">
                <a:solidFill>
                  <a:srgbClr val="2C2C2C"/>
                </a:solidFill>
                <a:latin typeface="Courier New"/>
              </a:rPr>
              <a:t>7</a:t>
            </a:r>
          </a:p>
        </p:txBody>
      </p:sp>
      <p:sp>
        <p:nvSpPr>
          <p:cNvPr id="49" name="TextBox 48"/>
          <p:cNvSpPr txBox="1"/>
          <p:nvPr/>
        </p:nvSpPr>
        <p:spPr>
          <a:xfrm>
            <a:off x="1828800" y="4745736"/>
            <a:ext cx="777240" cy="292608"/>
          </a:xfrm>
          <a:prstGeom prst="rect">
            <a:avLst/>
          </a:prstGeom>
          <a:noFill/>
        </p:spPr>
        <p:txBody>
          <a:bodyPr wrap="square" lIns="0" tIns="18288" rIns="0" bIns="18288" anchor="t">
            <a:spAutoFit/>
          </a:bodyPr>
          <a:lstStyle/>
          <a:p>
            <a:pPr algn="l">
              <a:lnSpc>
                <a:spcPct val="115000"/>
              </a:lnSpc>
            </a:pPr>
            <a:r>
              <a:rPr sz="1100" b="0" i="0">
                <a:solidFill>
                  <a:srgbClr val="2C2C2C"/>
                </a:solidFill>
                <a:latin typeface="Courier New"/>
              </a:rPr>
              <a:t>p5</a:t>
            </a:r>
          </a:p>
        </p:txBody>
      </p:sp>
      <p:sp>
        <p:nvSpPr>
          <p:cNvPr id="50" name="TextBox 49"/>
          <p:cNvSpPr txBox="1"/>
          <p:nvPr/>
        </p:nvSpPr>
        <p:spPr>
          <a:xfrm>
            <a:off x="2606040" y="4745736"/>
            <a:ext cx="3977639" cy="292608"/>
          </a:xfrm>
          <a:prstGeom prst="rect">
            <a:avLst/>
          </a:prstGeom>
          <a:noFill/>
        </p:spPr>
        <p:txBody>
          <a:bodyPr wrap="square" lIns="0" tIns="18288" rIns="0" bIns="18288" anchor="t">
            <a:spAutoFit/>
          </a:bodyPr>
          <a:lstStyle/>
          <a:p>
            <a:pPr algn="l">
              <a:lnSpc>
                <a:spcPct val="115000"/>
              </a:lnSpc>
            </a:pPr>
            <a:r>
              <a:rPr sz="1100" b="0" i="0">
                <a:solidFill>
                  <a:srgbClr val="2C2C2C"/>
                </a:solidFill>
                <a:latin typeface="Courier New"/>
              </a:rPr>
              <a:t>Two basins (B3, B2) → WSHED</a:t>
            </a:r>
          </a:p>
        </p:txBody>
      </p:sp>
      <p:sp>
        <p:nvSpPr>
          <p:cNvPr id="51" name="TextBox 50"/>
          <p:cNvSpPr txBox="1"/>
          <p:nvPr/>
        </p:nvSpPr>
        <p:spPr>
          <a:xfrm>
            <a:off x="6583680" y="4745736"/>
            <a:ext cx="4937760" cy="292608"/>
          </a:xfrm>
          <a:prstGeom prst="rect">
            <a:avLst/>
          </a:prstGeom>
          <a:noFill/>
        </p:spPr>
        <p:txBody>
          <a:bodyPr wrap="square" lIns="0" tIns="18288" rIns="0" bIns="18288" anchor="t">
            <a:spAutoFit/>
          </a:bodyPr>
          <a:lstStyle/>
          <a:p>
            <a:pPr algn="l">
              <a:lnSpc>
                <a:spcPct val="115000"/>
              </a:lnSpc>
            </a:pPr>
            <a:r>
              <a:rPr sz="1100" b="0" i="0">
                <a:solidFill>
                  <a:srgbClr val="2C2C2C"/>
                </a:solidFill>
                <a:latin typeface="Courier New"/>
              </a:rPr>
              <a:t>[ B1, B1, W,  B3, W,  B2, B2 ]</a:t>
            </a:r>
          </a:p>
        </p:txBody>
      </p:sp>
      <p:cxnSp>
        <p:nvCxnSpPr>
          <p:cNvPr id="52" name="Connector 51"/>
          <p:cNvCxnSpPr/>
          <p:nvPr/>
        </p:nvCxnSpPr>
        <p:spPr>
          <a:xfrm>
            <a:off x="548640" y="4937760"/>
            <a:ext cx="11091672" cy="0"/>
          </a:xfrm>
          <a:prstGeom prst="line">
            <a:avLst/>
          </a:prstGeom>
          <a:ln w="6350">
            <a:solidFill>
              <a:srgbClr val="D4D1CA"/>
            </a:solidFill>
          </a:ln>
        </p:spPr>
        <p:style>
          <a:lnRef idx="2">
            <a:schemeClr val="accent1"/>
          </a:lnRef>
          <a:fillRef idx="0">
            <a:schemeClr val="accent1"/>
          </a:fillRef>
          <a:effectRef idx="1">
            <a:schemeClr val="accent1"/>
          </a:effectRef>
          <a:fontRef idx="minor">
            <a:schemeClr val="tx1"/>
          </a:fontRef>
        </p:style>
      </p:cxnSp>
      <p:sp>
        <p:nvSpPr>
          <p:cNvPr id="53" name="TextBox 52"/>
          <p:cNvSpPr txBox="1"/>
          <p:nvPr/>
        </p:nvSpPr>
        <p:spPr>
          <a:xfrm>
            <a:off x="548640" y="5029200"/>
            <a:ext cx="7315200" cy="274320"/>
          </a:xfrm>
          <a:prstGeom prst="rect">
            <a:avLst/>
          </a:prstGeom>
          <a:noFill/>
        </p:spPr>
        <p:txBody>
          <a:bodyPr wrap="square" lIns="0" tIns="18288" rIns="0" bIns="18288" anchor="t">
            <a:spAutoFit/>
          </a:bodyPr>
          <a:lstStyle/>
          <a:p>
            <a:pPr algn="l">
              <a:lnSpc>
                <a:spcPct val="115000"/>
              </a:lnSpc>
            </a:pPr>
            <a:r>
              <a:rPr sz="1000" b="0" i="0" spc="80">
                <a:solidFill>
                  <a:srgbClr val="1F5FA8"/>
                </a:solidFill>
                <a:latin typeface="Courier New"/>
              </a:rPr>
              <a:t>RESULT</a:t>
            </a:r>
          </a:p>
        </p:txBody>
      </p:sp>
      <p:sp>
        <p:nvSpPr>
          <p:cNvPr id="54" name="Rectangle 53"/>
          <p:cNvSpPr/>
          <p:nvPr/>
        </p:nvSpPr>
        <p:spPr>
          <a:xfrm>
            <a:off x="548640" y="5349240"/>
            <a:ext cx="1508760" cy="502920"/>
          </a:xfrm>
          <a:prstGeom prst="rect">
            <a:avLst/>
          </a:prstGeom>
          <a:solidFill>
            <a:srgbClr val="F6F4EE"/>
          </a:solidFill>
          <a:ln w="6350">
            <a:solidFill>
              <a:srgbClr val="D4D1C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548640" y="5422392"/>
            <a:ext cx="1508760" cy="457200"/>
          </a:xfrm>
          <a:prstGeom prst="rect">
            <a:avLst/>
          </a:prstGeom>
          <a:noFill/>
        </p:spPr>
        <p:txBody>
          <a:bodyPr wrap="square" lIns="0" tIns="18288" rIns="0" bIns="18288" anchor="t">
            <a:spAutoFit/>
          </a:bodyPr>
          <a:lstStyle/>
          <a:p>
            <a:pPr algn="ctr">
              <a:lnSpc>
                <a:spcPct val="115000"/>
              </a:lnSpc>
            </a:pPr>
            <a:r>
              <a:rPr sz="1600" b="0" i="0">
                <a:solidFill>
                  <a:srgbClr val="2C2C2C"/>
                </a:solidFill>
                <a:latin typeface="Courier New"/>
              </a:rPr>
              <a:t>B1</a:t>
            </a:r>
          </a:p>
        </p:txBody>
      </p:sp>
      <p:sp>
        <p:nvSpPr>
          <p:cNvPr id="56" name="TextBox 55"/>
          <p:cNvSpPr txBox="1"/>
          <p:nvPr/>
        </p:nvSpPr>
        <p:spPr>
          <a:xfrm>
            <a:off x="548640" y="5870448"/>
            <a:ext cx="1508760" cy="201168"/>
          </a:xfrm>
          <a:prstGeom prst="rect">
            <a:avLst/>
          </a:prstGeom>
          <a:noFill/>
        </p:spPr>
        <p:txBody>
          <a:bodyPr wrap="square" lIns="0" tIns="18288" rIns="0" bIns="18288" anchor="t">
            <a:spAutoFit/>
          </a:bodyPr>
          <a:lstStyle/>
          <a:p>
            <a:pPr algn="ctr">
              <a:lnSpc>
                <a:spcPct val="115000"/>
              </a:lnSpc>
            </a:pPr>
            <a:r>
              <a:rPr sz="800" b="0" i="0">
                <a:solidFill>
                  <a:srgbClr val="6E6E6E"/>
                </a:solidFill>
                <a:latin typeface="Courier New"/>
              </a:rPr>
              <a:t>p1</a:t>
            </a:r>
          </a:p>
        </p:txBody>
      </p:sp>
      <p:sp>
        <p:nvSpPr>
          <p:cNvPr id="57" name="Rectangle 56"/>
          <p:cNvSpPr/>
          <p:nvPr/>
        </p:nvSpPr>
        <p:spPr>
          <a:xfrm>
            <a:off x="2148840" y="5349240"/>
            <a:ext cx="1508760" cy="502920"/>
          </a:xfrm>
          <a:prstGeom prst="rect">
            <a:avLst/>
          </a:prstGeom>
          <a:solidFill>
            <a:srgbClr val="F6F4EE"/>
          </a:solidFill>
          <a:ln w="6350">
            <a:solidFill>
              <a:srgbClr val="D4D1C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2148840" y="5422392"/>
            <a:ext cx="1508760" cy="457200"/>
          </a:xfrm>
          <a:prstGeom prst="rect">
            <a:avLst/>
          </a:prstGeom>
          <a:noFill/>
        </p:spPr>
        <p:txBody>
          <a:bodyPr wrap="square" lIns="0" tIns="18288" rIns="0" bIns="18288" anchor="t">
            <a:spAutoFit/>
          </a:bodyPr>
          <a:lstStyle/>
          <a:p>
            <a:pPr algn="ctr">
              <a:lnSpc>
                <a:spcPct val="115000"/>
              </a:lnSpc>
            </a:pPr>
            <a:r>
              <a:rPr sz="1600" b="0" i="0">
                <a:solidFill>
                  <a:srgbClr val="2C2C2C"/>
                </a:solidFill>
                <a:latin typeface="Courier New"/>
              </a:rPr>
              <a:t>B1</a:t>
            </a:r>
          </a:p>
        </p:txBody>
      </p:sp>
      <p:sp>
        <p:nvSpPr>
          <p:cNvPr id="59" name="TextBox 58"/>
          <p:cNvSpPr txBox="1"/>
          <p:nvPr/>
        </p:nvSpPr>
        <p:spPr>
          <a:xfrm>
            <a:off x="2148840" y="5870448"/>
            <a:ext cx="1508760" cy="201168"/>
          </a:xfrm>
          <a:prstGeom prst="rect">
            <a:avLst/>
          </a:prstGeom>
          <a:noFill/>
        </p:spPr>
        <p:txBody>
          <a:bodyPr wrap="square" lIns="0" tIns="18288" rIns="0" bIns="18288" anchor="t">
            <a:spAutoFit/>
          </a:bodyPr>
          <a:lstStyle/>
          <a:p>
            <a:pPr algn="ctr">
              <a:lnSpc>
                <a:spcPct val="115000"/>
              </a:lnSpc>
            </a:pPr>
            <a:r>
              <a:rPr sz="800" b="0" i="0">
                <a:solidFill>
                  <a:srgbClr val="6E6E6E"/>
                </a:solidFill>
                <a:latin typeface="Courier New"/>
              </a:rPr>
              <a:t>p2</a:t>
            </a:r>
          </a:p>
        </p:txBody>
      </p:sp>
      <p:sp>
        <p:nvSpPr>
          <p:cNvPr id="60" name="Rectangle 59"/>
          <p:cNvSpPr/>
          <p:nvPr/>
        </p:nvSpPr>
        <p:spPr>
          <a:xfrm>
            <a:off x="3749040" y="5349240"/>
            <a:ext cx="1508760" cy="502920"/>
          </a:xfrm>
          <a:prstGeom prst="rect">
            <a:avLst/>
          </a:prstGeom>
          <a:solidFill>
            <a:srgbClr val="FAECE3"/>
          </a:solidFill>
          <a:ln w="6350">
            <a:solidFill>
              <a:srgbClr val="D4D1C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3749040" y="5422392"/>
            <a:ext cx="1508760" cy="457200"/>
          </a:xfrm>
          <a:prstGeom prst="rect">
            <a:avLst/>
          </a:prstGeom>
          <a:noFill/>
        </p:spPr>
        <p:txBody>
          <a:bodyPr wrap="square" lIns="0" tIns="18288" rIns="0" bIns="18288" anchor="t">
            <a:spAutoFit/>
          </a:bodyPr>
          <a:lstStyle/>
          <a:p>
            <a:pPr algn="ctr">
              <a:lnSpc>
                <a:spcPct val="115000"/>
              </a:lnSpc>
            </a:pPr>
            <a:r>
              <a:rPr sz="1600" b="1" i="0">
                <a:solidFill>
                  <a:srgbClr val="A84B2F"/>
                </a:solidFill>
                <a:latin typeface="Courier New"/>
              </a:rPr>
              <a:t>W</a:t>
            </a:r>
          </a:p>
        </p:txBody>
      </p:sp>
      <p:sp>
        <p:nvSpPr>
          <p:cNvPr id="62" name="TextBox 61"/>
          <p:cNvSpPr txBox="1"/>
          <p:nvPr/>
        </p:nvSpPr>
        <p:spPr>
          <a:xfrm>
            <a:off x="3749040" y="5870448"/>
            <a:ext cx="1508760" cy="201168"/>
          </a:xfrm>
          <a:prstGeom prst="rect">
            <a:avLst/>
          </a:prstGeom>
          <a:noFill/>
        </p:spPr>
        <p:txBody>
          <a:bodyPr wrap="square" lIns="0" tIns="18288" rIns="0" bIns="18288" anchor="t">
            <a:spAutoFit/>
          </a:bodyPr>
          <a:lstStyle/>
          <a:p>
            <a:pPr algn="ctr">
              <a:lnSpc>
                <a:spcPct val="115000"/>
              </a:lnSpc>
            </a:pPr>
            <a:r>
              <a:rPr sz="800" b="0" i="0">
                <a:solidFill>
                  <a:srgbClr val="6E6E6E"/>
                </a:solidFill>
                <a:latin typeface="Courier New"/>
              </a:rPr>
              <a:t>p3</a:t>
            </a:r>
          </a:p>
        </p:txBody>
      </p:sp>
      <p:sp>
        <p:nvSpPr>
          <p:cNvPr id="63" name="Rectangle 62"/>
          <p:cNvSpPr/>
          <p:nvPr/>
        </p:nvSpPr>
        <p:spPr>
          <a:xfrm>
            <a:off x="5349240" y="5349240"/>
            <a:ext cx="1508760" cy="502920"/>
          </a:xfrm>
          <a:prstGeom prst="rect">
            <a:avLst/>
          </a:prstGeom>
          <a:solidFill>
            <a:srgbClr val="F6F4EE"/>
          </a:solidFill>
          <a:ln w="6350">
            <a:solidFill>
              <a:srgbClr val="D4D1C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p:cNvSpPr txBox="1"/>
          <p:nvPr/>
        </p:nvSpPr>
        <p:spPr>
          <a:xfrm>
            <a:off x="5349240" y="5422392"/>
            <a:ext cx="1508760" cy="457200"/>
          </a:xfrm>
          <a:prstGeom prst="rect">
            <a:avLst/>
          </a:prstGeom>
          <a:noFill/>
        </p:spPr>
        <p:txBody>
          <a:bodyPr wrap="square" lIns="0" tIns="18288" rIns="0" bIns="18288" anchor="t">
            <a:spAutoFit/>
          </a:bodyPr>
          <a:lstStyle/>
          <a:p>
            <a:pPr algn="ctr">
              <a:lnSpc>
                <a:spcPct val="115000"/>
              </a:lnSpc>
            </a:pPr>
            <a:r>
              <a:rPr sz="1600" b="0" i="0">
                <a:solidFill>
                  <a:srgbClr val="2C2C2C"/>
                </a:solidFill>
                <a:latin typeface="Courier New"/>
              </a:rPr>
              <a:t>B3</a:t>
            </a:r>
          </a:p>
        </p:txBody>
      </p:sp>
      <p:sp>
        <p:nvSpPr>
          <p:cNvPr id="65" name="TextBox 64"/>
          <p:cNvSpPr txBox="1"/>
          <p:nvPr/>
        </p:nvSpPr>
        <p:spPr>
          <a:xfrm>
            <a:off x="5349240" y="5870448"/>
            <a:ext cx="1508760" cy="201168"/>
          </a:xfrm>
          <a:prstGeom prst="rect">
            <a:avLst/>
          </a:prstGeom>
          <a:noFill/>
        </p:spPr>
        <p:txBody>
          <a:bodyPr wrap="square" lIns="0" tIns="18288" rIns="0" bIns="18288" anchor="t">
            <a:spAutoFit/>
          </a:bodyPr>
          <a:lstStyle/>
          <a:p>
            <a:pPr algn="ctr">
              <a:lnSpc>
                <a:spcPct val="115000"/>
              </a:lnSpc>
            </a:pPr>
            <a:r>
              <a:rPr sz="800" b="0" i="0">
                <a:solidFill>
                  <a:srgbClr val="6E6E6E"/>
                </a:solidFill>
                <a:latin typeface="Courier New"/>
              </a:rPr>
              <a:t>p4</a:t>
            </a:r>
          </a:p>
        </p:txBody>
      </p:sp>
      <p:sp>
        <p:nvSpPr>
          <p:cNvPr id="66" name="Rectangle 65"/>
          <p:cNvSpPr/>
          <p:nvPr/>
        </p:nvSpPr>
        <p:spPr>
          <a:xfrm>
            <a:off x="6949440" y="5349240"/>
            <a:ext cx="1508760" cy="502920"/>
          </a:xfrm>
          <a:prstGeom prst="rect">
            <a:avLst/>
          </a:prstGeom>
          <a:solidFill>
            <a:srgbClr val="FAECE3"/>
          </a:solidFill>
          <a:ln w="6350">
            <a:solidFill>
              <a:srgbClr val="D4D1C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6949440" y="5422392"/>
            <a:ext cx="1508760" cy="457200"/>
          </a:xfrm>
          <a:prstGeom prst="rect">
            <a:avLst/>
          </a:prstGeom>
          <a:noFill/>
        </p:spPr>
        <p:txBody>
          <a:bodyPr wrap="square" lIns="0" tIns="18288" rIns="0" bIns="18288" anchor="t">
            <a:spAutoFit/>
          </a:bodyPr>
          <a:lstStyle/>
          <a:p>
            <a:pPr algn="ctr">
              <a:lnSpc>
                <a:spcPct val="115000"/>
              </a:lnSpc>
            </a:pPr>
            <a:r>
              <a:rPr sz="1600" b="1" i="0">
                <a:solidFill>
                  <a:srgbClr val="A84B2F"/>
                </a:solidFill>
                <a:latin typeface="Courier New"/>
              </a:rPr>
              <a:t>W</a:t>
            </a:r>
          </a:p>
        </p:txBody>
      </p:sp>
      <p:sp>
        <p:nvSpPr>
          <p:cNvPr id="68" name="TextBox 67"/>
          <p:cNvSpPr txBox="1"/>
          <p:nvPr/>
        </p:nvSpPr>
        <p:spPr>
          <a:xfrm>
            <a:off x="6949440" y="5870448"/>
            <a:ext cx="1508760" cy="201168"/>
          </a:xfrm>
          <a:prstGeom prst="rect">
            <a:avLst/>
          </a:prstGeom>
          <a:noFill/>
        </p:spPr>
        <p:txBody>
          <a:bodyPr wrap="square" lIns="0" tIns="18288" rIns="0" bIns="18288" anchor="t">
            <a:spAutoFit/>
          </a:bodyPr>
          <a:lstStyle/>
          <a:p>
            <a:pPr algn="ctr">
              <a:lnSpc>
                <a:spcPct val="115000"/>
              </a:lnSpc>
            </a:pPr>
            <a:r>
              <a:rPr sz="800" b="0" i="0">
                <a:solidFill>
                  <a:srgbClr val="6E6E6E"/>
                </a:solidFill>
                <a:latin typeface="Courier New"/>
              </a:rPr>
              <a:t>p5</a:t>
            </a:r>
          </a:p>
        </p:txBody>
      </p:sp>
      <p:sp>
        <p:nvSpPr>
          <p:cNvPr id="69" name="Rectangle 68"/>
          <p:cNvSpPr/>
          <p:nvPr/>
        </p:nvSpPr>
        <p:spPr>
          <a:xfrm>
            <a:off x="8549640" y="5349240"/>
            <a:ext cx="1508760" cy="502920"/>
          </a:xfrm>
          <a:prstGeom prst="rect">
            <a:avLst/>
          </a:prstGeom>
          <a:solidFill>
            <a:srgbClr val="F6F4EE"/>
          </a:solidFill>
          <a:ln w="6350">
            <a:solidFill>
              <a:srgbClr val="D4D1C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TextBox 69"/>
          <p:cNvSpPr txBox="1"/>
          <p:nvPr/>
        </p:nvSpPr>
        <p:spPr>
          <a:xfrm>
            <a:off x="8549640" y="5422392"/>
            <a:ext cx="1508760" cy="457200"/>
          </a:xfrm>
          <a:prstGeom prst="rect">
            <a:avLst/>
          </a:prstGeom>
          <a:noFill/>
        </p:spPr>
        <p:txBody>
          <a:bodyPr wrap="square" lIns="0" tIns="18288" rIns="0" bIns="18288" anchor="t">
            <a:spAutoFit/>
          </a:bodyPr>
          <a:lstStyle/>
          <a:p>
            <a:pPr algn="ctr">
              <a:lnSpc>
                <a:spcPct val="115000"/>
              </a:lnSpc>
            </a:pPr>
            <a:r>
              <a:rPr sz="1600" b="0" i="0">
                <a:solidFill>
                  <a:srgbClr val="2C2C2C"/>
                </a:solidFill>
                <a:latin typeface="Courier New"/>
              </a:rPr>
              <a:t>B2</a:t>
            </a:r>
          </a:p>
        </p:txBody>
      </p:sp>
      <p:sp>
        <p:nvSpPr>
          <p:cNvPr id="71" name="TextBox 70"/>
          <p:cNvSpPr txBox="1"/>
          <p:nvPr/>
        </p:nvSpPr>
        <p:spPr>
          <a:xfrm>
            <a:off x="8549640" y="5870448"/>
            <a:ext cx="1508760" cy="201168"/>
          </a:xfrm>
          <a:prstGeom prst="rect">
            <a:avLst/>
          </a:prstGeom>
          <a:noFill/>
        </p:spPr>
        <p:txBody>
          <a:bodyPr wrap="square" lIns="0" tIns="18288" rIns="0" bIns="18288" anchor="t">
            <a:spAutoFit/>
          </a:bodyPr>
          <a:lstStyle/>
          <a:p>
            <a:pPr algn="ctr">
              <a:lnSpc>
                <a:spcPct val="115000"/>
              </a:lnSpc>
            </a:pPr>
            <a:r>
              <a:rPr sz="800" b="0" i="0">
                <a:solidFill>
                  <a:srgbClr val="6E6E6E"/>
                </a:solidFill>
                <a:latin typeface="Courier New"/>
              </a:rPr>
              <a:t>p6</a:t>
            </a:r>
          </a:p>
        </p:txBody>
      </p:sp>
      <p:sp>
        <p:nvSpPr>
          <p:cNvPr id="72" name="Rectangle 71"/>
          <p:cNvSpPr/>
          <p:nvPr/>
        </p:nvSpPr>
        <p:spPr>
          <a:xfrm>
            <a:off x="10149840" y="5349240"/>
            <a:ext cx="1508760" cy="502920"/>
          </a:xfrm>
          <a:prstGeom prst="rect">
            <a:avLst/>
          </a:prstGeom>
          <a:solidFill>
            <a:srgbClr val="F6F4EE"/>
          </a:solidFill>
          <a:ln w="6350">
            <a:solidFill>
              <a:srgbClr val="D4D1C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TextBox 72"/>
          <p:cNvSpPr txBox="1"/>
          <p:nvPr/>
        </p:nvSpPr>
        <p:spPr>
          <a:xfrm>
            <a:off x="10149840" y="5422392"/>
            <a:ext cx="1508760" cy="457200"/>
          </a:xfrm>
          <a:prstGeom prst="rect">
            <a:avLst/>
          </a:prstGeom>
          <a:noFill/>
        </p:spPr>
        <p:txBody>
          <a:bodyPr wrap="square" lIns="0" tIns="18288" rIns="0" bIns="18288" anchor="t">
            <a:spAutoFit/>
          </a:bodyPr>
          <a:lstStyle/>
          <a:p>
            <a:pPr algn="ctr">
              <a:lnSpc>
                <a:spcPct val="115000"/>
              </a:lnSpc>
            </a:pPr>
            <a:r>
              <a:rPr sz="1600" b="0" i="0">
                <a:solidFill>
                  <a:srgbClr val="2C2C2C"/>
                </a:solidFill>
                <a:latin typeface="Courier New"/>
              </a:rPr>
              <a:t>B2</a:t>
            </a:r>
          </a:p>
        </p:txBody>
      </p:sp>
      <p:sp>
        <p:nvSpPr>
          <p:cNvPr id="74" name="TextBox 73"/>
          <p:cNvSpPr txBox="1"/>
          <p:nvPr/>
        </p:nvSpPr>
        <p:spPr>
          <a:xfrm>
            <a:off x="10149840" y="5870448"/>
            <a:ext cx="1508760" cy="201168"/>
          </a:xfrm>
          <a:prstGeom prst="rect">
            <a:avLst/>
          </a:prstGeom>
          <a:noFill/>
        </p:spPr>
        <p:txBody>
          <a:bodyPr wrap="square" lIns="0" tIns="18288" rIns="0" bIns="18288" anchor="t">
            <a:spAutoFit/>
          </a:bodyPr>
          <a:lstStyle/>
          <a:p>
            <a:pPr algn="ctr">
              <a:lnSpc>
                <a:spcPct val="115000"/>
              </a:lnSpc>
            </a:pPr>
            <a:r>
              <a:rPr sz="800" b="0" i="0">
                <a:solidFill>
                  <a:srgbClr val="6E6E6E"/>
                </a:solidFill>
                <a:latin typeface="Courier New"/>
              </a:rPr>
              <a:t>p7</a:t>
            </a:r>
          </a:p>
        </p:txBody>
      </p:sp>
      <p:sp>
        <p:nvSpPr>
          <p:cNvPr id="75" name="TextBox 74"/>
          <p:cNvSpPr txBox="1"/>
          <p:nvPr/>
        </p:nvSpPr>
        <p:spPr>
          <a:xfrm>
            <a:off x="548640" y="6199632"/>
            <a:ext cx="10972800" cy="182880"/>
          </a:xfrm>
          <a:prstGeom prst="rect">
            <a:avLst/>
          </a:prstGeom>
          <a:noFill/>
        </p:spPr>
        <p:txBody>
          <a:bodyPr wrap="square" lIns="0" tIns="18288" rIns="0" bIns="18288" anchor="t">
            <a:spAutoFit/>
          </a:bodyPr>
          <a:lstStyle/>
          <a:p>
            <a:pPr algn="l">
              <a:lnSpc>
                <a:spcPct val="115000"/>
              </a:lnSpc>
            </a:pPr>
            <a:r>
              <a:rPr sz="1000" b="0" i="1">
                <a:solidFill>
                  <a:srgbClr val="6E6E6E"/>
                </a:solidFill>
                <a:latin typeface="Calibri"/>
              </a:rPr>
              <a:t>Three basins from two objects — that extra basin around the peak is over-segmentation in miniature. We fix it next.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A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7315200" cy="208134"/>
          </a:xfrm>
          <a:prstGeom prst="rect">
            <a:avLst/>
          </a:prstGeom>
          <a:noFill/>
        </p:spPr>
        <p:txBody>
          <a:bodyPr wrap="square" lIns="0" tIns="18288" rIns="0" bIns="18288" anchor="t">
            <a:spAutoFit/>
          </a:bodyPr>
          <a:lstStyle/>
          <a:p>
            <a:pPr algn="l">
              <a:lnSpc>
                <a:spcPct val="115000"/>
              </a:lnSpc>
            </a:pPr>
            <a:r>
              <a:rPr sz="1000" b="0" i="0" spc="50" dirty="0">
                <a:solidFill>
                  <a:srgbClr val="6E6E6E"/>
                </a:solidFill>
                <a:latin typeface="Courier New"/>
              </a:rPr>
              <a:t>Application  Bubble Segmentation</a:t>
            </a:r>
          </a:p>
        </p:txBody>
      </p:sp>
      <p:sp>
        <p:nvSpPr>
          <p:cNvPr id="5" name="TextBox 4"/>
          <p:cNvSpPr txBox="1"/>
          <p:nvPr/>
        </p:nvSpPr>
        <p:spPr>
          <a:xfrm>
            <a:off x="548640" y="6400800"/>
            <a:ext cx="7315200" cy="274320"/>
          </a:xfrm>
          <a:prstGeom prst="rect">
            <a:avLst/>
          </a:prstGeom>
          <a:noFill/>
        </p:spPr>
        <p:txBody>
          <a:bodyPr wrap="square" lIns="0" tIns="18288" rIns="0" bIns="18288" anchor="t">
            <a:spAutoFit/>
          </a:bodyPr>
          <a:lstStyle/>
          <a:p>
            <a:pPr algn="l">
              <a:lnSpc>
                <a:spcPct val="115000"/>
              </a:lnSpc>
            </a:pPr>
            <a:r>
              <a:rPr sz="1000" b="0" i="0" spc="30">
                <a:solidFill>
                  <a:srgbClr val="6E6E6E"/>
                </a:solidFill>
                <a:latin typeface="Courier New"/>
              </a:rPr>
              <a:t>11 — Bubble example</a:t>
            </a:r>
          </a:p>
        </p:txBody>
      </p:sp>
      <p:sp>
        <p:nvSpPr>
          <p:cNvPr id="6" name="TextBox 5"/>
          <p:cNvSpPr txBox="1"/>
          <p:nvPr/>
        </p:nvSpPr>
        <p:spPr>
          <a:xfrm>
            <a:off x="548640" y="960120"/>
            <a:ext cx="7315200" cy="274320"/>
          </a:xfrm>
          <a:prstGeom prst="rect">
            <a:avLst/>
          </a:prstGeom>
          <a:noFill/>
        </p:spPr>
        <p:txBody>
          <a:bodyPr wrap="square" lIns="0" tIns="18288" rIns="0" bIns="18288" anchor="t">
            <a:spAutoFit/>
          </a:bodyPr>
          <a:lstStyle/>
          <a:p>
            <a:pPr algn="l">
              <a:lnSpc>
                <a:spcPct val="115000"/>
              </a:lnSpc>
            </a:pPr>
            <a:r>
              <a:rPr sz="1000" b="0" i="0" spc="80">
                <a:solidFill>
                  <a:srgbClr val="1F5FA8"/>
                </a:solidFill>
                <a:latin typeface="Courier New"/>
              </a:rPr>
              <a:t>SAME IDEA IN 2D  ·  SIMPLIFIED SCHEMATIC</a:t>
            </a:r>
          </a:p>
        </p:txBody>
      </p:sp>
      <p:sp>
        <p:nvSpPr>
          <p:cNvPr id="7" name="TextBox 6"/>
          <p:cNvSpPr txBox="1"/>
          <p:nvPr/>
        </p:nvSpPr>
        <p:spPr>
          <a:xfrm>
            <a:off x="502920" y="1325880"/>
            <a:ext cx="11430000" cy="1097280"/>
          </a:xfrm>
          <a:prstGeom prst="rect">
            <a:avLst/>
          </a:prstGeom>
          <a:noFill/>
        </p:spPr>
        <p:txBody>
          <a:bodyPr wrap="square" lIns="0" tIns="18288" rIns="0" bIns="18288" anchor="t">
            <a:spAutoFit/>
          </a:bodyPr>
          <a:lstStyle/>
          <a:p>
            <a:pPr algn="l">
              <a:lnSpc>
                <a:spcPct val="105000"/>
              </a:lnSpc>
            </a:pPr>
            <a:r>
              <a:rPr sz="3400" b="0" i="0">
                <a:solidFill>
                  <a:srgbClr val="1A1A1A"/>
                </a:solidFill>
                <a:latin typeface="Georgia"/>
              </a:rPr>
              <a:t>Why </a:t>
            </a:r>
            <a:r>
              <a:rPr sz="3400" b="0" i="1">
                <a:solidFill>
                  <a:srgbClr val="1A1A1A"/>
                </a:solidFill>
                <a:latin typeface="Georgia"/>
              </a:rPr>
              <a:t>g(f)</a:t>
            </a:r>
            <a:r>
              <a:rPr sz="3400" b="0" i="0">
                <a:solidFill>
                  <a:srgbClr val="1A1A1A"/>
                </a:solidFill>
                <a:latin typeface="Georgia"/>
              </a:rPr>
              <a:t> wins on a real image.</a:t>
            </a:r>
          </a:p>
        </p:txBody>
      </p:sp>
      <p:sp>
        <p:nvSpPr>
          <p:cNvPr id="8" name="Rounded Rectangle 7"/>
          <p:cNvSpPr/>
          <p:nvPr/>
        </p:nvSpPr>
        <p:spPr>
          <a:xfrm>
            <a:off x="548640" y="2697480"/>
            <a:ext cx="5486400" cy="3291840"/>
          </a:xfrm>
          <a:prstGeom prst="roundRect">
            <a:avLst>
              <a:gd name="adj" fmla="val 6000"/>
            </a:avLst>
          </a:prstGeom>
          <a:solidFill>
            <a:srgbClr val="F6F4EE"/>
          </a:solidFill>
          <a:ln w="6350">
            <a:solidFill>
              <a:srgbClr val="D4D1C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22960" y="2926080"/>
            <a:ext cx="5029200" cy="274320"/>
          </a:xfrm>
          <a:prstGeom prst="rect">
            <a:avLst/>
          </a:prstGeom>
          <a:noFill/>
        </p:spPr>
        <p:txBody>
          <a:bodyPr wrap="square" lIns="0" tIns="18288" rIns="0" bIns="18288" anchor="t">
            <a:spAutoFit/>
          </a:bodyPr>
          <a:lstStyle/>
          <a:p>
            <a:pPr algn="l">
              <a:lnSpc>
                <a:spcPct val="115000"/>
              </a:lnSpc>
            </a:pPr>
            <a:r>
              <a:rPr sz="1000" b="0" i="0" spc="80">
                <a:solidFill>
                  <a:srgbClr val="1F5FA8"/>
                </a:solidFill>
                <a:latin typeface="Courier New"/>
              </a:rPr>
              <a:t>WATERSHED ON F  ·  RAW INTENSITY</a:t>
            </a:r>
          </a:p>
        </p:txBody>
      </p:sp>
      <p:sp>
        <p:nvSpPr>
          <p:cNvPr id="10" name="TextBox 9"/>
          <p:cNvSpPr txBox="1"/>
          <p:nvPr/>
        </p:nvSpPr>
        <p:spPr>
          <a:xfrm>
            <a:off x="822960" y="3246120"/>
            <a:ext cx="4937760" cy="457200"/>
          </a:xfrm>
          <a:prstGeom prst="rect">
            <a:avLst/>
          </a:prstGeom>
          <a:noFill/>
        </p:spPr>
        <p:txBody>
          <a:bodyPr wrap="square" lIns="0" tIns="18288" rIns="0" bIns="18288" anchor="t">
            <a:spAutoFit/>
          </a:bodyPr>
          <a:lstStyle/>
          <a:p>
            <a:pPr algn="l">
              <a:lnSpc>
                <a:spcPct val="115000"/>
              </a:lnSpc>
            </a:pPr>
            <a:r>
              <a:rPr sz="1600" b="0" i="0">
                <a:solidFill>
                  <a:srgbClr val="1A1A1A"/>
                </a:solidFill>
                <a:latin typeface="Georgia"/>
              </a:rPr>
              <a:t>Lines cut through bubble interiors.</a:t>
            </a:r>
          </a:p>
        </p:txBody>
      </p:sp>
      <p:sp>
        <p:nvSpPr>
          <p:cNvPr id="11" name="Oval 10"/>
          <p:cNvSpPr/>
          <p:nvPr/>
        </p:nvSpPr>
        <p:spPr>
          <a:xfrm>
            <a:off x="2160179" y="4555907"/>
            <a:ext cx="434522" cy="434522"/>
          </a:xfrm>
          <a:prstGeom prst="ellipse">
            <a:avLst/>
          </a:prstGeom>
          <a:noFill/>
          <a:ln w="19050">
            <a:solidFill>
              <a:srgbClr val="1A1A1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2" name="Connector 11"/>
          <p:cNvCxnSpPr/>
          <p:nvPr/>
        </p:nvCxnSpPr>
        <p:spPr>
          <a:xfrm>
            <a:off x="2377440" y="4555907"/>
            <a:ext cx="0" cy="434522"/>
          </a:xfrm>
          <a:prstGeom prst="line">
            <a:avLst/>
          </a:prstGeom>
          <a:ln w="19050">
            <a:solidFill>
              <a:srgbClr val="A84B2F"/>
            </a:solidFill>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3642970" y="4447642"/>
            <a:ext cx="395020" cy="395020"/>
          </a:xfrm>
          <a:prstGeom prst="ellipse">
            <a:avLst/>
          </a:prstGeom>
          <a:noFill/>
          <a:ln w="19050">
            <a:solidFill>
              <a:srgbClr val="1A1A1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4" name="Connector 13"/>
          <p:cNvCxnSpPr/>
          <p:nvPr/>
        </p:nvCxnSpPr>
        <p:spPr>
          <a:xfrm>
            <a:off x="3840480" y="4447642"/>
            <a:ext cx="0" cy="395020"/>
          </a:xfrm>
          <a:prstGeom prst="line">
            <a:avLst/>
          </a:prstGeom>
          <a:ln w="19050">
            <a:solidFill>
              <a:srgbClr val="A84B2F"/>
            </a:solidFill>
          </a:ln>
        </p:spPr>
        <p:style>
          <a:lnRef idx="2">
            <a:schemeClr val="accent1"/>
          </a:lnRef>
          <a:fillRef idx="0">
            <a:schemeClr val="accent1"/>
          </a:fillRef>
          <a:effectRef idx="1">
            <a:schemeClr val="accent1"/>
          </a:effectRef>
          <a:fontRef idx="minor">
            <a:schemeClr val="tx1"/>
          </a:fontRef>
        </p:style>
      </p:cxnSp>
      <p:sp>
        <p:nvSpPr>
          <p:cNvPr id="15" name="Oval 14"/>
          <p:cNvSpPr/>
          <p:nvPr/>
        </p:nvSpPr>
        <p:spPr>
          <a:xfrm>
            <a:off x="4394241" y="4813036"/>
            <a:ext cx="355518" cy="355518"/>
          </a:xfrm>
          <a:prstGeom prst="ellipse">
            <a:avLst/>
          </a:prstGeom>
          <a:noFill/>
          <a:ln w="19050">
            <a:solidFill>
              <a:srgbClr val="1A1A1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6" name="Connector 15"/>
          <p:cNvCxnSpPr/>
          <p:nvPr/>
        </p:nvCxnSpPr>
        <p:spPr>
          <a:xfrm>
            <a:off x="4572000" y="4813036"/>
            <a:ext cx="0" cy="355518"/>
          </a:xfrm>
          <a:prstGeom prst="line">
            <a:avLst/>
          </a:prstGeom>
          <a:ln w="19050">
            <a:solidFill>
              <a:srgbClr val="A84B2F"/>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822960" y="5532120"/>
            <a:ext cx="4937760" cy="365760"/>
          </a:xfrm>
          <a:prstGeom prst="rect">
            <a:avLst/>
          </a:prstGeom>
          <a:noFill/>
        </p:spPr>
        <p:txBody>
          <a:bodyPr wrap="square" lIns="0" tIns="18288" rIns="0" bIns="18288" anchor="t">
            <a:spAutoFit/>
          </a:bodyPr>
          <a:lstStyle/>
          <a:p>
            <a:pPr algn="l">
              <a:lnSpc>
                <a:spcPct val="115000"/>
              </a:lnSpc>
            </a:pPr>
            <a:r>
              <a:rPr sz="1100" b="0" i="1">
                <a:solidFill>
                  <a:srgbClr val="6E6E6E"/>
                </a:solidFill>
                <a:latin typeface="Calibri"/>
              </a:rPr>
              <a:t>Dark centres seed basins → red dams cut bubbles in half.</a:t>
            </a:r>
          </a:p>
        </p:txBody>
      </p:sp>
      <p:sp>
        <p:nvSpPr>
          <p:cNvPr id="18" name="Rounded Rectangle 17"/>
          <p:cNvSpPr/>
          <p:nvPr/>
        </p:nvSpPr>
        <p:spPr>
          <a:xfrm>
            <a:off x="6309360" y="2697480"/>
            <a:ext cx="5486400" cy="3291840"/>
          </a:xfrm>
          <a:prstGeom prst="roundRect">
            <a:avLst>
              <a:gd name="adj" fmla="val 6000"/>
            </a:avLst>
          </a:prstGeom>
          <a:solidFill>
            <a:srgbClr val="F6F4EE"/>
          </a:solidFill>
          <a:ln w="6350">
            <a:solidFill>
              <a:srgbClr val="D4D1C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583680" y="2926080"/>
            <a:ext cx="5029200" cy="274320"/>
          </a:xfrm>
          <a:prstGeom prst="rect">
            <a:avLst/>
          </a:prstGeom>
          <a:noFill/>
        </p:spPr>
        <p:txBody>
          <a:bodyPr wrap="square" lIns="0" tIns="18288" rIns="0" bIns="18288" anchor="t">
            <a:spAutoFit/>
          </a:bodyPr>
          <a:lstStyle/>
          <a:p>
            <a:pPr algn="l">
              <a:lnSpc>
                <a:spcPct val="115000"/>
              </a:lnSpc>
            </a:pPr>
            <a:r>
              <a:rPr sz="1000" b="0" i="0" spc="80">
                <a:solidFill>
                  <a:srgbClr val="1F5FA8"/>
                </a:solidFill>
                <a:latin typeface="Courier New"/>
              </a:rPr>
              <a:t>WATERSHED ON G(F)  ·  GRADIENT</a:t>
            </a:r>
          </a:p>
        </p:txBody>
      </p:sp>
      <p:sp>
        <p:nvSpPr>
          <p:cNvPr id="20" name="TextBox 19"/>
          <p:cNvSpPr txBox="1"/>
          <p:nvPr/>
        </p:nvSpPr>
        <p:spPr>
          <a:xfrm>
            <a:off x="6583680" y="3246120"/>
            <a:ext cx="4937760" cy="457200"/>
          </a:xfrm>
          <a:prstGeom prst="rect">
            <a:avLst/>
          </a:prstGeom>
          <a:noFill/>
        </p:spPr>
        <p:txBody>
          <a:bodyPr wrap="square" lIns="0" tIns="18288" rIns="0" bIns="18288" anchor="t">
            <a:spAutoFit/>
          </a:bodyPr>
          <a:lstStyle/>
          <a:p>
            <a:pPr algn="l">
              <a:lnSpc>
                <a:spcPct val="115000"/>
              </a:lnSpc>
            </a:pPr>
            <a:r>
              <a:rPr sz="1600" b="0" i="0">
                <a:solidFill>
                  <a:srgbClr val="1A1A1A"/>
                </a:solidFill>
                <a:latin typeface="Georgia"/>
              </a:rPr>
              <a:t>Ridges trace bubble contours.</a:t>
            </a:r>
          </a:p>
        </p:txBody>
      </p:sp>
      <p:sp>
        <p:nvSpPr>
          <p:cNvPr id="21" name="Oval 20"/>
          <p:cNvSpPr/>
          <p:nvPr/>
        </p:nvSpPr>
        <p:spPr>
          <a:xfrm>
            <a:off x="7920899" y="4555907"/>
            <a:ext cx="434522" cy="434522"/>
          </a:xfrm>
          <a:prstGeom prst="ellipse">
            <a:avLst/>
          </a:prstGeom>
          <a:noFill/>
          <a:ln w="31750">
            <a:solidFill>
              <a:srgbClr val="A84B2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9403690" y="4447642"/>
            <a:ext cx="395020" cy="395020"/>
          </a:xfrm>
          <a:prstGeom prst="ellipse">
            <a:avLst/>
          </a:prstGeom>
          <a:noFill/>
          <a:ln w="31750">
            <a:solidFill>
              <a:srgbClr val="A84B2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10154961" y="4813036"/>
            <a:ext cx="355518" cy="355518"/>
          </a:xfrm>
          <a:prstGeom prst="ellipse">
            <a:avLst/>
          </a:prstGeom>
          <a:noFill/>
          <a:ln w="31750">
            <a:solidFill>
              <a:srgbClr val="A84B2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583680" y="5532120"/>
            <a:ext cx="4937760" cy="365760"/>
          </a:xfrm>
          <a:prstGeom prst="rect">
            <a:avLst/>
          </a:prstGeom>
          <a:noFill/>
        </p:spPr>
        <p:txBody>
          <a:bodyPr wrap="square" lIns="0" tIns="18288" rIns="0" bIns="18288" anchor="t">
            <a:spAutoFit/>
          </a:bodyPr>
          <a:lstStyle/>
          <a:p>
            <a:pPr algn="l">
              <a:lnSpc>
                <a:spcPct val="115000"/>
              </a:lnSpc>
            </a:pPr>
            <a:r>
              <a:rPr sz="1100" b="0" i="1">
                <a:solidFill>
                  <a:srgbClr val="6E6E6E"/>
                </a:solidFill>
                <a:latin typeface="Calibri"/>
              </a:rPr>
              <a:t>Red contours = watershed lines on g(f). Blue dots = basin seeds.</a:t>
            </a:r>
          </a:p>
        </p:txBody>
      </p:sp>
      <p:sp>
        <p:nvSpPr>
          <p:cNvPr id="25" name="TextBox 24"/>
          <p:cNvSpPr txBox="1"/>
          <p:nvPr/>
        </p:nvSpPr>
        <p:spPr>
          <a:xfrm>
            <a:off x="548640" y="6217920"/>
            <a:ext cx="11155680" cy="274320"/>
          </a:xfrm>
          <a:prstGeom prst="rect">
            <a:avLst/>
          </a:prstGeom>
          <a:noFill/>
        </p:spPr>
        <p:txBody>
          <a:bodyPr wrap="square" lIns="0" tIns="18288" rIns="0" bIns="18288" anchor="t">
            <a:spAutoFit/>
          </a:bodyPr>
          <a:lstStyle/>
          <a:p>
            <a:pPr algn="l">
              <a:lnSpc>
                <a:spcPct val="115000"/>
              </a:lnSpc>
            </a:pPr>
            <a:r>
              <a:rPr sz="1100" b="0" i="1">
                <a:solidFill>
                  <a:srgbClr val="6E6E6E"/>
                </a:solidFill>
                <a:latin typeface="Calibri"/>
              </a:rPr>
              <a:t>Schematic only — based on the canonical bubble demo from Beucher &amp; Meyer (1993). Not a real micrograph.</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A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7315200" cy="208134"/>
          </a:xfrm>
          <a:prstGeom prst="rect">
            <a:avLst/>
          </a:prstGeom>
          <a:noFill/>
        </p:spPr>
        <p:txBody>
          <a:bodyPr wrap="square" lIns="0" tIns="18288" rIns="0" bIns="18288" anchor="t">
            <a:spAutoFit/>
          </a:bodyPr>
          <a:lstStyle/>
          <a:p>
            <a:pPr algn="l">
              <a:lnSpc>
                <a:spcPct val="115000"/>
              </a:lnSpc>
            </a:pPr>
            <a:r>
              <a:rPr sz="1000" b="0" i="0" spc="50" dirty="0">
                <a:solidFill>
                  <a:srgbClr val="6E6E6E"/>
                </a:solidFill>
                <a:latin typeface="Courier New"/>
              </a:rPr>
              <a:t>Over-Segmentation</a:t>
            </a:r>
          </a:p>
        </p:txBody>
      </p:sp>
      <p:sp>
        <p:nvSpPr>
          <p:cNvPr id="5" name="TextBox 4"/>
          <p:cNvSpPr txBox="1"/>
          <p:nvPr/>
        </p:nvSpPr>
        <p:spPr>
          <a:xfrm>
            <a:off x="548640" y="6400800"/>
            <a:ext cx="7315200" cy="274320"/>
          </a:xfrm>
          <a:prstGeom prst="rect">
            <a:avLst/>
          </a:prstGeom>
          <a:noFill/>
        </p:spPr>
        <p:txBody>
          <a:bodyPr wrap="square" lIns="0" tIns="18288" rIns="0" bIns="18288" anchor="t">
            <a:spAutoFit/>
          </a:bodyPr>
          <a:lstStyle/>
          <a:p>
            <a:pPr algn="l">
              <a:lnSpc>
                <a:spcPct val="115000"/>
              </a:lnSpc>
            </a:pPr>
            <a:r>
              <a:rPr sz="1000" b="0" i="0" spc="30">
                <a:solidFill>
                  <a:srgbClr val="6E6E6E"/>
                </a:solidFill>
                <a:latin typeface="Courier New"/>
              </a:rPr>
              <a:t>12 — Over-segmentation</a:t>
            </a:r>
          </a:p>
        </p:txBody>
      </p:sp>
      <p:sp>
        <p:nvSpPr>
          <p:cNvPr id="6" name="TextBox 5"/>
          <p:cNvSpPr txBox="1"/>
          <p:nvPr/>
        </p:nvSpPr>
        <p:spPr>
          <a:xfrm>
            <a:off x="548640" y="960120"/>
            <a:ext cx="5486400" cy="274320"/>
          </a:xfrm>
          <a:prstGeom prst="rect">
            <a:avLst/>
          </a:prstGeom>
          <a:noFill/>
        </p:spPr>
        <p:txBody>
          <a:bodyPr wrap="square" lIns="0" tIns="18288" rIns="0" bIns="18288" anchor="t">
            <a:spAutoFit/>
          </a:bodyPr>
          <a:lstStyle/>
          <a:p>
            <a:pPr algn="l">
              <a:lnSpc>
                <a:spcPct val="115000"/>
              </a:lnSpc>
            </a:pPr>
            <a:r>
              <a:rPr sz="1000" b="0" i="0" spc="80">
                <a:solidFill>
                  <a:srgbClr val="1F5FA8"/>
                </a:solidFill>
                <a:latin typeface="Courier New"/>
              </a:rPr>
              <a:t>THE CATCH</a:t>
            </a:r>
          </a:p>
        </p:txBody>
      </p:sp>
      <p:sp>
        <p:nvSpPr>
          <p:cNvPr id="7" name="TextBox 6"/>
          <p:cNvSpPr txBox="1"/>
          <p:nvPr/>
        </p:nvSpPr>
        <p:spPr>
          <a:xfrm>
            <a:off x="502920" y="1325880"/>
            <a:ext cx="11430000" cy="1097280"/>
          </a:xfrm>
          <a:prstGeom prst="rect">
            <a:avLst/>
          </a:prstGeom>
          <a:noFill/>
        </p:spPr>
        <p:txBody>
          <a:bodyPr wrap="square" lIns="0" tIns="18288" rIns="0" bIns="18288" anchor="t">
            <a:spAutoFit/>
          </a:bodyPr>
          <a:lstStyle/>
          <a:p>
            <a:pPr algn="l">
              <a:lnSpc>
                <a:spcPct val="105000"/>
              </a:lnSpc>
            </a:pPr>
            <a:r>
              <a:rPr sz="3800" b="0" i="0">
                <a:solidFill>
                  <a:srgbClr val="1A1A1A"/>
                </a:solidFill>
                <a:latin typeface="Georgia"/>
              </a:rPr>
              <a:t>Every local minimum becomes a </a:t>
            </a:r>
            <a:r>
              <a:rPr sz="3800" b="0" i="1">
                <a:solidFill>
                  <a:srgbClr val="1A1A1A"/>
                </a:solidFill>
                <a:latin typeface="Georgia"/>
              </a:rPr>
              <a:t>region.</a:t>
            </a:r>
          </a:p>
        </p:txBody>
      </p:sp>
      <p:sp>
        <p:nvSpPr>
          <p:cNvPr id="8" name="Rounded Rectangle 7"/>
          <p:cNvSpPr/>
          <p:nvPr/>
        </p:nvSpPr>
        <p:spPr>
          <a:xfrm>
            <a:off x="548640" y="2926080"/>
            <a:ext cx="5029200" cy="3108960"/>
          </a:xfrm>
          <a:prstGeom prst="roundRect">
            <a:avLst>
              <a:gd name="adj" fmla="val 6000"/>
            </a:avLst>
          </a:prstGeom>
          <a:solidFill>
            <a:srgbClr val="F6F4EE"/>
          </a:solidFill>
          <a:ln w="6350">
            <a:solidFill>
              <a:srgbClr val="D4D1C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14400" y="3246120"/>
            <a:ext cx="4297680" cy="365760"/>
          </a:xfrm>
          <a:prstGeom prst="rect">
            <a:avLst/>
          </a:prstGeom>
          <a:noFill/>
        </p:spPr>
        <p:txBody>
          <a:bodyPr wrap="square" lIns="0" tIns="18288" rIns="0" bIns="18288" anchor="t">
            <a:spAutoFit/>
          </a:bodyPr>
          <a:lstStyle/>
          <a:p>
            <a:pPr algn="l">
              <a:lnSpc>
                <a:spcPct val="115000"/>
              </a:lnSpc>
            </a:pPr>
            <a:r>
              <a:rPr sz="1000" b="0" i="0" spc="80">
                <a:solidFill>
                  <a:srgbClr val="6E6E6E"/>
                </a:solidFill>
                <a:latin typeface="Courier New"/>
              </a:rPr>
              <a:t>TYPICAL 256×256 IMAGE</a:t>
            </a:r>
          </a:p>
        </p:txBody>
      </p:sp>
      <p:sp>
        <p:nvSpPr>
          <p:cNvPr id="10" name="TextBox 9"/>
          <p:cNvSpPr txBox="1"/>
          <p:nvPr/>
        </p:nvSpPr>
        <p:spPr>
          <a:xfrm>
            <a:off x="914400" y="3657600"/>
            <a:ext cx="4297680" cy="1463040"/>
          </a:xfrm>
          <a:prstGeom prst="rect">
            <a:avLst/>
          </a:prstGeom>
          <a:noFill/>
        </p:spPr>
        <p:txBody>
          <a:bodyPr wrap="square" lIns="0" tIns="18288" rIns="0" bIns="18288" anchor="t">
            <a:spAutoFit/>
          </a:bodyPr>
          <a:lstStyle/>
          <a:p>
            <a:pPr algn="l">
              <a:lnSpc>
                <a:spcPct val="115000"/>
              </a:lnSpc>
            </a:pPr>
            <a:r>
              <a:rPr sz="8400" b="0" i="0">
                <a:solidFill>
                  <a:srgbClr val="1F5FA8"/>
                </a:solidFill>
                <a:latin typeface="Georgia"/>
              </a:rPr>
              <a:t>10,000+</a:t>
            </a:r>
          </a:p>
        </p:txBody>
      </p:sp>
      <p:sp>
        <p:nvSpPr>
          <p:cNvPr id="11" name="TextBox 10"/>
          <p:cNvSpPr txBox="1"/>
          <p:nvPr/>
        </p:nvSpPr>
        <p:spPr>
          <a:xfrm>
            <a:off x="914400" y="5120640"/>
            <a:ext cx="4297680" cy="731520"/>
          </a:xfrm>
          <a:prstGeom prst="rect">
            <a:avLst/>
          </a:prstGeom>
          <a:noFill/>
        </p:spPr>
        <p:txBody>
          <a:bodyPr wrap="square" lIns="0" tIns="18288" rIns="0" bIns="18288" anchor="t">
            <a:spAutoFit/>
          </a:bodyPr>
          <a:lstStyle/>
          <a:p>
            <a:pPr algn="l">
              <a:lnSpc>
                <a:spcPct val="140000"/>
              </a:lnSpc>
            </a:pPr>
            <a:r>
              <a:rPr sz="1400" b="0" i="1">
                <a:solidFill>
                  <a:srgbClr val="2C2C2C"/>
                </a:solidFill>
                <a:latin typeface="Calibri"/>
              </a:rPr>
              <a:t>basins from noise, texture, and JPEG artefacts. The output is unusable.</a:t>
            </a:r>
          </a:p>
        </p:txBody>
      </p:sp>
      <p:sp>
        <p:nvSpPr>
          <p:cNvPr id="12" name="TextBox 11"/>
          <p:cNvSpPr txBox="1"/>
          <p:nvPr/>
        </p:nvSpPr>
        <p:spPr>
          <a:xfrm>
            <a:off x="5852160" y="2926080"/>
            <a:ext cx="5852160" cy="365760"/>
          </a:xfrm>
          <a:prstGeom prst="rect">
            <a:avLst/>
          </a:prstGeom>
          <a:noFill/>
        </p:spPr>
        <p:txBody>
          <a:bodyPr wrap="square" lIns="0" tIns="18288" rIns="0" bIns="18288" anchor="t">
            <a:spAutoFit/>
          </a:bodyPr>
          <a:lstStyle/>
          <a:p>
            <a:pPr algn="l">
              <a:lnSpc>
                <a:spcPct val="115000"/>
              </a:lnSpc>
            </a:pPr>
            <a:r>
              <a:rPr sz="1000" b="0" i="0" spc="80">
                <a:solidFill>
                  <a:srgbClr val="1F5FA8"/>
                </a:solidFill>
                <a:latin typeface="Courier New"/>
              </a:rPr>
              <a:t>WHY</a:t>
            </a:r>
          </a:p>
        </p:txBody>
      </p:sp>
      <p:sp>
        <p:nvSpPr>
          <p:cNvPr id="13" name="TextBox 12"/>
          <p:cNvSpPr txBox="1"/>
          <p:nvPr/>
        </p:nvSpPr>
        <p:spPr>
          <a:xfrm>
            <a:off x="5852160" y="3337560"/>
            <a:ext cx="5852160" cy="2286000"/>
          </a:xfrm>
          <a:prstGeom prst="rect">
            <a:avLst/>
          </a:prstGeom>
          <a:noFill/>
        </p:spPr>
        <p:txBody>
          <a:bodyPr wrap="square" lIns="0" tIns="18288" rIns="0" bIns="18288" anchor="t">
            <a:spAutoFit/>
          </a:bodyPr>
          <a:lstStyle/>
          <a:p>
            <a:pPr algn="l">
              <a:lnSpc>
                <a:spcPct val="140000"/>
              </a:lnSpc>
            </a:pPr>
            <a:r>
              <a:rPr sz="1700" b="0" i="1">
                <a:solidFill>
                  <a:srgbClr val="2C2C2C"/>
                </a:solidFill>
                <a:latin typeface="Georgia"/>
              </a:rPr>
              <a:t>In theory, </a:t>
            </a:r>
            <a:r>
              <a:rPr sz="1700" b="0" i="1">
                <a:solidFill>
                  <a:srgbClr val="1A1A1A"/>
                </a:solidFill>
                <a:latin typeface="Georgia"/>
              </a:rPr>
              <a:t>k</a:t>
            </a:r>
            <a:r>
              <a:rPr sz="1700" b="0" i="1">
                <a:solidFill>
                  <a:srgbClr val="2C2C2C"/>
                </a:solidFill>
                <a:latin typeface="Georgia"/>
              </a:rPr>
              <a:t> regional minima give exactly </a:t>
            </a:r>
            <a:r>
              <a:rPr sz="1700" b="0" i="1">
                <a:solidFill>
                  <a:srgbClr val="1A1A1A"/>
                </a:solidFill>
                <a:latin typeface="Georgia"/>
              </a:rPr>
              <a:t>k</a:t>
            </a:r>
            <a:r>
              <a:rPr sz="1700" b="0" i="1">
                <a:solidFill>
                  <a:srgbClr val="2C2C2C"/>
                </a:solidFill>
                <a:latin typeface="Georgia"/>
              </a:rPr>
              <a:t> basins. Clean.</a:t>
            </a:r>
          </a:p>
          <a:p>
            <a:pPr algn="l">
              <a:lnSpc>
                <a:spcPct val="140000"/>
              </a:lnSpc>
            </a:pPr>
            <a:endParaRPr sz="1700" b="0" i="1">
              <a:solidFill>
                <a:srgbClr val="2C2C2C"/>
              </a:solidFill>
              <a:latin typeface="Georgia"/>
            </a:endParaRPr>
          </a:p>
          <a:p>
            <a:pPr algn="l">
              <a:lnSpc>
                <a:spcPct val="140000"/>
              </a:lnSpc>
            </a:pPr>
            <a:r>
              <a:rPr sz="1400" b="0" i="0">
                <a:solidFill>
                  <a:srgbClr val="2C2C2C"/>
                </a:solidFill>
                <a:latin typeface="Calibri"/>
              </a:rPr>
              <a:t>In practice, </a:t>
            </a:r>
            <a:r>
              <a:rPr sz="1400" b="1" i="0">
                <a:solidFill>
                  <a:srgbClr val="1A1A1A"/>
                </a:solidFill>
                <a:latin typeface="Calibri"/>
              </a:rPr>
              <a:t>k is huge</a:t>
            </a:r>
            <a:r>
              <a:rPr sz="1400" b="0" i="0">
                <a:solidFill>
                  <a:srgbClr val="2C2C2C"/>
                </a:solidFill>
                <a:latin typeface="Calibri"/>
              </a:rPr>
              <a:t>. Real images contain thousands of tiny dips in the gradient — from noise, texture, JPEG artefacts — and watershed gives each one its own basin.</a:t>
            </a:r>
          </a:p>
        </p:txBody>
      </p:sp>
      <p:sp>
        <p:nvSpPr>
          <p:cNvPr id="14" name="TextBox 13"/>
          <p:cNvSpPr txBox="1"/>
          <p:nvPr/>
        </p:nvSpPr>
        <p:spPr>
          <a:xfrm>
            <a:off x="5852160" y="5669280"/>
            <a:ext cx="5852160" cy="365760"/>
          </a:xfrm>
          <a:prstGeom prst="rect">
            <a:avLst/>
          </a:prstGeom>
          <a:noFill/>
        </p:spPr>
        <p:txBody>
          <a:bodyPr wrap="square" lIns="0" tIns="18288" rIns="0" bIns="18288" anchor="t">
            <a:spAutoFit/>
          </a:bodyPr>
          <a:lstStyle/>
          <a:p>
            <a:pPr algn="l">
              <a:lnSpc>
                <a:spcPct val="115000"/>
              </a:lnSpc>
            </a:pPr>
            <a:r>
              <a:rPr sz="1000" b="0" i="0" spc="80">
                <a:solidFill>
                  <a:srgbClr val="1F5FA8"/>
                </a:solidFill>
                <a:latin typeface="Courier New"/>
              </a:rPr>
              <a:t>THE FIX (NEXT SLIDE)</a:t>
            </a:r>
          </a:p>
        </p:txBody>
      </p:sp>
      <p:sp>
        <p:nvSpPr>
          <p:cNvPr id="15" name="TextBox 14"/>
          <p:cNvSpPr txBox="1"/>
          <p:nvPr/>
        </p:nvSpPr>
        <p:spPr>
          <a:xfrm>
            <a:off x="5852160" y="6035040"/>
            <a:ext cx="5852160" cy="365760"/>
          </a:xfrm>
          <a:prstGeom prst="rect">
            <a:avLst/>
          </a:prstGeom>
          <a:noFill/>
        </p:spPr>
        <p:txBody>
          <a:bodyPr wrap="square" lIns="0" tIns="18288" rIns="0" bIns="18288" anchor="t">
            <a:spAutoFit/>
          </a:bodyPr>
          <a:lstStyle/>
          <a:p>
            <a:pPr algn="l">
              <a:lnSpc>
                <a:spcPct val="115000"/>
              </a:lnSpc>
            </a:pPr>
            <a:r>
              <a:rPr sz="1500" b="0" i="1">
                <a:solidFill>
                  <a:srgbClr val="1A1A1A"/>
                </a:solidFill>
                <a:latin typeface="Georgia"/>
              </a:rPr>
              <a:t>Tell the algorithm where the regions are. We call these hints markers.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A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7315200" cy="208134"/>
          </a:xfrm>
          <a:prstGeom prst="rect">
            <a:avLst/>
          </a:prstGeom>
          <a:noFill/>
        </p:spPr>
        <p:txBody>
          <a:bodyPr wrap="square" lIns="0" tIns="18288" rIns="0" bIns="18288" anchor="t">
            <a:spAutoFit/>
          </a:bodyPr>
          <a:lstStyle/>
          <a:p>
            <a:pPr algn="l">
              <a:lnSpc>
                <a:spcPct val="115000"/>
              </a:lnSpc>
            </a:pPr>
            <a:r>
              <a:rPr sz="1000" b="0" i="0" spc="50" dirty="0">
                <a:solidFill>
                  <a:srgbClr val="6E6E6E"/>
                </a:solidFill>
                <a:latin typeface="Courier New"/>
              </a:rPr>
              <a:t>Markers</a:t>
            </a:r>
          </a:p>
        </p:txBody>
      </p:sp>
      <p:sp>
        <p:nvSpPr>
          <p:cNvPr id="5" name="TextBox 4"/>
          <p:cNvSpPr txBox="1"/>
          <p:nvPr/>
        </p:nvSpPr>
        <p:spPr>
          <a:xfrm>
            <a:off x="548640" y="6400800"/>
            <a:ext cx="7315200" cy="274320"/>
          </a:xfrm>
          <a:prstGeom prst="rect">
            <a:avLst/>
          </a:prstGeom>
          <a:noFill/>
        </p:spPr>
        <p:txBody>
          <a:bodyPr wrap="square" lIns="0" tIns="18288" rIns="0" bIns="18288" anchor="t">
            <a:spAutoFit/>
          </a:bodyPr>
          <a:lstStyle/>
          <a:p>
            <a:pPr algn="l">
              <a:lnSpc>
                <a:spcPct val="115000"/>
              </a:lnSpc>
            </a:pPr>
            <a:r>
              <a:rPr sz="1000" b="0" i="0" spc="30">
                <a:solidFill>
                  <a:srgbClr val="6E6E6E"/>
                </a:solidFill>
                <a:latin typeface="Courier New"/>
              </a:rPr>
              <a:t>13 — Markers</a:t>
            </a:r>
          </a:p>
        </p:txBody>
      </p:sp>
      <p:sp>
        <p:nvSpPr>
          <p:cNvPr id="6" name="TextBox 5"/>
          <p:cNvSpPr txBox="1"/>
          <p:nvPr/>
        </p:nvSpPr>
        <p:spPr>
          <a:xfrm>
            <a:off x="548640" y="960120"/>
            <a:ext cx="7315200" cy="274320"/>
          </a:xfrm>
          <a:prstGeom prst="rect">
            <a:avLst/>
          </a:prstGeom>
          <a:noFill/>
        </p:spPr>
        <p:txBody>
          <a:bodyPr wrap="square" lIns="0" tIns="18288" rIns="0" bIns="18288" anchor="t">
            <a:spAutoFit/>
          </a:bodyPr>
          <a:lstStyle/>
          <a:p>
            <a:pPr algn="l">
              <a:lnSpc>
                <a:spcPct val="115000"/>
              </a:lnSpc>
            </a:pPr>
            <a:r>
              <a:rPr sz="1000" b="0" i="0" spc="80">
                <a:solidFill>
                  <a:srgbClr val="1F5FA8"/>
                </a:solidFill>
                <a:latin typeface="Courier New"/>
              </a:rPr>
              <a:t>THE FIX</a:t>
            </a:r>
          </a:p>
        </p:txBody>
      </p:sp>
      <p:sp>
        <p:nvSpPr>
          <p:cNvPr id="7" name="TextBox 6"/>
          <p:cNvSpPr txBox="1"/>
          <p:nvPr/>
        </p:nvSpPr>
        <p:spPr>
          <a:xfrm>
            <a:off x="502920" y="1325880"/>
            <a:ext cx="11430000" cy="1097280"/>
          </a:xfrm>
          <a:prstGeom prst="rect">
            <a:avLst/>
          </a:prstGeom>
          <a:noFill/>
        </p:spPr>
        <p:txBody>
          <a:bodyPr wrap="square" lIns="0" tIns="18288" rIns="0" bIns="18288" anchor="t">
            <a:spAutoFit/>
          </a:bodyPr>
          <a:lstStyle/>
          <a:p>
            <a:pPr algn="l">
              <a:lnSpc>
                <a:spcPct val="105000"/>
              </a:lnSpc>
            </a:pPr>
            <a:r>
              <a:rPr sz="3600" b="0" i="0">
                <a:solidFill>
                  <a:srgbClr val="1A1A1A"/>
                </a:solidFill>
                <a:latin typeface="Georgia"/>
              </a:rPr>
              <a:t>A marker says: </a:t>
            </a:r>
            <a:r>
              <a:rPr sz="3600" b="0" i="1">
                <a:solidFill>
                  <a:srgbClr val="1A1A1A"/>
                </a:solidFill>
                <a:latin typeface="Georgia"/>
              </a:rPr>
              <a:t>“a region is here.”</a:t>
            </a:r>
          </a:p>
        </p:txBody>
      </p:sp>
      <p:sp>
        <p:nvSpPr>
          <p:cNvPr id="8" name="Rounded Rectangle 7"/>
          <p:cNvSpPr/>
          <p:nvPr/>
        </p:nvSpPr>
        <p:spPr>
          <a:xfrm>
            <a:off x="548640" y="2651760"/>
            <a:ext cx="3657600" cy="3108960"/>
          </a:xfrm>
          <a:prstGeom prst="roundRect">
            <a:avLst>
              <a:gd name="adj" fmla="val 6000"/>
            </a:avLst>
          </a:prstGeom>
          <a:solidFill>
            <a:srgbClr val="F6F4EE"/>
          </a:solidFill>
          <a:ln w="6350">
            <a:solidFill>
              <a:srgbClr val="D4D1C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22960" y="2880360"/>
            <a:ext cx="3200400" cy="274320"/>
          </a:xfrm>
          <a:prstGeom prst="rect">
            <a:avLst/>
          </a:prstGeom>
          <a:noFill/>
        </p:spPr>
        <p:txBody>
          <a:bodyPr wrap="square" lIns="0" tIns="18288" rIns="0" bIns="18288" anchor="t">
            <a:spAutoFit/>
          </a:bodyPr>
          <a:lstStyle/>
          <a:p>
            <a:pPr algn="l">
              <a:lnSpc>
                <a:spcPct val="115000"/>
              </a:lnSpc>
            </a:pPr>
            <a:r>
              <a:rPr sz="1000" b="0" i="0" spc="80">
                <a:solidFill>
                  <a:srgbClr val="1F5FA8"/>
                </a:solidFill>
                <a:latin typeface="Courier New"/>
              </a:rPr>
              <a:t>INTERNAL MARKERS</a:t>
            </a:r>
          </a:p>
        </p:txBody>
      </p:sp>
      <p:sp>
        <p:nvSpPr>
          <p:cNvPr id="10" name="TextBox 9"/>
          <p:cNvSpPr txBox="1"/>
          <p:nvPr/>
        </p:nvSpPr>
        <p:spPr>
          <a:xfrm>
            <a:off x="822960" y="3291840"/>
            <a:ext cx="3108960" cy="548640"/>
          </a:xfrm>
          <a:prstGeom prst="rect">
            <a:avLst/>
          </a:prstGeom>
          <a:noFill/>
        </p:spPr>
        <p:txBody>
          <a:bodyPr wrap="square" lIns="0" tIns="18288" rIns="0" bIns="18288" anchor="t">
            <a:spAutoFit/>
          </a:bodyPr>
          <a:lstStyle/>
          <a:p>
            <a:pPr algn="l">
              <a:lnSpc>
                <a:spcPct val="115000"/>
              </a:lnSpc>
            </a:pPr>
            <a:r>
              <a:rPr sz="1800" b="0" i="0">
                <a:solidFill>
                  <a:srgbClr val="1A1A1A"/>
                </a:solidFill>
                <a:latin typeface="Georgia"/>
              </a:rPr>
              <a:t>Inside each object</a:t>
            </a:r>
          </a:p>
        </p:txBody>
      </p:sp>
      <p:sp>
        <p:nvSpPr>
          <p:cNvPr id="11" name="TextBox 10"/>
          <p:cNvSpPr txBox="1"/>
          <p:nvPr/>
        </p:nvSpPr>
        <p:spPr>
          <a:xfrm>
            <a:off x="822960" y="4023360"/>
            <a:ext cx="3108960" cy="1828800"/>
          </a:xfrm>
          <a:prstGeom prst="rect">
            <a:avLst/>
          </a:prstGeom>
          <a:noFill/>
        </p:spPr>
        <p:txBody>
          <a:bodyPr wrap="square" lIns="0" tIns="18288" rIns="0" bIns="18288" anchor="t">
            <a:spAutoFit/>
          </a:bodyPr>
          <a:lstStyle/>
          <a:p>
            <a:pPr algn="l">
              <a:lnSpc>
                <a:spcPct val="140000"/>
              </a:lnSpc>
            </a:pPr>
            <a:r>
              <a:rPr sz="1300" b="0" i="0">
                <a:solidFill>
                  <a:srgbClr val="2C2C2C"/>
                </a:solidFill>
                <a:latin typeface="Calibri"/>
              </a:rPr>
              <a:t>One blob per foreground object. Each seeds that object's basin.</a:t>
            </a:r>
          </a:p>
        </p:txBody>
      </p:sp>
      <p:sp>
        <p:nvSpPr>
          <p:cNvPr id="12" name="Rounded Rectangle 11"/>
          <p:cNvSpPr/>
          <p:nvPr/>
        </p:nvSpPr>
        <p:spPr>
          <a:xfrm>
            <a:off x="4343400" y="2651760"/>
            <a:ext cx="3657600" cy="3108960"/>
          </a:xfrm>
          <a:prstGeom prst="roundRect">
            <a:avLst>
              <a:gd name="adj" fmla="val 6000"/>
            </a:avLst>
          </a:prstGeom>
          <a:solidFill>
            <a:srgbClr val="F6F4EE"/>
          </a:solidFill>
          <a:ln w="6350">
            <a:solidFill>
              <a:srgbClr val="D4D1C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617720" y="2880360"/>
            <a:ext cx="3200400" cy="274320"/>
          </a:xfrm>
          <a:prstGeom prst="rect">
            <a:avLst/>
          </a:prstGeom>
          <a:noFill/>
        </p:spPr>
        <p:txBody>
          <a:bodyPr wrap="square" lIns="0" tIns="18288" rIns="0" bIns="18288" anchor="t">
            <a:spAutoFit/>
          </a:bodyPr>
          <a:lstStyle/>
          <a:p>
            <a:pPr algn="l">
              <a:lnSpc>
                <a:spcPct val="115000"/>
              </a:lnSpc>
            </a:pPr>
            <a:r>
              <a:rPr sz="1000" b="0" i="0" spc="80">
                <a:solidFill>
                  <a:srgbClr val="1F5FA8"/>
                </a:solidFill>
                <a:latin typeface="Courier New"/>
              </a:rPr>
              <a:t>EXTERNAL MARKERS</a:t>
            </a:r>
          </a:p>
        </p:txBody>
      </p:sp>
      <p:sp>
        <p:nvSpPr>
          <p:cNvPr id="14" name="TextBox 13"/>
          <p:cNvSpPr txBox="1"/>
          <p:nvPr/>
        </p:nvSpPr>
        <p:spPr>
          <a:xfrm>
            <a:off x="4617720" y="3291840"/>
            <a:ext cx="3108960" cy="548640"/>
          </a:xfrm>
          <a:prstGeom prst="rect">
            <a:avLst/>
          </a:prstGeom>
          <a:noFill/>
        </p:spPr>
        <p:txBody>
          <a:bodyPr wrap="square" lIns="0" tIns="18288" rIns="0" bIns="18288" anchor="t">
            <a:spAutoFit/>
          </a:bodyPr>
          <a:lstStyle/>
          <a:p>
            <a:pPr algn="l">
              <a:lnSpc>
                <a:spcPct val="115000"/>
              </a:lnSpc>
            </a:pPr>
            <a:r>
              <a:rPr sz="1800" b="0" i="0">
                <a:solidFill>
                  <a:srgbClr val="1A1A1A"/>
                </a:solidFill>
                <a:latin typeface="Georgia"/>
              </a:rPr>
              <a:t>On the background</a:t>
            </a:r>
          </a:p>
        </p:txBody>
      </p:sp>
      <p:sp>
        <p:nvSpPr>
          <p:cNvPr id="15" name="TextBox 14"/>
          <p:cNvSpPr txBox="1"/>
          <p:nvPr/>
        </p:nvSpPr>
        <p:spPr>
          <a:xfrm>
            <a:off x="4617720" y="4023360"/>
            <a:ext cx="3108960" cy="1828800"/>
          </a:xfrm>
          <a:prstGeom prst="rect">
            <a:avLst/>
          </a:prstGeom>
          <a:noFill/>
        </p:spPr>
        <p:txBody>
          <a:bodyPr wrap="square" lIns="0" tIns="18288" rIns="0" bIns="18288" anchor="t">
            <a:spAutoFit/>
          </a:bodyPr>
          <a:lstStyle/>
          <a:p>
            <a:pPr algn="l">
              <a:lnSpc>
                <a:spcPct val="140000"/>
              </a:lnSpc>
            </a:pPr>
            <a:r>
              <a:rPr sz="1300" b="0" i="0">
                <a:solidFill>
                  <a:srgbClr val="2C2C2C"/>
                </a:solidFill>
                <a:latin typeface="Calibri"/>
              </a:rPr>
              <a:t>Pixels you're sure are not part of any object. Form a single basin that absorbs everything outside.</a:t>
            </a:r>
          </a:p>
        </p:txBody>
      </p:sp>
      <p:sp>
        <p:nvSpPr>
          <p:cNvPr id="16" name="Rounded Rectangle 15"/>
          <p:cNvSpPr/>
          <p:nvPr/>
        </p:nvSpPr>
        <p:spPr>
          <a:xfrm>
            <a:off x="8138160" y="2651760"/>
            <a:ext cx="3657600" cy="3108960"/>
          </a:xfrm>
          <a:prstGeom prst="roundRect">
            <a:avLst>
              <a:gd name="adj" fmla="val 6000"/>
            </a:avLst>
          </a:prstGeom>
          <a:solidFill>
            <a:srgbClr val="F6F4EE"/>
          </a:solidFill>
          <a:ln w="6350">
            <a:solidFill>
              <a:srgbClr val="D4D1C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412480" y="2880360"/>
            <a:ext cx="3200400" cy="274320"/>
          </a:xfrm>
          <a:prstGeom prst="rect">
            <a:avLst/>
          </a:prstGeom>
          <a:noFill/>
        </p:spPr>
        <p:txBody>
          <a:bodyPr wrap="square" lIns="0" tIns="18288" rIns="0" bIns="18288" anchor="t">
            <a:spAutoFit/>
          </a:bodyPr>
          <a:lstStyle/>
          <a:p>
            <a:pPr algn="l">
              <a:lnSpc>
                <a:spcPct val="115000"/>
              </a:lnSpc>
            </a:pPr>
            <a:r>
              <a:rPr sz="1000" b="0" i="0" spc="80">
                <a:solidFill>
                  <a:srgbClr val="1F5FA8"/>
                </a:solidFill>
                <a:latin typeface="Courier New"/>
              </a:rPr>
              <a:t>MARKER IMPOSITION</a:t>
            </a:r>
          </a:p>
        </p:txBody>
      </p:sp>
      <p:sp>
        <p:nvSpPr>
          <p:cNvPr id="18" name="TextBox 17"/>
          <p:cNvSpPr txBox="1"/>
          <p:nvPr/>
        </p:nvSpPr>
        <p:spPr>
          <a:xfrm>
            <a:off x="8412480" y="3291840"/>
            <a:ext cx="3108960" cy="548640"/>
          </a:xfrm>
          <a:prstGeom prst="rect">
            <a:avLst/>
          </a:prstGeom>
          <a:noFill/>
        </p:spPr>
        <p:txBody>
          <a:bodyPr wrap="square" lIns="0" tIns="18288" rIns="0" bIns="18288" anchor="t">
            <a:spAutoFit/>
          </a:bodyPr>
          <a:lstStyle/>
          <a:p>
            <a:pPr algn="l">
              <a:lnSpc>
                <a:spcPct val="115000"/>
              </a:lnSpc>
            </a:pPr>
            <a:r>
              <a:rPr sz="1800" b="0" i="0">
                <a:solidFill>
                  <a:srgbClr val="1A1A1A"/>
                </a:solidFill>
                <a:latin typeface="Georgia"/>
              </a:rPr>
              <a:t>Geodesic reconstruction</a:t>
            </a:r>
          </a:p>
        </p:txBody>
      </p:sp>
      <p:sp>
        <p:nvSpPr>
          <p:cNvPr id="19" name="TextBox 18"/>
          <p:cNvSpPr txBox="1"/>
          <p:nvPr/>
        </p:nvSpPr>
        <p:spPr>
          <a:xfrm>
            <a:off x="8412480" y="4023360"/>
            <a:ext cx="3108960" cy="1828800"/>
          </a:xfrm>
          <a:prstGeom prst="rect">
            <a:avLst/>
          </a:prstGeom>
          <a:noFill/>
        </p:spPr>
        <p:txBody>
          <a:bodyPr wrap="square" lIns="0" tIns="18288" rIns="0" bIns="18288" anchor="t">
            <a:spAutoFit/>
          </a:bodyPr>
          <a:lstStyle/>
          <a:p>
            <a:pPr algn="l">
              <a:lnSpc>
                <a:spcPct val="140000"/>
              </a:lnSpc>
            </a:pPr>
            <a:r>
              <a:rPr sz="1300" b="0" i="0">
                <a:solidFill>
                  <a:srgbClr val="2C2C2C"/>
                </a:solidFill>
                <a:latin typeface="Calibri"/>
              </a:rPr>
              <a:t>Modify g so its only minima sit at marker locations. Every other minimum is lifted out of the way.</a:t>
            </a:r>
          </a:p>
        </p:txBody>
      </p:sp>
      <p:cxnSp>
        <p:nvCxnSpPr>
          <p:cNvPr id="20" name="Connector 19"/>
          <p:cNvCxnSpPr/>
          <p:nvPr/>
        </p:nvCxnSpPr>
        <p:spPr>
          <a:xfrm>
            <a:off x="548640" y="5760720"/>
            <a:ext cx="11091672" cy="0"/>
          </a:xfrm>
          <a:prstGeom prst="line">
            <a:avLst/>
          </a:prstGeom>
          <a:ln w="6350">
            <a:solidFill>
              <a:srgbClr val="D4D1CA"/>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548640" y="5833872"/>
            <a:ext cx="7315200" cy="274320"/>
          </a:xfrm>
          <a:prstGeom prst="rect">
            <a:avLst/>
          </a:prstGeom>
          <a:noFill/>
        </p:spPr>
        <p:txBody>
          <a:bodyPr wrap="square" lIns="0" tIns="18288" rIns="0" bIns="18288" anchor="t">
            <a:spAutoFit/>
          </a:bodyPr>
          <a:lstStyle/>
          <a:p>
            <a:pPr algn="l">
              <a:lnSpc>
                <a:spcPct val="115000"/>
              </a:lnSpc>
            </a:pPr>
            <a:r>
              <a:rPr sz="1300" b="0" i="0">
                <a:solidFill>
                  <a:srgbClr val="1A1A1A"/>
                </a:solidFill>
                <a:latin typeface="Courier New"/>
              </a:rPr>
              <a:t>Regional_Minima(g*)  =  M_fg  ∪  M_bg</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A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7315200" cy="208134"/>
          </a:xfrm>
          <a:prstGeom prst="rect">
            <a:avLst/>
          </a:prstGeom>
          <a:noFill/>
        </p:spPr>
        <p:txBody>
          <a:bodyPr wrap="square" lIns="0" tIns="18288" rIns="0" bIns="18288" anchor="t">
            <a:spAutoFit/>
          </a:bodyPr>
          <a:lstStyle/>
          <a:p>
            <a:pPr algn="l">
              <a:lnSpc>
                <a:spcPct val="115000"/>
              </a:lnSpc>
            </a:pPr>
            <a:r>
              <a:rPr sz="1000" b="0" i="0" spc="50" dirty="0">
                <a:solidFill>
                  <a:srgbClr val="6E6E6E"/>
                </a:solidFill>
                <a:latin typeface="Courier New"/>
              </a:rPr>
              <a:t>Standard Pipeline</a:t>
            </a:r>
          </a:p>
        </p:txBody>
      </p:sp>
      <p:sp>
        <p:nvSpPr>
          <p:cNvPr id="5" name="TextBox 4"/>
          <p:cNvSpPr txBox="1"/>
          <p:nvPr/>
        </p:nvSpPr>
        <p:spPr>
          <a:xfrm>
            <a:off x="548640" y="6400800"/>
            <a:ext cx="7315200" cy="274320"/>
          </a:xfrm>
          <a:prstGeom prst="rect">
            <a:avLst/>
          </a:prstGeom>
          <a:noFill/>
        </p:spPr>
        <p:txBody>
          <a:bodyPr wrap="square" lIns="0" tIns="18288" rIns="0" bIns="18288" anchor="t">
            <a:spAutoFit/>
          </a:bodyPr>
          <a:lstStyle/>
          <a:p>
            <a:pPr algn="l">
              <a:lnSpc>
                <a:spcPct val="115000"/>
              </a:lnSpc>
            </a:pPr>
            <a:r>
              <a:rPr sz="1000" b="0" i="0" spc="30">
                <a:solidFill>
                  <a:srgbClr val="6E6E6E"/>
                </a:solidFill>
                <a:latin typeface="Courier New"/>
              </a:rPr>
              <a:t>14 — Pipeline</a:t>
            </a:r>
          </a:p>
        </p:txBody>
      </p:sp>
      <p:sp>
        <p:nvSpPr>
          <p:cNvPr id="6" name="TextBox 5"/>
          <p:cNvSpPr txBox="1"/>
          <p:nvPr/>
        </p:nvSpPr>
        <p:spPr>
          <a:xfrm>
            <a:off x="548640" y="960120"/>
            <a:ext cx="7315200" cy="274320"/>
          </a:xfrm>
          <a:prstGeom prst="rect">
            <a:avLst/>
          </a:prstGeom>
          <a:noFill/>
        </p:spPr>
        <p:txBody>
          <a:bodyPr wrap="square" lIns="0" tIns="18288" rIns="0" bIns="18288" anchor="t">
            <a:spAutoFit/>
          </a:bodyPr>
          <a:lstStyle/>
          <a:p>
            <a:pPr algn="l">
              <a:lnSpc>
                <a:spcPct val="115000"/>
              </a:lnSpc>
            </a:pPr>
            <a:r>
              <a:rPr sz="1000" b="0" i="0" spc="80">
                <a:solidFill>
                  <a:srgbClr val="1F5FA8"/>
                </a:solidFill>
                <a:latin typeface="Courier New"/>
              </a:rPr>
              <a:t>MARKER-CONTROLLED WATERSHED IN 5 STEPS</a:t>
            </a:r>
          </a:p>
        </p:txBody>
      </p:sp>
      <p:sp>
        <p:nvSpPr>
          <p:cNvPr id="7" name="TextBox 6"/>
          <p:cNvSpPr txBox="1"/>
          <p:nvPr/>
        </p:nvSpPr>
        <p:spPr>
          <a:xfrm>
            <a:off x="502920" y="1325880"/>
            <a:ext cx="11430000" cy="1097280"/>
          </a:xfrm>
          <a:prstGeom prst="rect">
            <a:avLst/>
          </a:prstGeom>
          <a:noFill/>
        </p:spPr>
        <p:txBody>
          <a:bodyPr wrap="square" lIns="0" tIns="18288" rIns="0" bIns="18288" anchor="t">
            <a:spAutoFit/>
          </a:bodyPr>
          <a:lstStyle/>
          <a:p>
            <a:pPr algn="l">
              <a:lnSpc>
                <a:spcPct val="105000"/>
              </a:lnSpc>
            </a:pPr>
            <a:r>
              <a:rPr sz="3800" b="0" i="0">
                <a:solidFill>
                  <a:srgbClr val="1A1A1A"/>
                </a:solidFill>
                <a:latin typeface="Georgia"/>
              </a:rPr>
              <a:t>Putting it all together.</a:t>
            </a:r>
          </a:p>
        </p:txBody>
      </p:sp>
      <p:sp>
        <p:nvSpPr>
          <p:cNvPr id="8" name="Rounded Rectangle 7"/>
          <p:cNvSpPr/>
          <p:nvPr/>
        </p:nvSpPr>
        <p:spPr>
          <a:xfrm>
            <a:off x="548640" y="2606040"/>
            <a:ext cx="2139696" cy="2194560"/>
          </a:xfrm>
          <a:prstGeom prst="roundRect">
            <a:avLst>
              <a:gd name="adj" fmla="val 6000"/>
            </a:avLst>
          </a:prstGeom>
          <a:solidFill>
            <a:srgbClr val="F6F4EE"/>
          </a:solidFill>
          <a:ln w="6350">
            <a:solidFill>
              <a:srgbClr val="D4D1C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77240" y="2788920"/>
            <a:ext cx="1682496" cy="365760"/>
          </a:xfrm>
          <a:prstGeom prst="rect">
            <a:avLst/>
          </a:prstGeom>
          <a:noFill/>
        </p:spPr>
        <p:txBody>
          <a:bodyPr wrap="square" lIns="0" tIns="18288" rIns="0" bIns="18288" anchor="t">
            <a:spAutoFit/>
          </a:bodyPr>
          <a:lstStyle/>
          <a:p>
            <a:pPr algn="l">
              <a:lnSpc>
                <a:spcPct val="115000"/>
              </a:lnSpc>
            </a:pPr>
            <a:r>
              <a:rPr sz="1000" b="0" i="0" spc="80">
                <a:solidFill>
                  <a:srgbClr val="1F5FA8"/>
                </a:solidFill>
                <a:latin typeface="Courier New"/>
              </a:rPr>
              <a:t>STEP 1</a:t>
            </a:r>
          </a:p>
        </p:txBody>
      </p:sp>
      <p:sp>
        <p:nvSpPr>
          <p:cNvPr id="10" name="TextBox 9"/>
          <p:cNvSpPr txBox="1"/>
          <p:nvPr/>
        </p:nvSpPr>
        <p:spPr>
          <a:xfrm>
            <a:off x="777240" y="3200400"/>
            <a:ext cx="1682496" cy="822960"/>
          </a:xfrm>
          <a:prstGeom prst="rect">
            <a:avLst/>
          </a:prstGeom>
          <a:noFill/>
        </p:spPr>
        <p:txBody>
          <a:bodyPr wrap="square" lIns="0" tIns="18288" rIns="0" bIns="18288" anchor="t">
            <a:spAutoFit/>
          </a:bodyPr>
          <a:lstStyle/>
          <a:p>
            <a:pPr algn="l">
              <a:lnSpc>
                <a:spcPct val="115000"/>
              </a:lnSpc>
            </a:pPr>
            <a:r>
              <a:rPr sz="1700" b="0" i="0">
                <a:solidFill>
                  <a:srgbClr val="1A1A1A"/>
                </a:solidFill>
                <a:latin typeface="Georgia"/>
              </a:rPr>
              <a:t>Compute g(f)</a:t>
            </a:r>
          </a:p>
        </p:txBody>
      </p:sp>
      <p:sp>
        <p:nvSpPr>
          <p:cNvPr id="11" name="TextBox 10"/>
          <p:cNvSpPr txBox="1"/>
          <p:nvPr/>
        </p:nvSpPr>
        <p:spPr>
          <a:xfrm>
            <a:off x="777240" y="4023360"/>
            <a:ext cx="1682496" cy="914400"/>
          </a:xfrm>
          <a:prstGeom prst="rect">
            <a:avLst/>
          </a:prstGeom>
          <a:noFill/>
        </p:spPr>
        <p:txBody>
          <a:bodyPr wrap="square" lIns="0" tIns="18288" rIns="0" bIns="18288" anchor="t">
            <a:spAutoFit/>
          </a:bodyPr>
          <a:lstStyle/>
          <a:p>
            <a:pPr algn="l">
              <a:lnSpc>
                <a:spcPct val="140000"/>
              </a:lnSpc>
            </a:pPr>
            <a:r>
              <a:rPr sz="1100" b="0" i="0">
                <a:solidFill>
                  <a:srgbClr val="2C2C2C"/>
                </a:solidFill>
                <a:latin typeface="Calibri"/>
              </a:rPr>
              <a:t>Morphological gradient of the input.</a:t>
            </a:r>
          </a:p>
        </p:txBody>
      </p:sp>
      <p:sp>
        <p:nvSpPr>
          <p:cNvPr id="12" name="Rounded Rectangle 11"/>
          <p:cNvSpPr/>
          <p:nvPr/>
        </p:nvSpPr>
        <p:spPr>
          <a:xfrm>
            <a:off x="2779776" y="2606040"/>
            <a:ext cx="2139696" cy="2194560"/>
          </a:xfrm>
          <a:prstGeom prst="roundRect">
            <a:avLst>
              <a:gd name="adj" fmla="val 6000"/>
            </a:avLst>
          </a:prstGeom>
          <a:solidFill>
            <a:srgbClr val="F6F4EE"/>
          </a:solidFill>
          <a:ln w="6350">
            <a:solidFill>
              <a:srgbClr val="D4D1C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008376" y="2788920"/>
            <a:ext cx="1682496" cy="365760"/>
          </a:xfrm>
          <a:prstGeom prst="rect">
            <a:avLst/>
          </a:prstGeom>
          <a:noFill/>
        </p:spPr>
        <p:txBody>
          <a:bodyPr wrap="square" lIns="0" tIns="18288" rIns="0" bIns="18288" anchor="t">
            <a:spAutoFit/>
          </a:bodyPr>
          <a:lstStyle/>
          <a:p>
            <a:pPr algn="l">
              <a:lnSpc>
                <a:spcPct val="115000"/>
              </a:lnSpc>
            </a:pPr>
            <a:r>
              <a:rPr sz="1000" b="0" i="0" spc="80">
                <a:solidFill>
                  <a:srgbClr val="1F5FA8"/>
                </a:solidFill>
                <a:latin typeface="Courier New"/>
              </a:rPr>
              <a:t>STEP 2</a:t>
            </a:r>
          </a:p>
        </p:txBody>
      </p:sp>
      <p:sp>
        <p:nvSpPr>
          <p:cNvPr id="14" name="TextBox 13"/>
          <p:cNvSpPr txBox="1"/>
          <p:nvPr/>
        </p:nvSpPr>
        <p:spPr>
          <a:xfrm>
            <a:off x="3008376" y="3200400"/>
            <a:ext cx="1682496" cy="822960"/>
          </a:xfrm>
          <a:prstGeom prst="rect">
            <a:avLst/>
          </a:prstGeom>
          <a:noFill/>
        </p:spPr>
        <p:txBody>
          <a:bodyPr wrap="square" lIns="0" tIns="18288" rIns="0" bIns="18288" anchor="t">
            <a:spAutoFit/>
          </a:bodyPr>
          <a:lstStyle/>
          <a:p>
            <a:pPr algn="l">
              <a:lnSpc>
                <a:spcPct val="115000"/>
              </a:lnSpc>
            </a:pPr>
            <a:r>
              <a:rPr sz="1700" b="0" i="0">
                <a:solidFill>
                  <a:srgbClr val="1A1A1A"/>
                </a:solidFill>
                <a:latin typeface="Georgia"/>
              </a:rPr>
              <a:t>Internal markers</a:t>
            </a:r>
          </a:p>
        </p:txBody>
      </p:sp>
      <p:sp>
        <p:nvSpPr>
          <p:cNvPr id="15" name="TextBox 14"/>
          <p:cNvSpPr txBox="1"/>
          <p:nvPr/>
        </p:nvSpPr>
        <p:spPr>
          <a:xfrm>
            <a:off x="3008376" y="4023360"/>
            <a:ext cx="1682496" cy="914400"/>
          </a:xfrm>
          <a:prstGeom prst="rect">
            <a:avLst/>
          </a:prstGeom>
          <a:noFill/>
        </p:spPr>
        <p:txBody>
          <a:bodyPr wrap="square" lIns="0" tIns="18288" rIns="0" bIns="18288" anchor="t">
            <a:spAutoFit/>
          </a:bodyPr>
          <a:lstStyle/>
          <a:p>
            <a:pPr algn="l">
              <a:lnSpc>
                <a:spcPct val="140000"/>
              </a:lnSpc>
            </a:pPr>
            <a:r>
              <a:rPr sz="1100" b="0" i="0">
                <a:solidFill>
                  <a:srgbClr val="2C2C2C"/>
                </a:solidFill>
                <a:latin typeface="Calibri"/>
              </a:rPr>
              <a:t>One inside each object of interest.</a:t>
            </a:r>
          </a:p>
        </p:txBody>
      </p:sp>
      <p:sp>
        <p:nvSpPr>
          <p:cNvPr id="16" name="Rounded Rectangle 15"/>
          <p:cNvSpPr/>
          <p:nvPr/>
        </p:nvSpPr>
        <p:spPr>
          <a:xfrm>
            <a:off x="5010912" y="2606040"/>
            <a:ext cx="2139696" cy="2194560"/>
          </a:xfrm>
          <a:prstGeom prst="roundRect">
            <a:avLst>
              <a:gd name="adj" fmla="val 6000"/>
            </a:avLst>
          </a:prstGeom>
          <a:solidFill>
            <a:srgbClr val="F6F4EE"/>
          </a:solidFill>
          <a:ln w="6350">
            <a:solidFill>
              <a:srgbClr val="D4D1C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239512" y="2788920"/>
            <a:ext cx="1682496" cy="365760"/>
          </a:xfrm>
          <a:prstGeom prst="rect">
            <a:avLst/>
          </a:prstGeom>
          <a:noFill/>
        </p:spPr>
        <p:txBody>
          <a:bodyPr wrap="square" lIns="0" tIns="18288" rIns="0" bIns="18288" anchor="t">
            <a:spAutoFit/>
          </a:bodyPr>
          <a:lstStyle/>
          <a:p>
            <a:pPr algn="l">
              <a:lnSpc>
                <a:spcPct val="115000"/>
              </a:lnSpc>
            </a:pPr>
            <a:r>
              <a:rPr sz="1000" b="0" i="0" spc="80">
                <a:solidFill>
                  <a:srgbClr val="1F5FA8"/>
                </a:solidFill>
                <a:latin typeface="Courier New"/>
              </a:rPr>
              <a:t>STEP 3</a:t>
            </a:r>
          </a:p>
        </p:txBody>
      </p:sp>
      <p:sp>
        <p:nvSpPr>
          <p:cNvPr id="18" name="TextBox 17"/>
          <p:cNvSpPr txBox="1"/>
          <p:nvPr/>
        </p:nvSpPr>
        <p:spPr>
          <a:xfrm>
            <a:off x="5239512" y="3200400"/>
            <a:ext cx="1682496" cy="822960"/>
          </a:xfrm>
          <a:prstGeom prst="rect">
            <a:avLst/>
          </a:prstGeom>
          <a:noFill/>
        </p:spPr>
        <p:txBody>
          <a:bodyPr wrap="square" lIns="0" tIns="18288" rIns="0" bIns="18288" anchor="t">
            <a:spAutoFit/>
          </a:bodyPr>
          <a:lstStyle/>
          <a:p>
            <a:pPr algn="l">
              <a:lnSpc>
                <a:spcPct val="115000"/>
              </a:lnSpc>
            </a:pPr>
            <a:r>
              <a:rPr sz="1700" b="0" i="0">
                <a:solidFill>
                  <a:srgbClr val="1A1A1A"/>
                </a:solidFill>
                <a:latin typeface="Georgia"/>
              </a:rPr>
              <a:t>External markers</a:t>
            </a:r>
          </a:p>
        </p:txBody>
      </p:sp>
      <p:sp>
        <p:nvSpPr>
          <p:cNvPr id="19" name="TextBox 18"/>
          <p:cNvSpPr txBox="1"/>
          <p:nvPr/>
        </p:nvSpPr>
        <p:spPr>
          <a:xfrm>
            <a:off x="5239512" y="4023360"/>
            <a:ext cx="1682496" cy="914400"/>
          </a:xfrm>
          <a:prstGeom prst="rect">
            <a:avLst/>
          </a:prstGeom>
          <a:noFill/>
        </p:spPr>
        <p:txBody>
          <a:bodyPr wrap="square" lIns="0" tIns="18288" rIns="0" bIns="18288" anchor="t">
            <a:spAutoFit/>
          </a:bodyPr>
          <a:lstStyle/>
          <a:p>
            <a:pPr algn="l">
              <a:lnSpc>
                <a:spcPct val="140000"/>
              </a:lnSpc>
            </a:pPr>
            <a:r>
              <a:rPr sz="1100" b="0" i="0">
                <a:solidFill>
                  <a:srgbClr val="2C2C2C"/>
                </a:solidFill>
                <a:latin typeface="Calibri"/>
              </a:rPr>
              <a:t>On the background.</a:t>
            </a:r>
          </a:p>
        </p:txBody>
      </p:sp>
      <p:sp>
        <p:nvSpPr>
          <p:cNvPr id="20" name="Rounded Rectangle 19"/>
          <p:cNvSpPr/>
          <p:nvPr/>
        </p:nvSpPr>
        <p:spPr>
          <a:xfrm>
            <a:off x="7242048" y="2606040"/>
            <a:ext cx="2139696" cy="2194560"/>
          </a:xfrm>
          <a:prstGeom prst="roundRect">
            <a:avLst>
              <a:gd name="adj" fmla="val 6000"/>
            </a:avLst>
          </a:prstGeom>
          <a:solidFill>
            <a:srgbClr val="F6F4EE"/>
          </a:solidFill>
          <a:ln w="6350">
            <a:solidFill>
              <a:srgbClr val="D4D1C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470648" y="2788920"/>
            <a:ext cx="1682496" cy="365760"/>
          </a:xfrm>
          <a:prstGeom prst="rect">
            <a:avLst/>
          </a:prstGeom>
          <a:noFill/>
        </p:spPr>
        <p:txBody>
          <a:bodyPr wrap="square" lIns="0" tIns="18288" rIns="0" bIns="18288" anchor="t">
            <a:spAutoFit/>
          </a:bodyPr>
          <a:lstStyle/>
          <a:p>
            <a:pPr algn="l">
              <a:lnSpc>
                <a:spcPct val="115000"/>
              </a:lnSpc>
            </a:pPr>
            <a:r>
              <a:rPr sz="1000" b="0" i="0" spc="80">
                <a:solidFill>
                  <a:srgbClr val="1F5FA8"/>
                </a:solidFill>
                <a:latin typeface="Courier New"/>
              </a:rPr>
              <a:t>STEP 4</a:t>
            </a:r>
          </a:p>
        </p:txBody>
      </p:sp>
      <p:sp>
        <p:nvSpPr>
          <p:cNvPr id="22" name="TextBox 21"/>
          <p:cNvSpPr txBox="1"/>
          <p:nvPr/>
        </p:nvSpPr>
        <p:spPr>
          <a:xfrm>
            <a:off x="7470648" y="3200400"/>
            <a:ext cx="1682496" cy="822960"/>
          </a:xfrm>
          <a:prstGeom prst="rect">
            <a:avLst/>
          </a:prstGeom>
          <a:noFill/>
        </p:spPr>
        <p:txBody>
          <a:bodyPr wrap="square" lIns="0" tIns="18288" rIns="0" bIns="18288" anchor="t">
            <a:spAutoFit/>
          </a:bodyPr>
          <a:lstStyle/>
          <a:p>
            <a:pPr algn="l">
              <a:lnSpc>
                <a:spcPct val="115000"/>
              </a:lnSpc>
            </a:pPr>
            <a:r>
              <a:rPr sz="1700" b="0" i="0">
                <a:solidFill>
                  <a:srgbClr val="1A1A1A"/>
                </a:solidFill>
                <a:latin typeface="Georgia"/>
              </a:rPr>
              <a:t>Impose to g*</a:t>
            </a:r>
          </a:p>
        </p:txBody>
      </p:sp>
      <p:sp>
        <p:nvSpPr>
          <p:cNvPr id="23" name="TextBox 22"/>
          <p:cNvSpPr txBox="1"/>
          <p:nvPr/>
        </p:nvSpPr>
        <p:spPr>
          <a:xfrm>
            <a:off x="7470648" y="4023360"/>
            <a:ext cx="1682496" cy="914400"/>
          </a:xfrm>
          <a:prstGeom prst="rect">
            <a:avLst/>
          </a:prstGeom>
          <a:noFill/>
        </p:spPr>
        <p:txBody>
          <a:bodyPr wrap="square" lIns="0" tIns="18288" rIns="0" bIns="18288" anchor="t">
            <a:spAutoFit/>
          </a:bodyPr>
          <a:lstStyle/>
          <a:p>
            <a:pPr algn="l">
              <a:lnSpc>
                <a:spcPct val="140000"/>
              </a:lnSpc>
            </a:pPr>
            <a:r>
              <a:rPr sz="1100" b="0" i="0">
                <a:solidFill>
                  <a:srgbClr val="2C2C2C"/>
                </a:solidFill>
                <a:latin typeface="Calibri"/>
              </a:rPr>
              <a:t>Lift spurious minima via geodesic reconstruction.</a:t>
            </a:r>
          </a:p>
        </p:txBody>
      </p:sp>
      <p:sp>
        <p:nvSpPr>
          <p:cNvPr id="24" name="Rounded Rectangle 23"/>
          <p:cNvSpPr/>
          <p:nvPr/>
        </p:nvSpPr>
        <p:spPr>
          <a:xfrm>
            <a:off x="9473184" y="2606040"/>
            <a:ext cx="2139696" cy="2194560"/>
          </a:xfrm>
          <a:prstGeom prst="roundRect">
            <a:avLst>
              <a:gd name="adj" fmla="val 6000"/>
            </a:avLst>
          </a:prstGeom>
          <a:solidFill>
            <a:srgbClr val="F6F4EE"/>
          </a:solidFill>
          <a:ln w="6350">
            <a:solidFill>
              <a:srgbClr val="D4D1C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9701784" y="2788920"/>
            <a:ext cx="1682496" cy="365760"/>
          </a:xfrm>
          <a:prstGeom prst="rect">
            <a:avLst/>
          </a:prstGeom>
          <a:noFill/>
        </p:spPr>
        <p:txBody>
          <a:bodyPr wrap="square" lIns="0" tIns="18288" rIns="0" bIns="18288" anchor="t">
            <a:spAutoFit/>
          </a:bodyPr>
          <a:lstStyle/>
          <a:p>
            <a:pPr algn="l">
              <a:lnSpc>
                <a:spcPct val="115000"/>
              </a:lnSpc>
            </a:pPr>
            <a:r>
              <a:rPr sz="1000" b="0" i="0" spc="80">
                <a:solidFill>
                  <a:srgbClr val="1F5FA8"/>
                </a:solidFill>
                <a:latin typeface="Courier New"/>
              </a:rPr>
              <a:t>STEP 5</a:t>
            </a:r>
          </a:p>
        </p:txBody>
      </p:sp>
      <p:sp>
        <p:nvSpPr>
          <p:cNvPr id="26" name="TextBox 25"/>
          <p:cNvSpPr txBox="1"/>
          <p:nvPr/>
        </p:nvSpPr>
        <p:spPr>
          <a:xfrm>
            <a:off x="9701784" y="3200400"/>
            <a:ext cx="1682496" cy="822960"/>
          </a:xfrm>
          <a:prstGeom prst="rect">
            <a:avLst/>
          </a:prstGeom>
          <a:noFill/>
        </p:spPr>
        <p:txBody>
          <a:bodyPr wrap="square" lIns="0" tIns="18288" rIns="0" bIns="18288" anchor="t">
            <a:spAutoFit/>
          </a:bodyPr>
          <a:lstStyle/>
          <a:p>
            <a:pPr algn="l">
              <a:lnSpc>
                <a:spcPct val="115000"/>
              </a:lnSpc>
            </a:pPr>
            <a:r>
              <a:rPr sz="1700" b="0" i="0">
                <a:solidFill>
                  <a:srgbClr val="1A1A1A"/>
                </a:solidFill>
                <a:latin typeface="Georgia"/>
              </a:rPr>
              <a:t>Watershed on g*</a:t>
            </a:r>
          </a:p>
        </p:txBody>
      </p:sp>
      <p:sp>
        <p:nvSpPr>
          <p:cNvPr id="27" name="TextBox 26"/>
          <p:cNvSpPr txBox="1"/>
          <p:nvPr/>
        </p:nvSpPr>
        <p:spPr>
          <a:xfrm>
            <a:off x="9701784" y="4023360"/>
            <a:ext cx="1682496" cy="914400"/>
          </a:xfrm>
          <a:prstGeom prst="rect">
            <a:avLst/>
          </a:prstGeom>
          <a:noFill/>
        </p:spPr>
        <p:txBody>
          <a:bodyPr wrap="square" lIns="0" tIns="18288" rIns="0" bIns="18288" anchor="t">
            <a:spAutoFit/>
          </a:bodyPr>
          <a:lstStyle/>
          <a:p>
            <a:pPr algn="l">
              <a:lnSpc>
                <a:spcPct val="140000"/>
              </a:lnSpc>
            </a:pPr>
            <a:r>
              <a:rPr sz="1100" b="0" i="0">
                <a:solidFill>
                  <a:srgbClr val="2C2C2C"/>
                </a:solidFill>
                <a:latin typeface="Calibri"/>
              </a:rPr>
              <a:t>Clean, marker-controlled segmentation.</a:t>
            </a:r>
          </a:p>
        </p:txBody>
      </p:sp>
      <p:sp>
        <p:nvSpPr>
          <p:cNvPr id="28" name="TextBox 27"/>
          <p:cNvSpPr txBox="1"/>
          <p:nvPr/>
        </p:nvSpPr>
        <p:spPr>
          <a:xfrm>
            <a:off x="2692908" y="3794760"/>
            <a:ext cx="91440" cy="274320"/>
          </a:xfrm>
          <a:prstGeom prst="rect">
            <a:avLst/>
          </a:prstGeom>
          <a:noFill/>
        </p:spPr>
        <p:txBody>
          <a:bodyPr wrap="square" lIns="0" tIns="18288" rIns="0" bIns="18288" anchor="t">
            <a:spAutoFit/>
          </a:bodyPr>
          <a:lstStyle/>
          <a:p>
            <a:pPr algn="ctr">
              <a:lnSpc>
                <a:spcPct val="115000"/>
              </a:lnSpc>
            </a:pPr>
            <a:r>
              <a:rPr sz="1200" b="0" i="0">
                <a:solidFill>
                  <a:srgbClr val="6E6E6E"/>
                </a:solidFill>
                <a:latin typeface="Courier New"/>
              </a:rPr>
              <a:t>→</a:t>
            </a:r>
          </a:p>
        </p:txBody>
      </p:sp>
      <p:sp>
        <p:nvSpPr>
          <p:cNvPr id="29" name="TextBox 28"/>
          <p:cNvSpPr txBox="1"/>
          <p:nvPr/>
        </p:nvSpPr>
        <p:spPr>
          <a:xfrm>
            <a:off x="4924044" y="3794760"/>
            <a:ext cx="91440" cy="274320"/>
          </a:xfrm>
          <a:prstGeom prst="rect">
            <a:avLst/>
          </a:prstGeom>
          <a:noFill/>
        </p:spPr>
        <p:txBody>
          <a:bodyPr wrap="square" lIns="0" tIns="18288" rIns="0" bIns="18288" anchor="t">
            <a:spAutoFit/>
          </a:bodyPr>
          <a:lstStyle/>
          <a:p>
            <a:pPr algn="ctr">
              <a:lnSpc>
                <a:spcPct val="115000"/>
              </a:lnSpc>
            </a:pPr>
            <a:r>
              <a:rPr sz="1200" b="0" i="0">
                <a:solidFill>
                  <a:srgbClr val="6E6E6E"/>
                </a:solidFill>
                <a:latin typeface="Courier New"/>
              </a:rPr>
              <a:t>→</a:t>
            </a:r>
          </a:p>
        </p:txBody>
      </p:sp>
      <p:sp>
        <p:nvSpPr>
          <p:cNvPr id="30" name="TextBox 29"/>
          <p:cNvSpPr txBox="1"/>
          <p:nvPr/>
        </p:nvSpPr>
        <p:spPr>
          <a:xfrm>
            <a:off x="7155180" y="3794760"/>
            <a:ext cx="91440" cy="274320"/>
          </a:xfrm>
          <a:prstGeom prst="rect">
            <a:avLst/>
          </a:prstGeom>
          <a:noFill/>
        </p:spPr>
        <p:txBody>
          <a:bodyPr wrap="square" lIns="0" tIns="18288" rIns="0" bIns="18288" anchor="t">
            <a:spAutoFit/>
          </a:bodyPr>
          <a:lstStyle/>
          <a:p>
            <a:pPr algn="ctr">
              <a:lnSpc>
                <a:spcPct val="115000"/>
              </a:lnSpc>
            </a:pPr>
            <a:r>
              <a:rPr sz="1200" b="0" i="0">
                <a:solidFill>
                  <a:srgbClr val="6E6E6E"/>
                </a:solidFill>
                <a:latin typeface="Courier New"/>
              </a:rPr>
              <a:t>→</a:t>
            </a:r>
          </a:p>
        </p:txBody>
      </p:sp>
      <p:sp>
        <p:nvSpPr>
          <p:cNvPr id="31" name="TextBox 30"/>
          <p:cNvSpPr txBox="1"/>
          <p:nvPr/>
        </p:nvSpPr>
        <p:spPr>
          <a:xfrm>
            <a:off x="9386316" y="3794760"/>
            <a:ext cx="91440" cy="274320"/>
          </a:xfrm>
          <a:prstGeom prst="rect">
            <a:avLst/>
          </a:prstGeom>
          <a:noFill/>
        </p:spPr>
        <p:txBody>
          <a:bodyPr wrap="square" lIns="0" tIns="18288" rIns="0" bIns="18288" anchor="t">
            <a:spAutoFit/>
          </a:bodyPr>
          <a:lstStyle/>
          <a:p>
            <a:pPr algn="ctr">
              <a:lnSpc>
                <a:spcPct val="115000"/>
              </a:lnSpc>
            </a:pPr>
            <a:r>
              <a:rPr sz="1200" b="0" i="0">
                <a:solidFill>
                  <a:srgbClr val="6E6E6E"/>
                </a:solidFill>
                <a:latin typeface="Courier New"/>
              </a:rPr>
              <a:t>→</a:t>
            </a:r>
          </a:p>
        </p:txBody>
      </p:sp>
      <p:sp>
        <p:nvSpPr>
          <p:cNvPr id="35" name="TextBox 34"/>
          <p:cNvSpPr txBox="1"/>
          <p:nvPr/>
        </p:nvSpPr>
        <p:spPr>
          <a:xfrm>
            <a:off x="548640" y="6080760"/>
            <a:ext cx="10972800" cy="228600"/>
          </a:xfrm>
          <a:prstGeom prst="rect">
            <a:avLst/>
          </a:prstGeom>
          <a:noFill/>
        </p:spPr>
        <p:txBody>
          <a:bodyPr wrap="square" lIns="0" tIns="18288" rIns="0" bIns="18288" anchor="t">
            <a:spAutoFit/>
          </a:bodyPr>
          <a:lstStyle/>
          <a:p>
            <a:pPr algn="l">
              <a:lnSpc>
                <a:spcPct val="115000"/>
              </a:lnSpc>
            </a:pPr>
            <a:r>
              <a:rPr sz="900" b="0" i="1">
                <a:solidFill>
                  <a:srgbClr val="6E6E6E"/>
                </a:solidFill>
                <a:latin typeface="Calibri"/>
              </a:rPr>
              <a:t>Pipeline above is a simplified schematic. Real CT not shown.</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A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7315200" cy="208134"/>
          </a:xfrm>
          <a:prstGeom prst="rect">
            <a:avLst/>
          </a:prstGeom>
          <a:noFill/>
        </p:spPr>
        <p:txBody>
          <a:bodyPr wrap="square" lIns="0" tIns="18288" rIns="0" bIns="18288" anchor="t">
            <a:spAutoFit/>
          </a:bodyPr>
          <a:lstStyle/>
          <a:p>
            <a:pPr algn="l">
              <a:lnSpc>
                <a:spcPct val="115000"/>
              </a:lnSpc>
            </a:pPr>
            <a:r>
              <a:rPr sz="1000" b="0" i="0" spc="50" dirty="0">
                <a:solidFill>
                  <a:srgbClr val="6E6E6E"/>
                </a:solidFill>
                <a:latin typeface="Courier New"/>
              </a:rPr>
              <a:t>Failure Cases</a:t>
            </a:r>
          </a:p>
        </p:txBody>
      </p:sp>
      <p:sp>
        <p:nvSpPr>
          <p:cNvPr id="5" name="TextBox 4"/>
          <p:cNvSpPr txBox="1"/>
          <p:nvPr/>
        </p:nvSpPr>
        <p:spPr>
          <a:xfrm>
            <a:off x="548640" y="6400800"/>
            <a:ext cx="7315200" cy="274320"/>
          </a:xfrm>
          <a:prstGeom prst="rect">
            <a:avLst/>
          </a:prstGeom>
          <a:noFill/>
        </p:spPr>
        <p:txBody>
          <a:bodyPr wrap="square" lIns="0" tIns="18288" rIns="0" bIns="18288" anchor="t">
            <a:spAutoFit/>
          </a:bodyPr>
          <a:lstStyle/>
          <a:p>
            <a:pPr algn="l">
              <a:lnSpc>
                <a:spcPct val="115000"/>
              </a:lnSpc>
            </a:pPr>
            <a:r>
              <a:rPr sz="1000" b="0" i="0" spc="30">
                <a:solidFill>
                  <a:srgbClr val="6E6E6E"/>
                </a:solidFill>
                <a:latin typeface="Courier New"/>
              </a:rPr>
              <a:t>15 — Failure modes</a:t>
            </a:r>
          </a:p>
        </p:txBody>
      </p:sp>
      <p:sp>
        <p:nvSpPr>
          <p:cNvPr id="6" name="TextBox 5"/>
          <p:cNvSpPr txBox="1"/>
          <p:nvPr/>
        </p:nvSpPr>
        <p:spPr>
          <a:xfrm>
            <a:off x="548640" y="960120"/>
            <a:ext cx="7315200" cy="274320"/>
          </a:xfrm>
          <a:prstGeom prst="rect">
            <a:avLst/>
          </a:prstGeom>
          <a:noFill/>
        </p:spPr>
        <p:txBody>
          <a:bodyPr wrap="square" lIns="0" tIns="18288" rIns="0" bIns="18288" anchor="t">
            <a:spAutoFit/>
          </a:bodyPr>
          <a:lstStyle/>
          <a:p>
            <a:pPr algn="l">
              <a:lnSpc>
                <a:spcPct val="115000"/>
              </a:lnSpc>
            </a:pPr>
            <a:r>
              <a:rPr sz="1000" b="0" i="0" spc="80">
                <a:solidFill>
                  <a:srgbClr val="1F5FA8"/>
                </a:solidFill>
                <a:latin typeface="Courier New"/>
              </a:rPr>
              <a:t>THREE WAYS IT GOES WRONG</a:t>
            </a:r>
          </a:p>
        </p:txBody>
      </p:sp>
      <p:sp>
        <p:nvSpPr>
          <p:cNvPr id="7" name="TextBox 6"/>
          <p:cNvSpPr txBox="1"/>
          <p:nvPr/>
        </p:nvSpPr>
        <p:spPr>
          <a:xfrm>
            <a:off x="502920" y="1325880"/>
            <a:ext cx="11430000" cy="1097280"/>
          </a:xfrm>
          <a:prstGeom prst="rect">
            <a:avLst/>
          </a:prstGeom>
          <a:noFill/>
        </p:spPr>
        <p:txBody>
          <a:bodyPr wrap="square" lIns="0" tIns="18288" rIns="0" bIns="18288" anchor="t">
            <a:spAutoFit/>
          </a:bodyPr>
          <a:lstStyle/>
          <a:p>
            <a:pPr algn="l">
              <a:lnSpc>
                <a:spcPct val="105000"/>
              </a:lnSpc>
            </a:pPr>
            <a:r>
              <a:rPr sz="4200" b="0" i="0">
                <a:solidFill>
                  <a:srgbClr val="1A1A1A"/>
                </a:solidFill>
                <a:latin typeface="Georgia"/>
              </a:rPr>
              <a:t>Where watershed </a:t>
            </a:r>
            <a:r>
              <a:rPr sz="4200" b="0" i="1">
                <a:solidFill>
                  <a:srgbClr val="1A1A1A"/>
                </a:solidFill>
                <a:latin typeface="Georgia"/>
              </a:rPr>
              <a:t>breaks.</a:t>
            </a:r>
          </a:p>
        </p:txBody>
      </p:sp>
      <p:sp>
        <p:nvSpPr>
          <p:cNvPr id="8" name="Rounded Rectangle 7"/>
          <p:cNvSpPr/>
          <p:nvPr/>
        </p:nvSpPr>
        <p:spPr>
          <a:xfrm>
            <a:off x="548640" y="2697480"/>
            <a:ext cx="3657600" cy="2697480"/>
          </a:xfrm>
          <a:prstGeom prst="roundRect">
            <a:avLst>
              <a:gd name="adj" fmla="val 6000"/>
            </a:avLst>
          </a:prstGeom>
          <a:solidFill>
            <a:srgbClr val="F6F4EE"/>
          </a:solidFill>
          <a:ln w="6350">
            <a:solidFill>
              <a:srgbClr val="D4D1C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22960" y="2926080"/>
            <a:ext cx="3200400" cy="274320"/>
          </a:xfrm>
          <a:prstGeom prst="rect">
            <a:avLst/>
          </a:prstGeom>
          <a:noFill/>
        </p:spPr>
        <p:txBody>
          <a:bodyPr wrap="square" lIns="0" tIns="18288" rIns="0" bIns="18288" anchor="t">
            <a:spAutoFit/>
          </a:bodyPr>
          <a:lstStyle/>
          <a:p>
            <a:pPr algn="l">
              <a:lnSpc>
                <a:spcPct val="115000"/>
              </a:lnSpc>
            </a:pPr>
            <a:r>
              <a:rPr sz="1000" b="0" i="0" spc="80">
                <a:solidFill>
                  <a:srgbClr val="1F5FA8"/>
                </a:solidFill>
                <a:latin typeface="Courier New"/>
              </a:rPr>
              <a:t>FAILURE 01</a:t>
            </a:r>
          </a:p>
        </p:txBody>
      </p:sp>
      <p:sp>
        <p:nvSpPr>
          <p:cNvPr id="10" name="TextBox 9"/>
          <p:cNvSpPr txBox="1"/>
          <p:nvPr/>
        </p:nvSpPr>
        <p:spPr>
          <a:xfrm>
            <a:off x="822960" y="3337560"/>
            <a:ext cx="3108960" cy="548640"/>
          </a:xfrm>
          <a:prstGeom prst="rect">
            <a:avLst/>
          </a:prstGeom>
          <a:noFill/>
        </p:spPr>
        <p:txBody>
          <a:bodyPr wrap="square" lIns="0" tIns="18288" rIns="0" bIns="18288" anchor="t">
            <a:spAutoFit/>
          </a:bodyPr>
          <a:lstStyle/>
          <a:p>
            <a:pPr algn="l">
              <a:lnSpc>
                <a:spcPct val="115000"/>
              </a:lnSpc>
            </a:pPr>
            <a:r>
              <a:rPr sz="2000" b="0" i="0">
                <a:solidFill>
                  <a:srgbClr val="1A1A1A"/>
                </a:solidFill>
                <a:latin typeface="Georgia"/>
              </a:rPr>
              <a:t>Over-segmentation</a:t>
            </a:r>
          </a:p>
        </p:txBody>
      </p:sp>
      <p:sp>
        <p:nvSpPr>
          <p:cNvPr id="11" name="TextBox 10"/>
          <p:cNvSpPr txBox="1"/>
          <p:nvPr/>
        </p:nvSpPr>
        <p:spPr>
          <a:xfrm>
            <a:off x="822960" y="4023360"/>
            <a:ext cx="3108960" cy="1463040"/>
          </a:xfrm>
          <a:prstGeom prst="rect">
            <a:avLst/>
          </a:prstGeom>
          <a:noFill/>
        </p:spPr>
        <p:txBody>
          <a:bodyPr wrap="square" lIns="0" tIns="18288" rIns="0" bIns="18288" anchor="t">
            <a:spAutoFit/>
          </a:bodyPr>
          <a:lstStyle/>
          <a:p>
            <a:pPr algn="l">
              <a:lnSpc>
                <a:spcPct val="140000"/>
              </a:lnSpc>
            </a:pPr>
            <a:r>
              <a:rPr sz="1200" b="0" i="0">
                <a:solidFill>
                  <a:srgbClr val="2C2C2C"/>
                </a:solidFill>
                <a:latin typeface="Calibri"/>
              </a:rPr>
              <a:t>Spurious minima from noise or texture each seed a basin. Hundreds of regions where only a few objects exist.</a:t>
            </a:r>
          </a:p>
        </p:txBody>
      </p:sp>
      <p:sp>
        <p:nvSpPr>
          <p:cNvPr id="12" name="Rounded Rectangle 11"/>
          <p:cNvSpPr/>
          <p:nvPr/>
        </p:nvSpPr>
        <p:spPr>
          <a:xfrm>
            <a:off x="4343400" y="2697480"/>
            <a:ext cx="3657600" cy="2697480"/>
          </a:xfrm>
          <a:prstGeom prst="roundRect">
            <a:avLst>
              <a:gd name="adj" fmla="val 6000"/>
            </a:avLst>
          </a:prstGeom>
          <a:solidFill>
            <a:srgbClr val="F6F4EE"/>
          </a:solidFill>
          <a:ln w="6350">
            <a:solidFill>
              <a:srgbClr val="D4D1C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617720" y="2926080"/>
            <a:ext cx="3200400" cy="274320"/>
          </a:xfrm>
          <a:prstGeom prst="rect">
            <a:avLst/>
          </a:prstGeom>
          <a:noFill/>
        </p:spPr>
        <p:txBody>
          <a:bodyPr wrap="square" lIns="0" tIns="18288" rIns="0" bIns="18288" anchor="t">
            <a:spAutoFit/>
          </a:bodyPr>
          <a:lstStyle/>
          <a:p>
            <a:pPr algn="l">
              <a:lnSpc>
                <a:spcPct val="115000"/>
              </a:lnSpc>
            </a:pPr>
            <a:r>
              <a:rPr sz="1000" b="0" i="0" spc="80">
                <a:solidFill>
                  <a:srgbClr val="1F5FA8"/>
                </a:solidFill>
                <a:latin typeface="Courier New"/>
              </a:rPr>
              <a:t>FAILURE 02</a:t>
            </a:r>
          </a:p>
        </p:txBody>
      </p:sp>
      <p:sp>
        <p:nvSpPr>
          <p:cNvPr id="14" name="TextBox 13"/>
          <p:cNvSpPr txBox="1"/>
          <p:nvPr/>
        </p:nvSpPr>
        <p:spPr>
          <a:xfrm>
            <a:off x="4617720" y="3337560"/>
            <a:ext cx="3108960" cy="548640"/>
          </a:xfrm>
          <a:prstGeom prst="rect">
            <a:avLst/>
          </a:prstGeom>
          <a:noFill/>
        </p:spPr>
        <p:txBody>
          <a:bodyPr wrap="square" lIns="0" tIns="18288" rIns="0" bIns="18288" anchor="t">
            <a:spAutoFit/>
          </a:bodyPr>
          <a:lstStyle/>
          <a:p>
            <a:pPr algn="l">
              <a:lnSpc>
                <a:spcPct val="115000"/>
              </a:lnSpc>
            </a:pPr>
            <a:r>
              <a:rPr sz="2000" b="0" i="0">
                <a:solidFill>
                  <a:srgbClr val="1A1A1A"/>
                </a:solidFill>
                <a:latin typeface="Georgia"/>
              </a:rPr>
              <a:t>Boundary leakage</a:t>
            </a:r>
          </a:p>
        </p:txBody>
      </p:sp>
      <p:sp>
        <p:nvSpPr>
          <p:cNvPr id="15" name="TextBox 14"/>
          <p:cNvSpPr txBox="1"/>
          <p:nvPr/>
        </p:nvSpPr>
        <p:spPr>
          <a:xfrm>
            <a:off x="4617720" y="4023360"/>
            <a:ext cx="3108960" cy="1463040"/>
          </a:xfrm>
          <a:prstGeom prst="rect">
            <a:avLst/>
          </a:prstGeom>
          <a:noFill/>
        </p:spPr>
        <p:txBody>
          <a:bodyPr wrap="square" lIns="0" tIns="18288" rIns="0" bIns="18288" anchor="t">
            <a:spAutoFit/>
          </a:bodyPr>
          <a:lstStyle/>
          <a:p>
            <a:pPr algn="l">
              <a:lnSpc>
                <a:spcPct val="140000"/>
              </a:lnSpc>
            </a:pPr>
            <a:r>
              <a:rPr sz="1200" b="0" i="0">
                <a:solidFill>
                  <a:srgbClr val="2C2C2C"/>
                </a:solidFill>
                <a:latin typeface="Calibri"/>
              </a:rPr>
              <a:t>At low-contrast edges, the gradient ridge is too shallow. Floodwater spills — two objects merge into one.</a:t>
            </a:r>
          </a:p>
        </p:txBody>
      </p:sp>
      <p:sp>
        <p:nvSpPr>
          <p:cNvPr id="16" name="Rounded Rectangle 15"/>
          <p:cNvSpPr/>
          <p:nvPr/>
        </p:nvSpPr>
        <p:spPr>
          <a:xfrm>
            <a:off x="8138160" y="2697480"/>
            <a:ext cx="3657600" cy="2697480"/>
          </a:xfrm>
          <a:prstGeom prst="roundRect">
            <a:avLst>
              <a:gd name="adj" fmla="val 6000"/>
            </a:avLst>
          </a:prstGeom>
          <a:solidFill>
            <a:srgbClr val="F6F4EE"/>
          </a:solidFill>
          <a:ln w="6350">
            <a:solidFill>
              <a:srgbClr val="D4D1C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412480" y="2926080"/>
            <a:ext cx="3200400" cy="274320"/>
          </a:xfrm>
          <a:prstGeom prst="rect">
            <a:avLst/>
          </a:prstGeom>
          <a:noFill/>
        </p:spPr>
        <p:txBody>
          <a:bodyPr wrap="square" lIns="0" tIns="18288" rIns="0" bIns="18288" anchor="t">
            <a:spAutoFit/>
          </a:bodyPr>
          <a:lstStyle/>
          <a:p>
            <a:pPr algn="l">
              <a:lnSpc>
                <a:spcPct val="115000"/>
              </a:lnSpc>
            </a:pPr>
            <a:r>
              <a:rPr sz="1000" b="0" i="0" spc="80">
                <a:solidFill>
                  <a:srgbClr val="1F5FA8"/>
                </a:solidFill>
                <a:latin typeface="Courier New"/>
              </a:rPr>
              <a:t>FAILURE 03</a:t>
            </a:r>
          </a:p>
        </p:txBody>
      </p:sp>
      <p:sp>
        <p:nvSpPr>
          <p:cNvPr id="18" name="TextBox 17"/>
          <p:cNvSpPr txBox="1"/>
          <p:nvPr/>
        </p:nvSpPr>
        <p:spPr>
          <a:xfrm>
            <a:off x="8412480" y="3337560"/>
            <a:ext cx="3108960" cy="548640"/>
          </a:xfrm>
          <a:prstGeom prst="rect">
            <a:avLst/>
          </a:prstGeom>
          <a:noFill/>
        </p:spPr>
        <p:txBody>
          <a:bodyPr wrap="square" lIns="0" tIns="18288" rIns="0" bIns="18288" anchor="t">
            <a:spAutoFit/>
          </a:bodyPr>
          <a:lstStyle/>
          <a:p>
            <a:pPr algn="l">
              <a:lnSpc>
                <a:spcPct val="115000"/>
              </a:lnSpc>
            </a:pPr>
            <a:r>
              <a:rPr sz="2000" b="0" i="0">
                <a:solidFill>
                  <a:srgbClr val="1A1A1A"/>
                </a:solidFill>
                <a:latin typeface="Georgia"/>
              </a:rPr>
              <a:t>Noise sensitivity</a:t>
            </a:r>
          </a:p>
        </p:txBody>
      </p:sp>
      <p:sp>
        <p:nvSpPr>
          <p:cNvPr id="19" name="TextBox 18"/>
          <p:cNvSpPr txBox="1"/>
          <p:nvPr/>
        </p:nvSpPr>
        <p:spPr>
          <a:xfrm>
            <a:off x="8412480" y="4023360"/>
            <a:ext cx="3108960" cy="1463040"/>
          </a:xfrm>
          <a:prstGeom prst="rect">
            <a:avLst/>
          </a:prstGeom>
          <a:noFill/>
        </p:spPr>
        <p:txBody>
          <a:bodyPr wrap="square" lIns="0" tIns="18288" rIns="0" bIns="18288" anchor="t">
            <a:spAutoFit/>
          </a:bodyPr>
          <a:lstStyle/>
          <a:p>
            <a:pPr algn="l">
              <a:lnSpc>
                <a:spcPct val="140000"/>
              </a:lnSpc>
            </a:pPr>
            <a:r>
              <a:rPr sz="1200" b="0" i="0">
                <a:solidFill>
                  <a:srgbClr val="2C2C2C"/>
                </a:solidFill>
                <a:latin typeface="Calibri"/>
              </a:rPr>
              <a:t>Gradient operators amplify high-frequency noise — small perturbations create new minima everywhere.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A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7315200" cy="208134"/>
          </a:xfrm>
          <a:prstGeom prst="rect">
            <a:avLst/>
          </a:prstGeom>
          <a:noFill/>
        </p:spPr>
        <p:txBody>
          <a:bodyPr wrap="square" lIns="0" tIns="18288" rIns="0" bIns="18288" anchor="t">
            <a:spAutoFit/>
          </a:bodyPr>
          <a:lstStyle/>
          <a:p>
            <a:pPr algn="l">
              <a:lnSpc>
                <a:spcPct val="115000"/>
              </a:lnSpc>
            </a:pPr>
            <a:r>
              <a:rPr sz="1000" b="0" i="0" spc="50" dirty="0">
                <a:solidFill>
                  <a:srgbClr val="6E6E6E"/>
                </a:solidFill>
                <a:latin typeface="Courier New"/>
              </a:rPr>
              <a:t>When Not To Use  Alternatives</a:t>
            </a:r>
          </a:p>
        </p:txBody>
      </p:sp>
      <p:sp>
        <p:nvSpPr>
          <p:cNvPr id="5" name="TextBox 4"/>
          <p:cNvSpPr txBox="1"/>
          <p:nvPr/>
        </p:nvSpPr>
        <p:spPr>
          <a:xfrm>
            <a:off x="548640" y="6400800"/>
            <a:ext cx="7315200" cy="274320"/>
          </a:xfrm>
          <a:prstGeom prst="rect">
            <a:avLst/>
          </a:prstGeom>
          <a:noFill/>
        </p:spPr>
        <p:txBody>
          <a:bodyPr wrap="square" lIns="0" tIns="18288" rIns="0" bIns="18288" anchor="t">
            <a:spAutoFit/>
          </a:bodyPr>
          <a:lstStyle/>
          <a:p>
            <a:pPr algn="l">
              <a:lnSpc>
                <a:spcPct val="115000"/>
              </a:lnSpc>
            </a:pPr>
            <a:r>
              <a:rPr sz="1000" b="0" i="0" spc="30">
                <a:solidFill>
                  <a:srgbClr val="6E6E6E"/>
                </a:solidFill>
                <a:latin typeface="Courier New"/>
              </a:rPr>
              <a:t>16 — When not to use</a:t>
            </a:r>
          </a:p>
        </p:txBody>
      </p:sp>
      <p:sp>
        <p:nvSpPr>
          <p:cNvPr id="6" name="TextBox 5"/>
          <p:cNvSpPr txBox="1"/>
          <p:nvPr/>
        </p:nvSpPr>
        <p:spPr>
          <a:xfrm>
            <a:off x="548640" y="960120"/>
            <a:ext cx="9144000" cy="274320"/>
          </a:xfrm>
          <a:prstGeom prst="rect">
            <a:avLst/>
          </a:prstGeom>
          <a:noFill/>
        </p:spPr>
        <p:txBody>
          <a:bodyPr wrap="square" lIns="0" tIns="18288" rIns="0" bIns="18288" anchor="t">
            <a:spAutoFit/>
          </a:bodyPr>
          <a:lstStyle/>
          <a:p>
            <a:pPr algn="l">
              <a:lnSpc>
                <a:spcPct val="115000"/>
              </a:lnSpc>
            </a:pPr>
            <a:r>
              <a:rPr sz="1000" b="0" i="0" spc="80">
                <a:solidFill>
                  <a:srgbClr val="1F5FA8"/>
                </a:solidFill>
                <a:latin typeface="Courier New"/>
              </a:rPr>
              <a:t>REACH FOR SOMETHING ELSE WHEN…</a:t>
            </a:r>
          </a:p>
        </p:txBody>
      </p:sp>
      <p:sp>
        <p:nvSpPr>
          <p:cNvPr id="7" name="TextBox 6"/>
          <p:cNvSpPr txBox="1"/>
          <p:nvPr/>
        </p:nvSpPr>
        <p:spPr>
          <a:xfrm>
            <a:off x="502920" y="1325880"/>
            <a:ext cx="11430000" cy="1097280"/>
          </a:xfrm>
          <a:prstGeom prst="rect">
            <a:avLst/>
          </a:prstGeom>
          <a:noFill/>
        </p:spPr>
        <p:txBody>
          <a:bodyPr wrap="square" lIns="0" tIns="18288" rIns="0" bIns="18288" anchor="t">
            <a:spAutoFit/>
          </a:bodyPr>
          <a:lstStyle/>
          <a:p>
            <a:pPr algn="l">
              <a:lnSpc>
                <a:spcPct val="105000"/>
              </a:lnSpc>
            </a:pPr>
            <a:r>
              <a:rPr sz="3600" b="0" i="0">
                <a:solidFill>
                  <a:srgbClr val="1A1A1A"/>
                </a:solidFill>
                <a:latin typeface="Georgia"/>
              </a:rPr>
              <a:t>Don't use watershed when…</a:t>
            </a:r>
          </a:p>
        </p:txBody>
      </p:sp>
      <p:sp>
        <p:nvSpPr>
          <p:cNvPr id="8" name="Rounded Rectangle 7"/>
          <p:cNvSpPr/>
          <p:nvPr/>
        </p:nvSpPr>
        <p:spPr>
          <a:xfrm>
            <a:off x="548640" y="2606040"/>
            <a:ext cx="3657600" cy="1463040"/>
          </a:xfrm>
          <a:prstGeom prst="roundRect">
            <a:avLst>
              <a:gd name="adj" fmla="val 6000"/>
            </a:avLst>
          </a:prstGeom>
          <a:solidFill>
            <a:srgbClr val="F6F4EE"/>
          </a:solidFill>
          <a:ln w="6350">
            <a:solidFill>
              <a:srgbClr val="D4D1C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77240" y="2788920"/>
            <a:ext cx="3200400" cy="274320"/>
          </a:xfrm>
          <a:prstGeom prst="rect">
            <a:avLst/>
          </a:prstGeom>
          <a:noFill/>
        </p:spPr>
        <p:txBody>
          <a:bodyPr wrap="square" lIns="0" tIns="18288" rIns="0" bIns="18288" anchor="t">
            <a:spAutoFit/>
          </a:bodyPr>
          <a:lstStyle/>
          <a:p>
            <a:pPr algn="l">
              <a:lnSpc>
                <a:spcPct val="115000"/>
              </a:lnSpc>
            </a:pPr>
            <a:r>
              <a:rPr sz="1000" b="0" i="0" spc="80">
                <a:solidFill>
                  <a:srgbClr val="1F5FA8"/>
                </a:solidFill>
                <a:latin typeface="Courier New"/>
              </a:rPr>
              <a:t>LOW-CONTRAST EDGES</a:t>
            </a:r>
          </a:p>
        </p:txBody>
      </p:sp>
      <p:sp>
        <p:nvSpPr>
          <p:cNvPr id="10" name="TextBox 9"/>
          <p:cNvSpPr txBox="1"/>
          <p:nvPr/>
        </p:nvSpPr>
        <p:spPr>
          <a:xfrm>
            <a:off x="777240" y="3108960"/>
            <a:ext cx="3200400" cy="914400"/>
          </a:xfrm>
          <a:prstGeom prst="rect">
            <a:avLst/>
          </a:prstGeom>
          <a:noFill/>
        </p:spPr>
        <p:txBody>
          <a:bodyPr wrap="square" lIns="0" tIns="18288" rIns="0" bIns="18288" anchor="t">
            <a:spAutoFit/>
          </a:bodyPr>
          <a:lstStyle/>
          <a:p>
            <a:pPr algn="l">
              <a:lnSpc>
                <a:spcPct val="140000"/>
              </a:lnSpc>
            </a:pPr>
            <a:r>
              <a:rPr sz="1300" b="0" i="0">
                <a:solidFill>
                  <a:srgbClr val="2C2C2C"/>
                </a:solidFill>
                <a:latin typeface="Calibri"/>
              </a:rPr>
              <a:t>Gradient ridges are too shallow — boundary leakage merges objects.</a:t>
            </a:r>
          </a:p>
        </p:txBody>
      </p:sp>
      <p:sp>
        <p:nvSpPr>
          <p:cNvPr id="11" name="Rounded Rectangle 10"/>
          <p:cNvSpPr/>
          <p:nvPr/>
        </p:nvSpPr>
        <p:spPr>
          <a:xfrm>
            <a:off x="4343400" y="2606040"/>
            <a:ext cx="3657600" cy="1463040"/>
          </a:xfrm>
          <a:prstGeom prst="roundRect">
            <a:avLst>
              <a:gd name="adj" fmla="val 6000"/>
            </a:avLst>
          </a:prstGeom>
          <a:solidFill>
            <a:srgbClr val="F6F4EE"/>
          </a:solidFill>
          <a:ln w="6350">
            <a:solidFill>
              <a:srgbClr val="D4D1C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572000" y="2788920"/>
            <a:ext cx="3200400" cy="274320"/>
          </a:xfrm>
          <a:prstGeom prst="rect">
            <a:avLst/>
          </a:prstGeom>
          <a:noFill/>
        </p:spPr>
        <p:txBody>
          <a:bodyPr wrap="square" lIns="0" tIns="18288" rIns="0" bIns="18288" anchor="t">
            <a:spAutoFit/>
          </a:bodyPr>
          <a:lstStyle/>
          <a:p>
            <a:pPr algn="l">
              <a:lnSpc>
                <a:spcPct val="115000"/>
              </a:lnSpc>
            </a:pPr>
            <a:r>
              <a:rPr sz="1000" b="0" i="0" spc="80">
                <a:solidFill>
                  <a:srgbClr val="1F5FA8"/>
                </a:solidFill>
                <a:latin typeface="Courier New"/>
              </a:rPr>
              <a:t>NO RELIABLE MARKERS</a:t>
            </a:r>
          </a:p>
        </p:txBody>
      </p:sp>
      <p:sp>
        <p:nvSpPr>
          <p:cNvPr id="13" name="TextBox 12"/>
          <p:cNvSpPr txBox="1"/>
          <p:nvPr/>
        </p:nvSpPr>
        <p:spPr>
          <a:xfrm>
            <a:off x="4572000" y="3108960"/>
            <a:ext cx="3200400" cy="914400"/>
          </a:xfrm>
          <a:prstGeom prst="rect">
            <a:avLst/>
          </a:prstGeom>
          <a:noFill/>
        </p:spPr>
        <p:txBody>
          <a:bodyPr wrap="square" lIns="0" tIns="18288" rIns="0" bIns="18288" anchor="t">
            <a:spAutoFit/>
          </a:bodyPr>
          <a:lstStyle/>
          <a:p>
            <a:pPr algn="l">
              <a:lnSpc>
                <a:spcPct val="140000"/>
              </a:lnSpc>
            </a:pPr>
            <a:r>
              <a:rPr sz="1300" b="0" i="0">
                <a:solidFill>
                  <a:srgbClr val="2C2C2C"/>
                </a:solidFill>
                <a:latin typeface="Calibri"/>
              </a:rPr>
              <a:t>Without seeds, you over-segment into thousands of basins.</a:t>
            </a:r>
          </a:p>
        </p:txBody>
      </p:sp>
      <p:sp>
        <p:nvSpPr>
          <p:cNvPr id="14" name="Rounded Rectangle 13"/>
          <p:cNvSpPr/>
          <p:nvPr/>
        </p:nvSpPr>
        <p:spPr>
          <a:xfrm>
            <a:off x="8138160" y="2606040"/>
            <a:ext cx="3657600" cy="1463040"/>
          </a:xfrm>
          <a:prstGeom prst="roundRect">
            <a:avLst>
              <a:gd name="adj" fmla="val 6000"/>
            </a:avLst>
          </a:prstGeom>
          <a:solidFill>
            <a:srgbClr val="F6F4EE"/>
          </a:solidFill>
          <a:ln w="6350">
            <a:solidFill>
              <a:srgbClr val="D4D1C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366760" y="2788920"/>
            <a:ext cx="3200400" cy="274320"/>
          </a:xfrm>
          <a:prstGeom prst="rect">
            <a:avLst/>
          </a:prstGeom>
          <a:noFill/>
        </p:spPr>
        <p:txBody>
          <a:bodyPr wrap="square" lIns="0" tIns="18288" rIns="0" bIns="18288" anchor="t">
            <a:spAutoFit/>
          </a:bodyPr>
          <a:lstStyle/>
          <a:p>
            <a:pPr algn="l">
              <a:lnSpc>
                <a:spcPct val="115000"/>
              </a:lnSpc>
            </a:pPr>
            <a:r>
              <a:rPr sz="1000" b="0" i="0" spc="80">
                <a:solidFill>
                  <a:srgbClr val="1F5FA8"/>
                </a:solidFill>
                <a:latin typeface="Courier New"/>
              </a:rPr>
              <a:t>HEAVY NOISE / TEXTURE</a:t>
            </a:r>
          </a:p>
        </p:txBody>
      </p:sp>
      <p:sp>
        <p:nvSpPr>
          <p:cNvPr id="16" name="TextBox 15"/>
          <p:cNvSpPr txBox="1"/>
          <p:nvPr/>
        </p:nvSpPr>
        <p:spPr>
          <a:xfrm>
            <a:off x="8366760" y="3108960"/>
            <a:ext cx="3200400" cy="914400"/>
          </a:xfrm>
          <a:prstGeom prst="rect">
            <a:avLst/>
          </a:prstGeom>
          <a:noFill/>
        </p:spPr>
        <p:txBody>
          <a:bodyPr wrap="square" lIns="0" tIns="18288" rIns="0" bIns="18288" anchor="t">
            <a:spAutoFit/>
          </a:bodyPr>
          <a:lstStyle/>
          <a:p>
            <a:pPr algn="l">
              <a:lnSpc>
                <a:spcPct val="140000"/>
              </a:lnSpc>
            </a:pPr>
            <a:r>
              <a:rPr sz="1300" b="0" i="0">
                <a:solidFill>
                  <a:srgbClr val="2C2C2C"/>
                </a:solidFill>
                <a:latin typeface="Calibri"/>
              </a:rPr>
              <a:t>Gradient amplifies it — spurious minima everywhere.</a:t>
            </a:r>
          </a:p>
        </p:txBody>
      </p:sp>
      <p:sp>
        <p:nvSpPr>
          <p:cNvPr id="17" name="Rounded Rectangle 16"/>
          <p:cNvSpPr/>
          <p:nvPr/>
        </p:nvSpPr>
        <p:spPr>
          <a:xfrm>
            <a:off x="548640" y="4297680"/>
            <a:ext cx="5532120" cy="1920240"/>
          </a:xfrm>
          <a:prstGeom prst="roundRect">
            <a:avLst>
              <a:gd name="adj" fmla="val 6000"/>
            </a:avLst>
          </a:prstGeom>
          <a:solidFill>
            <a:srgbClr val="F6F4EE"/>
          </a:solidFill>
          <a:ln w="6350">
            <a:solidFill>
              <a:srgbClr val="D4D1C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22960" y="4480560"/>
            <a:ext cx="5074920" cy="274320"/>
          </a:xfrm>
          <a:prstGeom prst="rect">
            <a:avLst/>
          </a:prstGeom>
          <a:noFill/>
        </p:spPr>
        <p:txBody>
          <a:bodyPr wrap="square" lIns="0" tIns="18288" rIns="0" bIns="18288" anchor="t">
            <a:spAutoFit/>
          </a:bodyPr>
          <a:lstStyle/>
          <a:p>
            <a:pPr algn="l">
              <a:lnSpc>
                <a:spcPct val="115000"/>
              </a:lnSpc>
            </a:pPr>
            <a:r>
              <a:rPr sz="1000" b="0" i="0" spc="80">
                <a:solidFill>
                  <a:srgbClr val="1F5FA8"/>
                </a:solidFill>
                <a:latin typeface="Courier New"/>
              </a:rPr>
              <a:t>ALTERNATIVE I  ·  GRAPH CUTS</a:t>
            </a:r>
          </a:p>
        </p:txBody>
      </p:sp>
      <p:sp>
        <p:nvSpPr>
          <p:cNvPr id="19" name="TextBox 18"/>
          <p:cNvSpPr txBox="1"/>
          <p:nvPr/>
        </p:nvSpPr>
        <p:spPr>
          <a:xfrm>
            <a:off x="822960" y="4846320"/>
            <a:ext cx="4983480" cy="457200"/>
          </a:xfrm>
          <a:prstGeom prst="rect">
            <a:avLst/>
          </a:prstGeom>
          <a:noFill/>
        </p:spPr>
        <p:txBody>
          <a:bodyPr wrap="square" lIns="0" tIns="18288" rIns="0" bIns="18288" anchor="t">
            <a:spAutoFit/>
          </a:bodyPr>
          <a:lstStyle/>
          <a:p>
            <a:pPr algn="l">
              <a:lnSpc>
                <a:spcPct val="115000"/>
              </a:lnSpc>
            </a:pPr>
            <a:r>
              <a:rPr sz="1800" b="0" i="0">
                <a:solidFill>
                  <a:srgbClr val="1A1A1A"/>
                </a:solidFill>
                <a:latin typeface="Georgia"/>
              </a:rPr>
              <a:t>Global energy minimisation</a:t>
            </a:r>
          </a:p>
        </p:txBody>
      </p:sp>
      <p:sp>
        <p:nvSpPr>
          <p:cNvPr id="20" name="TextBox 19"/>
          <p:cNvSpPr txBox="1"/>
          <p:nvPr/>
        </p:nvSpPr>
        <p:spPr>
          <a:xfrm>
            <a:off x="822960" y="5349240"/>
            <a:ext cx="4983480" cy="868680"/>
          </a:xfrm>
          <a:prstGeom prst="rect">
            <a:avLst/>
          </a:prstGeom>
          <a:noFill/>
        </p:spPr>
        <p:txBody>
          <a:bodyPr wrap="square" lIns="0" tIns="18288" rIns="0" bIns="18288" anchor="t">
            <a:spAutoFit/>
          </a:bodyPr>
          <a:lstStyle/>
          <a:p>
            <a:pPr algn="l">
              <a:lnSpc>
                <a:spcPct val="140000"/>
              </a:lnSpc>
            </a:pPr>
            <a:r>
              <a:rPr sz="1200" b="0" i="0">
                <a:solidFill>
                  <a:srgbClr val="2C2C2C"/>
                </a:solidFill>
                <a:latin typeface="Calibri"/>
              </a:rPr>
              <a:t>Smoothness + data term, minimised globally via max-flow / min-cut. Globally optimal where watershed is greedy. Peng &amp; Liu hybrid: 2.44 s → 0.63 s on 256×256.</a:t>
            </a:r>
          </a:p>
        </p:txBody>
      </p:sp>
      <p:sp>
        <p:nvSpPr>
          <p:cNvPr id="21" name="Rounded Rectangle 20"/>
          <p:cNvSpPr/>
          <p:nvPr/>
        </p:nvSpPr>
        <p:spPr>
          <a:xfrm>
            <a:off x="6291072" y="4297680"/>
            <a:ext cx="5532120" cy="1920240"/>
          </a:xfrm>
          <a:prstGeom prst="roundRect">
            <a:avLst>
              <a:gd name="adj" fmla="val 6000"/>
            </a:avLst>
          </a:prstGeom>
          <a:solidFill>
            <a:srgbClr val="F6F4EE"/>
          </a:solidFill>
          <a:ln w="6350">
            <a:solidFill>
              <a:srgbClr val="D4D1C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565392" y="4480560"/>
            <a:ext cx="5074920" cy="274320"/>
          </a:xfrm>
          <a:prstGeom prst="rect">
            <a:avLst/>
          </a:prstGeom>
          <a:noFill/>
        </p:spPr>
        <p:txBody>
          <a:bodyPr wrap="square" lIns="0" tIns="18288" rIns="0" bIns="18288" anchor="t">
            <a:spAutoFit/>
          </a:bodyPr>
          <a:lstStyle/>
          <a:p>
            <a:pPr algn="l">
              <a:lnSpc>
                <a:spcPct val="115000"/>
              </a:lnSpc>
            </a:pPr>
            <a:r>
              <a:rPr sz="1000" b="0" i="0" spc="80">
                <a:solidFill>
                  <a:srgbClr val="1F5FA8"/>
                </a:solidFill>
                <a:latin typeface="Courier New"/>
              </a:rPr>
              <a:t>ALTERNATIVE II  ·  ACTIVE CONTOURS</a:t>
            </a:r>
          </a:p>
        </p:txBody>
      </p:sp>
      <p:sp>
        <p:nvSpPr>
          <p:cNvPr id="23" name="TextBox 22"/>
          <p:cNvSpPr txBox="1"/>
          <p:nvPr/>
        </p:nvSpPr>
        <p:spPr>
          <a:xfrm>
            <a:off x="6565392" y="4846320"/>
            <a:ext cx="4983480" cy="457200"/>
          </a:xfrm>
          <a:prstGeom prst="rect">
            <a:avLst/>
          </a:prstGeom>
          <a:noFill/>
        </p:spPr>
        <p:txBody>
          <a:bodyPr wrap="square" lIns="0" tIns="18288" rIns="0" bIns="18288" anchor="t">
            <a:spAutoFit/>
          </a:bodyPr>
          <a:lstStyle/>
          <a:p>
            <a:pPr algn="l">
              <a:lnSpc>
                <a:spcPct val="115000"/>
              </a:lnSpc>
            </a:pPr>
            <a:r>
              <a:rPr sz="1800" b="0" i="0">
                <a:solidFill>
                  <a:srgbClr val="1A1A1A"/>
                </a:solidFill>
                <a:latin typeface="Georgia"/>
              </a:rPr>
              <a:t>Snakes / level sets</a:t>
            </a:r>
          </a:p>
        </p:txBody>
      </p:sp>
      <p:sp>
        <p:nvSpPr>
          <p:cNvPr id="24" name="TextBox 23"/>
          <p:cNvSpPr txBox="1"/>
          <p:nvPr/>
        </p:nvSpPr>
        <p:spPr>
          <a:xfrm>
            <a:off x="6565392" y="5349240"/>
            <a:ext cx="4983480" cy="868680"/>
          </a:xfrm>
          <a:prstGeom prst="rect">
            <a:avLst/>
          </a:prstGeom>
          <a:noFill/>
        </p:spPr>
        <p:txBody>
          <a:bodyPr wrap="square" lIns="0" tIns="18288" rIns="0" bIns="18288" anchor="t">
            <a:spAutoFit/>
          </a:bodyPr>
          <a:lstStyle/>
          <a:p>
            <a:pPr algn="l">
              <a:lnSpc>
                <a:spcPct val="140000"/>
              </a:lnSpc>
            </a:pPr>
            <a:r>
              <a:rPr sz="1200" b="0" i="0">
                <a:solidFill>
                  <a:srgbClr val="2C2C2C"/>
                </a:solidFill>
                <a:latin typeface="Calibri"/>
              </a:rPr>
              <a:t>Deform a curve to minimise an energy functional. Region-based variants need no precise initialisation. Always produces continuous boundary curves.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A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7315200" cy="208134"/>
          </a:xfrm>
          <a:prstGeom prst="rect">
            <a:avLst/>
          </a:prstGeom>
          <a:noFill/>
        </p:spPr>
        <p:txBody>
          <a:bodyPr wrap="square" lIns="0" tIns="18288" rIns="0" bIns="18288" anchor="t">
            <a:spAutoFit/>
          </a:bodyPr>
          <a:lstStyle/>
          <a:p>
            <a:pPr algn="l">
              <a:lnSpc>
                <a:spcPct val="115000"/>
              </a:lnSpc>
            </a:pPr>
            <a:r>
              <a:rPr sz="1000" b="0" i="0" spc="50" dirty="0">
                <a:solidFill>
                  <a:srgbClr val="6E6E6E"/>
                </a:solidFill>
                <a:latin typeface="Courier New"/>
              </a:rPr>
              <a:t>Real-World Applications</a:t>
            </a:r>
          </a:p>
        </p:txBody>
      </p:sp>
      <p:sp>
        <p:nvSpPr>
          <p:cNvPr id="5" name="TextBox 4"/>
          <p:cNvSpPr txBox="1"/>
          <p:nvPr/>
        </p:nvSpPr>
        <p:spPr>
          <a:xfrm>
            <a:off x="548640" y="6400800"/>
            <a:ext cx="7315200" cy="274320"/>
          </a:xfrm>
          <a:prstGeom prst="rect">
            <a:avLst/>
          </a:prstGeom>
          <a:noFill/>
        </p:spPr>
        <p:txBody>
          <a:bodyPr wrap="square" lIns="0" tIns="18288" rIns="0" bIns="18288" anchor="t">
            <a:spAutoFit/>
          </a:bodyPr>
          <a:lstStyle/>
          <a:p>
            <a:pPr algn="l">
              <a:lnSpc>
                <a:spcPct val="115000"/>
              </a:lnSpc>
            </a:pPr>
            <a:r>
              <a:rPr sz="1000" b="0" i="0" spc="30">
                <a:solidFill>
                  <a:srgbClr val="6E6E6E"/>
                </a:solidFill>
                <a:latin typeface="Courier New"/>
              </a:rPr>
              <a:t>17 — Applications</a:t>
            </a:r>
          </a:p>
        </p:txBody>
      </p:sp>
      <p:sp>
        <p:nvSpPr>
          <p:cNvPr id="6" name="TextBox 5"/>
          <p:cNvSpPr txBox="1"/>
          <p:nvPr/>
        </p:nvSpPr>
        <p:spPr>
          <a:xfrm>
            <a:off x="548640" y="960120"/>
            <a:ext cx="7315200" cy="274320"/>
          </a:xfrm>
          <a:prstGeom prst="rect">
            <a:avLst/>
          </a:prstGeom>
          <a:noFill/>
        </p:spPr>
        <p:txBody>
          <a:bodyPr wrap="square" lIns="0" tIns="18288" rIns="0" bIns="18288" anchor="t">
            <a:spAutoFit/>
          </a:bodyPr>
          <a:lstStyle/>
          <a:p>
            <a:pPr algn="l">
              <a:lnSpc>
                <a:spcPct val="115000"/>
              </a:lnSpc>
            </a:pPr>
            <a:r>
              <a:rPr sz="1000" b="0" i="0" spc="80">
                <a:solidFill>
                  <a:srgbClr val="1F5FA8"/>
                </a:solidFill>
                <a:latin typeface="Courier New"/>
              </a:rPr>
              <a:t>WHERE THIS GETS USED TODAY</a:t>
            </a:r>
          </a:p>
        </p:txBody>
      </p:sp>
      <p:sp>
        <p:nvSpPr>
          <p:cNvPr id="7" name="TextBox 6"/>
          <p:cNvSpPr txBox="1"/>
          <p:nvPr/>
        </p:nvSpPr>
        <p:spPr>
          <a:xfrm>
            <a:off x="502920" y="1325880"/>
            <a:ext cx="11430000" cy="1097280"/>
          </a:xfrm>
          <a:prstGeom prst="rect">
            <a:avLst/>
          </a:prstGeom>
          <a:noFill/>
        </p:spPr>
        <p:txBody>
          <a:bodyPr wrap="square" lIns="0" tIns="18288" rIns="0" bIns="18288" anchor="t">
            <a:spAutoFit/>
          </a:bodyPr>
          <a:lstStyle/>
          <a:p>
            <a:pPr algn="l">
              <a:lnSpc>
                <a:spcPct val="105000"/>
              </a:lnSpc>
            </a:pPr>
            <a:r>
              <a:rPr sz="3600" b="0" i="0">
                <a:solidFill>
                  <a:srgbClr val="1A1A1A"/>
                </a:solidFill>
                <a:latin typeface="Georgia"/>
              </a:rPr>
              <a:t>From CT scans to </a:t>
            </a:r>
            <a:r>
              <a:rPr sz="3600" b="0" i="1">
                <a:solidFill>
                  <a:srgbClr val="1A1A1A"/>
                </a:solidFill>
                <a:latin typeface="Georgia"/>
              </a:rPr>
              <a:t>self-driving</a:t>
            </a:r>
            <a:r>
              <a:rPr sz="3600" b="0" i="0">
                <a:solidFill>
                  <a:srgbClr val="1A1A1A"/>
                </a:solidFill>
                <a:latin typeface="Georgia"/>
              </a:rPr>
              <a:t> cars.</a:t>
            </a:r>
          </a:p>
        </p:txBody>
      </p:sp>
      <p:sp>
        <p:nvSpPr>
          <p:cNvPr id="8" name="Rounded Rectangle 7"/>
          <p:cNvSpPr/>
          <p:nvPr/>
        </p:nvSpPr>
        <p:spPr>
          <a:xfrm>
            <a:off x="548640" y="2743200"/>
            <a:ext cx="5532120" cy="1737360"/>
          </a:xfrm>
          <a:prstGeom prst="roundRect">
            <a:avLst>
              <a:gd name="adj" fmla="val 6000"/>
            </a:avLst>
          </a:prstGeom>
          <a:solidFill>
            <a:srgbClr val="F6F4EE"/>
          </a:solidFill>
          <a:ln w="6350">
            <a:solidFill>
              <a:srgbClr val="D4D1C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22960" y="2926080"/>
            <a:ext cx="5074920" cy="274320"/>
          </a:xfrm>
          <a:prstGeom prst="rect">
            <a:avLst/>
          </a:prstGeom>
          <a:noFill/>
        </p:spPr>
        <p:txBody>
          <a:bodyPr wrap="square" lIns="0" tIns="18288" rIns="0" bIns="18288" anchor="t">
            <a:spAutoFit/>
          </a:bodyPr>
          <a:lstStyle/>
          <a:p>
            <a:pPr algn="l">
              <a:lnSpc>
                <a:spcPct val="115000"/>
              </a:lnSpc>
            </a:pPr>
            <a:r>
              <a:rPr sz="1000" b="0" i="0" spc="80">
                <a:solidFill>
                  <a:srgbClr val="1F5FA8"/>
                </a:solidFill>
                <a:latin typeface="Courier New"/>
              </a:rPr>
              <a:t>MEDICAL IMAGING</a:t>
            </a:r>
          </a:p>
        </p:txBody>
      </p:sp>
      <p:sp>
        <p:nvSpPr>
          <p:cNvPr id="10" name="TextBox 9"/>
          <p:cNvSpPr txBox="1"/>
          <p:nvPr/>
        </p:nvSpPr>
        <p:spPr>
          <a:xfrm>
            <a:off x="822960" y="3246120"/>
            <a:ext cx="4983480" cy="457200"/>
          </a:xfrm>
          <a:prstGeom prst="rect">
            <a:avLst/>
          </a:prstGeom>
          <a:noFill/>
        </p:spPr>
        <p:txBody>
          <a:bodyPr wrap="square" lIns="0" tIns="18288" rIns="0" bIns="18288" anchor="t">
            <a:spAutoFit/>
          </a:bodyPr>
          <a:lstStyle/>
          <a:p>
            <a:pPr algn="l">
              <a:lnSpc>
                <a:spcPct val="115000"/>
              </a:lnSpc>
            </a:pPr>
            <a:r>
              <a:rPr sz="1800" b="0" i="0">
                <a:solidFill>
                  <a:srgbClr val="1A1A1A"/>
                </a:solidFill>
                <a:latin typeface="Georgia"/>
              </a:rPr>
              <a:t>Lung lobe segmentation from CT</a:t>
            </a:r>
          </a:p>
        </p:txBody>
      </p:sp>
      <p:sp>
        <p:nvSpPr>
          <p:cNvPr id="11" name="TextBox 10"/>
          <p:cNvSpPr txBox="1"/>
          <p:nvPr/>
        </p:nvSpPr>
        <p:spPr>
          <a:xfrm>
            <a:off x="822960" y="3794760"/>
            <a:ext cx="4983480" cy="777240"/>
          </a:xfrm>
          <a:prstGeom prst="rect">
            <a:avLst/>
          </a:prstGeom>
          <a:noFill/>
        </p:spPr>
        <p:txBody>
          <a:bodyPr wrap="square" lIns="0" tIns="18288" rIns="0" bIns="18288" anchor="t">
            <a:spAutoFit/>
          </a:bodyPr>
          <a:lstStyle/>
          <a:p>
            <a:pPr algn="l">
              <a:lnSpc>
                <a:spcPct val="140000"/>
              </a:lnSpc>
            </a:pPr>
            <a:r>
              <a:rPr sz="1200" b="0" i="0" dirty="0">
                <a:solidFill>
                  <a:srgbClr val="2C2C2C"/>
                </a:solidFill>
                <a:latin typeface="Calibri"/>
              </a:rPr>
              <a:t>Kaur &amp; Jindal (2011) — marker-controlled watershed for anatomical structure delineation.</a:t>
            </a:r>
          </a:p>
        </p:txBody>
      </p:sp>
      <p:sp>
        <p:nvSpPr>
          <p:cNvPr id="12" name="Rounded Rectangle 11"/>
          <p:cNvSpPr/>
          <p:nvPr/>
        </p:nvSpPr>
        <p:spPr>
          <a:xfrm>
            <a:off x="6263640" y="2743200"/>
            <a:ext cx="5532120" cy="1737360"/>
          </a:xfrm>
          <a:prstGeom prst="roundRect">
            <a:avLst>
              <a:gd name="adj" fmla="val 6000"/>
            </a:avLst>
          </a:prstGeom>
          <a:solidFill>
            <a:srgbClr val="F6F4EE"/>
          </a:solidFill>
          <a:ln w="6350">
            <a:solidFill>
              <a:srgbClr val="D4D1C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537960" y="2926080"/>
            <a:ext cx="5074920" cy="274320"/>
          </a:xfrm>
          <a:prstGeom prst="rect">
            <a:avLst/>
          </a:prstGeom>
          <a:noFill/>
        </p:spPr>
        <p:txBody>
          <a:bodyPr wrap="square" lIns="0" tIns="18288" rIns="0" bIns="18288" anchor="t">
            <a:spAutoFit/>
          </a:bodyPr>
          <a:lstStyle/>
          <a:p>
            <a:pPr algn="l">
              <a:lnSpc>
                <a:spcPct val="115000"/>
              </a:lnSpc>
            </a:pPr>
            <a:r>
              <a:rPr sz="1000" b="0" i="0" spc="80">
                <a:solidFill>
                  <a:srgbClr val="1F5FA8"/>
                </a:solidFill>
                <a:latin typeface="Courier New"/>
              </a:rPr>
              <a:t>DERMATOLOGY</a:t>
            </a:r>
          </a:p>
        </p:txBody>
      </p:sp>
      <p:sp>
        <p:nvSpPr>
          <p:cNvPr id="14" name="TextBox 13"/>
          <p:cNvSpPr txBox="1"/>
          <p:nvPr/>
        </p:nvSpPr>
        <p:spPr>
          <a:xfrm>
            <a:off x="6537960" y="3246120"/>
            <a:ext cx="4983480" cy="457200"/>
          </a:xfrm>
          <a:prstGeom prst="rect">
            <a:avLst/>
          </a:prstGeom>
          <a:noFill/>
        </p:spPr>
        <p:txBody>
          <a:bodyPr wrap="square" lIns="0" tIns="18288" rIns="0" bIns="18288" anchor="t">
            <a:spAutoFit/>
          </a:bodyPr>
          <a:lstStyle/>
          <a:p>
            <a:pPr algn="l">
              <a:lnSpc>
                <a:spcPct val="115000"/>
              </a:lnSpc>
            </a:pPr>
            <a:r>
              <a:rPr sz="1800" b="0" i="0">
                <a:solidFill>
                  <a:srgbClr val="1A1A1A"/>
                </a:solidFill>
                <a:latin typeface="Georgia"/>
              </a:rPr>
              <a:t>Dermoscopic lesion boundaries</a:t>
            </a:r>
          </a:p>
        </p:txBody>
      </p:sp>
      <p:sp>
        <p:nvSpPr>
          <p:cNvPr id="15" name="TextBox 14"/>
          <p:cNvSpPr txBox="1"/>
          <p:nvPr/>
        </p:nvSpPr>
        <p:spPr>
          <a:xfrm>
            <a:off x="6537960" y="3794760"/>
            <a:ext cx="4983480" cy="777240"/>
          </a:xfrm>
          <a:prstGeom prst="rect">
            <a:avLst/>
          </a:prstGeom>
          <a:noFill/>
        </p:spPr>
        <p:txBody>
          <a:bodyPr wrap="square" lIns="0" tIns="18288" rIns="0" bIns="18288" anchor="t">
            <a:spAutoFit/>
          </a:bodyPr>
          <a:lstStyle/>
          <a:p>
            <a:pPr algn="l">
              <a:lnSpc>
                <a:spcPct val="140000"/>
              </a:lnSpc>
            </a:pPr>
            <a:r>
              <a:rPr sz="1200" b="0" i="0" dirty="0">
                <a:solidFill>
                  <a:srgbClr val="2C2C2C"/>
                </a:solidFill>
                <a:latin typeface="Calibri"/>
              </a:rPr>
              <a:t>Gilani et al. (2025) — applied to skin lesions; also source of the reliability audit on the previous slide.</a:t>
            </a:r>
          </a:p>
        </p:txBody>
      </p:sp>
      <p:sp>
        <p:nvSpPr>
          <p:cNvPr id="16" name="Rounded Rectangle 15"/>
          <p:cNvSpPr/>
          <p:nvPr/>
        </p:nvSpPr>
        <p:spPr>
          <a:xfrm>
            <a:off x="548640" y="4617720"/>
            <a:ext cx="5532120" cy="1737360"/>
          </a:xfrm>
          <a:prstGeom prst="roundRect">
            <a:avLst>
              <a:gd name="adj" fmla="val 6000"/>
            </a:avLst>
          </a:prstGeom>
          <a:solidFill>
            <a:srgbClr val="F6F4EE"/>
          </a:solidFill>
          <a:ln w="6350">
            <a:solidFill>
              <a:srgbClr val="D4D1C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22960" y="4800600"/>
            <a:ext cx="5074920" cy="274320"/>
          </a:xfrm>
          <a:prstGeom prst="rect">
            <a:avLst/>
          </a:prstGeom>
          <a:noFill/>
        </p:spPr>
        <p:txBody>
          <a:bodyPr wrap="square" lIns="0" tIns="18288" rIns="0" bIns="18288" anchor="t">
            <a:spAutoFit/>
          </a:bodyPr>
          <a:lstStyle/>
          <a:p>
            <a:pPr algn="l">
              <a:lnSpc>
                <a:spcPct val="115000"/>
              </a:lnSpc>
            </a:pPr>
            <a:r>
              <a:rPr sz="1000" b="0" i="0" spc="80">
                <a:solidFill>
                  <a:srgbClr val="1F5FA8"/>
                </a:solidFill>
                <a:latin typeface="Courier New"/>
              </a:rPr>
              <a:t>INDUSTRIAL</a:t>
            </a:r>
          </a:p>
        </p:txBody>
      </p:sp>
      <p:sp>
        <p:nvSpPr>
          <p:cNvPr id="18" name="TextBox 17"/>
          <p:cNvSpPr txBox="1"/>
          <p:nvPr/>
        </p:nvSpPr>
        <p:spPr>
          <a:xfrm>
            <a:off x="822960" y="5120640"/>
            <a:ext cx="4983480" cy="457200"/>
          </a:xfrm>
          <a:prstGeom prst="rect">
            <a:avLst/>
          </a:prstGeom>
          <a:noFill/>
        </p:spPr>
        <p:txBody>
          <a:bodyPr wrap="square" lIns="0" tIns="18288" rIns="0" bIns="18288" anchor="t">
            <a:spAutoFit/>
          </a:bodyPr>
          <a:lstStyle/>
          <a:p>
            <a:pPr algn="l">
              <a:lnSpc>
                <a:spcPct val="115000"/>
              </a:lnSpc>
            </a:pPr>
            <a:r>
              <a:rPr sz="1800" b="0" i="0">
                <a:solidFill>
                  <a:srgbClr val="1A1A1A"/>
                </a:solidFill>
                <a:latin typeface="Georgia"/>
              </a:rPr>
              <a:t>Real-time particle sizing</a:t>
            </a:r>
          </a:p>
        </p:txBody>
      </p:sp>
      <p:sp>
        <p:nvSpPr>
          <p:cNvPr id="19" name="TextBox 18"/>
          <p:cNvSpPr txBox="1"/>
          <p:nvPr/>
        </p:nvSpPr>
        <p:spPr>
          <a:xfrm>
            <a:off x="822960" y="5669280"/>
            <a:ext cx="4983480" cy="271485"/>
          </a:xfrm>
          <a:prstGeom prst="rect">
            <a:avLst/>
          </a:prstGeom>
          <a:noFill/>
        </p:spPr>
        <p:txBody>
          <a:bodyPr wrap="square" lIns="0" tIns="18288" rIns="0" bIns="18288" anchor="t">
            <a:spAutoFit/>
          </a:bodyPr>
          <a:lstStyle/>
          <a:p>
            <a:pPr algn="l">
              <a:lnSpc>
                <a:spcPct val="140000"/>
              </a:lnSpc>
            </a:pPr>
            <a:r>
              <a:rPr sz="1200" b="0" i="0" dirty="0">
                <a:solidFill>
                  <a:srgbClr val="2C2C2C"/>
                </a:solidFill>
                <a:latin typeface="Calibri"/>
              </a:rPr>
              <a:t> adaptive watershed for measurement in dynamic fluid flows.</a:t>
            </a:r>
          </a:p>
        </p:txBody>
      </p:sp>
      <p:sp>
        <p:nvSpPr>
          <p:cNvPr id="20" name="Rounded Rectangle 19"/>
          <p:cNvSpPr/>
          <p:nvPr/>
        </p:nvSpPr>
        <p:spPr>
          <a:xfrm>
            <a:off x="6263640" y="4617720"/>
            <a:ext cx="5532120" cy="1737360"/>
          </a:xfrm>
          <a:prstGeom prst="roundRect">
            <a:avLst>
              <a:gd name="adj" fmla="val 6000"/>
            </a:avLst>
          </a:prstGeom>
          <a:solidFill>
            <a:srgbClr val="F6F4EE"/>
          </a:solidFill>
          <a:ln w="6350">
            <a:solidFill>
              <a:srgbClr val="D4D1C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537960" y="4800600"/>
            <a:ext cx="5074920" cy="274320"/>
          </a:xfrm>
          <a:prstGeom prst="rect">
            <a:avLst/>
          </a:prstGeom>
          <a:noFill/>
        </p:spPr>
        <p:txBody>
          <a:bodyPr wrap="square" lIns="0" tIns="18288" rIns="0" bIns="18288" anchor="t">
            <a:spAutoFit/>
          </a:bodyPr>
          <a:lstStyle/>
          <a:p>
            <a:pPr algn="l">
              <a:lnSpc>
                <a:spcPct val="115000"/>
              </a:lnSpc>
            </a:pPr>
            <a:r>
              <a:rPr sz="1000" b="0" i="0" spc="80">
                <a:solidFill>
                  <a:srgbClr val="1F5FA8"/>
                </a:solidFill>
                <a:latin typeface="Courier New"/>
              </a:rPr>
              <a:t>AUTONOMOUS DRIVING</a:t>
            </a:r>
          </a:p>
        </p:txBody>
      </p:sp>
      <p:sp>
        <p:nvSpPr>
          <p:cNvPr id="22" name="TextBox 21"/>
          <p:cNvSpPr txBox="1"/>
          <p:nvPr/>
        </p:nvSpPr>
        <p:spPr>
          <a:xfrm>
            <a:off x="6537960" y="5120640"/>
            <a:ext cx="4983480" cy="457200"/>
          </a:xfrm>
          <a:prstGeom prst="rect">
            <a:avLst/>
          </a:prstGeom>
          <a:noFill/>
        </p:spPr>
        <p:txBody>
          <a:bodyPr wrap="square" lIns="0" tIns="18288" rIns="0" bIns="18288" anchor="t">
            <a:spAutoFit/>
          </a:bodyPr>
          <a:lstStyle/>
          <a:p>
            <a:pPr algn="l">
              <a:lnSpc>
                <a:spcPct val="115000"/>
              </a:lnSpc>
            </a:pPr>
            <a:r>
              <a:rPr sz="1800" b="0" i="0">
                <a:solidFill>
                  <a:srgbClr val="1A1A1A"/>
                </a:solidFill>
                <a:latin typeface="Georgia"/>
              </a:rPr>
              <a:t>Instance segmentation backbone</a:t>
            </a:r>
          </a:p>
        </p:txBody>
      </p:sp>
      <p:sp>
        <p:nvSpPr>
          <p:cNvPr id="23" name="TextBox 22"/>
          <p:cNvSpPr txBox="1"/>
          <p:nvPr/>
        </p:nvSpPr>
        <p:spPr>
          <a:xfrm>
            <a:off x="6537960" y="5669280"/>
            <a:ext cx="4983480" cy="777240"/>
          </a:xfrm>
          <a:prstGeom prst="rect">
            <a:avLst/>
          </a:prstGeom>
          <a:noFill/>
        </p:spPr>
        <p:txBody>
          <a:bodyPr wrap="square" lIns="0" tIns="18288" rIns="0" bIns="18288" anchor="t">
            <a:spAutoFit/>
          </a:bodyPr>
          <a:lstStyle/>
          <a:p>
            <a:pPr algn="l">
              <a:lnSpc>
                <a:spcPct val="140000"/>
              </a:lnSpc>
            </a:pPr>
            <a:r>
              <a:rPr sz="1200" b="0" i="0" dirty="0">
                <a:solidFill>
                  <a:srgbClr val="2C2C2C"/>
                </a:solidFill>
                <a:latin typeface="Calibri"/>
              </a:rPr>
              <a:t>Bai &amp; Urtasun (2017) — Deep Watershed Transform replaces the hand-crafted gradient with a learned CNN energy map.</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A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7315200" cy="208134"/>
          </a:xfrm>
          <a:prstGeom prst="rect">
            <a:avLst/>
          </a:prstGeom>
          <a:noFill/>
        </p:spPr>
        <p:txBody>
          <a:bodyPr wrap="square" lIns="0" tIns="18288" rIns="0" bIns="18288" anchor="t">
            <a:spAutoFit/>
          </a:bodyPr>
          <a:lstStyle/>
          <a:p>
            <a:pPr algn="l">
              <a:lnSpc>
                <a:spcPct val="115000"/>
              </a:lnSpc>
            </a:pPr>
            <a:r>
              <a:rPr sz="1000" b="0" i="0" spc="50" dirty="0">
                <a:solidFill>
                  <a:srgbClr val="6E6E6E"/>
                </a:solidFill>
                <a:latin typeface="Courier New"/>
              </a:rPr>
              <a:t>Quick Reference</a:t>
            </a:r>
          </a:p>
        </p:txBody>
      </p:sp>
      <p:sp>
        <p:nvSpPr>
          <p:cNvPr id="5" name="TextBox 4"/>
          <p:cNvSpPr txBox="1"/>
          <p:nvPr/>
        </p:nvSpPr>
        <p:spPr>
          <a:xfrm>
            <a:off x="548640" y="6400800"/>
            <a:ext cx="7315200" cy="274320"/>
          </a:xfrm>
          <a:prstGeom prst="rect">
            <a:avLst/>
          </a:prstGeom>
          <a:noFill/>
        </p:spPr>
        <p:txBody>
          <a:bodyPr wrap="square" lIns="0" tIns="18288" rIns="0" bIns="18288" anchor="t">
            <a:spAutoFit/>
          </a:bodyPr>
          <a:lstStyle/>
          <a:p>
            <a:pPr algn="l">
              <a:lnSpc>
                <a:spcPct val="115000"/>
              </a:lnSpc>
            </a:pPr>
            <a:r>
              <a:rPr sz="1000" b="0" i="0" spc="30">
                <a:solidFill>
                  <a:srgbClr val="6E6E6E"/>
                </a:solidFill>
                <a:latin typeface="Courier New"/>
              </a:rPr>
              <a:t>18 — End</a:t>
            </a:r>
          </a:p>
        </p:txBody>
      </p:sp>
      <p:sp>
        <p:nvSpPr>
          <p:cNvPr id="6" name="TextBox 5"/>
          <p:cNvSpPr txBox="1"/>
          <p:nvPr/>
        </p:nvSpPr>
        <p:spPr>
          <a:xfrm>
            <a:off x="8229600" y="6400800"/>
            <a:ext cx="3383280" cy="274320"/>
          </a:xfrm>
          <a:prstGeom prst="rect">
            <a:avLst/>
          </a:prstGeom>
          <a:noFill/>
        </p:spPr>
        <p:txBody>
          <a:bodyPr wrap="square" lIns="0" tIns="18288" rIns="0" bIns="18288" anchor="t">
            <a:spAutoFit/>
          </a:bodyPr>
          <a:lstStyle/>
          <a:p>
            <a:pPr algn="r">
              <a:lnSpc>
                <a:spcPct val="115000"/>
              </a:lnSpc>
            </a:pPr>
            <a:r>
              <a:rPr sz="1000" b="0" i="0" spc="30">
                <a:solidFill>
                  <a:srgbClr val="6E6E6E"/>
                </a:solidFill>
                <a:latin typeface="Courier New"/>
              </a:rPr>
              <a:t>University of Malta</a:t>
            </a:r>
          </a:p>
        </p:txBody>
      </p:sp>
      <p:sp>
        <p:nvSpPr>
          <p:cNvPr id="7" name="TextBox 6"/>
          <p:cNvSpPr txBox="1"/>
          <p:nvPr/>
        </p:nvSpPr>
        <p:spPr>
          <a:xfrm>
            <a:off x="548640" y="960120"/>
            <a:ext cx="5486400" cy="274320"/>
          </a:xfrm>
          <a:prstGeom prst="rect">
            <a:avLst/>
          </a:prstGeom>
          <a:noFill/>
        </p:spPr>
        <p:txBody>
          <a:bodyPr wrap="square" lIns="0" tIns="18288" rIns="0" bIns="18288" anchor="t">
            <a:spAutoFit/>
          </a:bodyPr>
          <a:lstStyle/>
          <a:p>
            <a:pPr algn="l">
              <a:lnSpc>
                <a:spcPct val="115000"/>
              </a:lnSpc>
            </a:pPr>
            <a:r>
              <a:rPr sz="1000" b="0" i="0" spc="80">
                <a:solidFill>
                  <a:srgbClr val="1F5FA8"/>
                </a:solidFill>
                <a:latin typeface="Courier New"/>
              </a:rPr>
              <a:t>IF YOU REMEMBER NOTHING ELSE…</a:t>
            </a:r>
          </a:p>
        </p:txBody>
      </p:sp>
      <p:sp>
        <p:nvSpPr>
          <p:cNvPr id="8" name="TextBox 7"/>
          <p:cNvSpPr txBox="1"/>
          <p:nvPr/>
        </p:nvSpPr>
        <p:spPr>
          <a:xfrm>
            <a:off x="502920" y="1325880"/>
            <a:ext cx="11430000" cy="1097280"/>
          </a:xfrm>
          <a:prstGeom prst="rect">
            <a:avLst/>
          </a:prstGeom>
          <a:noFill/>
        </p:spPr>
        <p:txBody>
          <a:bodyPr wrap="square" lIns="0" tIns="18288" rIns="0" bIns="18288" anchor="t">
            <a:spAutoFit/>
          </a:bodyPr>
          <a:lstStyle/>
          <a:p>
            <a:pPr algn="l">
              <a:lnSpc>
                <a:spcPct val="105000"/>
              </a:lnSpc>
            </a:pPr>
            <a:r>
              <a:rPr sz="4200" b="0" i="0">
                <a:solidFill>
                  <a:srgbClr val="1A1A1A"/>
                </a:solidFill>
                <a:latin typeface="Georgia"/>
              </a:rPr>
              <a:t>What to </a:t>
            </a:r>
            <a:r>
              <a:rPr sz="4200" b="0" i="1">
                <a:solidFill>
                  <a:srgbClr val="1A1A1A"/>
                </a:solidFill>
                <a:latin typeface="Georgia"/>
              </a:rPr>
              <a:t>take away.</a:t>
            </a:r>
          </a:p>
        </p:txBody>
      </p:sp>
      <p:cxnSp>
        <p:nvCxnSpPr>
          <p:cNvPr id="9" name="Connector 8"/>
          <p:cNvCxnSpPr/>
          <p:nvPr/>
        </p:nvCxnSpPr>
        <p:spPr>
          <a:xfrm>
            <a:off x="548640" y="2651760"/>
            <a:ext cx="11091672" cy="0"/>
          </a:xfrm>
          <a:prstGeom prst="line">
            <a:avLst/>
          </a:prstGeom>
          <a:ln w="6350">
            <a:solidFill>
              <a:srgbClr val="D4D1CA"/>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48640" y="2743200"/>
            <a:ext cx="10972800" cy="365760"/>
          </a:xfrm>
          <a:prstGeom prst="rect">
            <a:avLst/>
          </a:prstGeom>
          <a:noFill/>
        </p:spPr>
        <p:txBody>
          <a:bodyPr wrap="square" lIns="0" tIns="18288" rIns="0" bIns="18288" anchor="t">
            <a:spAutoFit/>
          </a:bodyPr>
          <a:lstStyle/>
          <a:p>
            <a:pPr algn="ctr">
              <a:lnSpc>
                <a:spcPct val="115000"/>
              </a:lnSpc>
            </a:pPr>
            <a:r>
              <a:rPr sz="1800" b="0" i="0" dirty="0">
                <a:solidFill>
                  <a:srgbClr val="1A1A1A"/>
                </a:solidFill>
                <a:latin typeface="Courier New"/>
              </a:rPr>
              <a:t>g(f)  =  (f ⊕ B)  −  (f ⊖ B)</a:t>
            </a:r>
          </a:p>
        </p:txBody>
      </p:sp>
      <p:sp>
        <p:nvSpPr>
          <p:cNvPr id="11" name="TextBox 10"/>
          <p:cNvSpPr txBox="1"/>
          <p:nvPr/>
        </p:nvSpPr>
        <p:spPr>
          <a:xfrm>
            <a:off x="548640" y="3154680"/>
            <a:ext cx="10972800" cy="274320"/>
          </a:xfrm>
          <a:prstGeom prst="rect">
            <a:avLst/>
          </a:prstGeom>
          <a:noFill/>
        </p:spPr>
        <p:txBody>
          <a:bodyPr wrap="square" lIns="0" tIns="18288" rIns="0" bIns="18288" anchor="t">
            <a:spAutoFit/>
          </a:bodyPr>
          <a:lstStyle/>
          <a:p>
            <a:pPr algn="ctr">
              <a:lnSpc>
                <a:spcPct val="115000"/>
              </a:lnSpc>
            </a:pPr>
            <a:r>
              <a:rPr sz="1300" b="0" i="1">
                <a:solidFill>
                  <a:srgbClr val="6E6E6E"/>
                </a:solidFill>
                <a:latin typeface="Calibri"/>
              </a:rPr>
              <a:t>Apply watershed to g(f), not to f.</a:t>
            </a:r>
          </a:p>
        </p:txBody>
      </p:sp>
      <p:cxnSp>
        <p:nvCxnSpPr>
          <p:cNvPr id="12" name="Connector 11"/>
          <p:cNvCxnSpPr/>
          <p:nvPr/>
        </p:nvCxnSpPr>
        <p:spPr>
          <a:xfrm>
            <a:off x="548640" y="3520440"/>
            <a:ext cx="11091672" cy="0"/>
          </a:xfrm>
          <a:prstGeom prst="line">
            <a:avLst/>
          </a:prstGeom>
          <a:ln w="6350">
            <a:solidFill>
              <a:srgbClr val="D4D1CA"/>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548640" y="3703320"/>
            <a:ext cx="5303520" cy="274320"/>
          </a:xfrm>
          <a:prstGeom prst="rect">
            <a:avLst/>
          </a:prstGeom>
          <a:noFill/>
        </p:spPr>
        <p:txBody>
          <a:bodyPr wrap="square" lIns="0" tIns="18288" rIns="0" bIns="18288" anchor="t">
            <a:spAutoFit/>
          </a:bodyPr>
          <a:lstStyle/>
          <a:p>
            <a:pPr algn="l">
              <a:lnSpc>
                <a:spcPct val="115000"/>
              </a:lnSpc>
            </a:pPr>
            <a:r>
              <a:rPr sz="1000" b="0" i="0" spc="80">
                <a:solidFill>
                  <a:srgbClr val="1F5FA8"/>
                </a:solidFill>
                <a:latin typeface="Courier New"/>
              </a:rPr>
              <a:t>KEY IDEAS</a:t>
            </a:r>
          </a:p>
        </p:txBody>
      </p:sp>
      <p:sp>
        <p:nvSpPr>
          <p:cNvPr id="14" name="TextBox 13"/>
          <p:cNvSpPr txBox="1"/>
          <p:nvPr/>
        </p:nvSpPr>
        <p:spPr>
          <a:xfrm>
            <a:off x="548640" y="4069080"/>
            <a:ext cx="5303520" cy="2286000"/>
          </a:xfrm>
          <a:prstGeom prst="rect">
            <a:avLst/>
          </a:prstGeom>
          <a:noFill/>
        </p:spPr>
        <p:txBody>
          <a:bodyPr wrap="square" lIns="0" tIns="18288" rIns="0" bIns="18288" anchor="t">
            <a:spAutoFit/>
          </a:bodyPr>
          <a:lstStyle/>
          <a:p>
            <a:pPr algn="l">
              <a:lnSpc>
                <a:spcPct val="170000"/>
              </a:lnSpc>
            </a:pPr>
            <a:r>
              <a:rPr sz="1300" b="0" i="0">
                <a:solidFill>
                  <a:srgbClr val="2C2C2C"/>
                </a:solidFill>
                <a:latin typeface="Calibri"/>
              </a:rPr>
              <a:t>Image as 3D terrain  ·  intensity as elevation.</a:t>
            </a:r>
          </a:p>
          <a:p>
            <a:pPr algn="l">
              <a:lnSpc>
                <a:spcPct val="170000"/>
              </a:lnSpc>
            </a:pPr>
            <a:r>
              <a:rPr sz="1300" b="0" i="0">
                <a:solidFill>
                  <a:srgbClr val="2C2C2C"/>
                </a:solidFill>
                <a:latin typeface="Calibri"/>
              </a:rPr>
              <a:t>Flood from below; build dams where lakes meet.</a:t>
            </a:r>
          </a:p>
          <a:p>
            <a:pPr algn="l">
              <a:lnSpc>
                <a:spcPct val="170000"/>
              </a:lnSpc>
            </a:pPr>
            <a:r>
              <a:rPr sz="1300" b="0" i="0">
                <a:solidFill>
                  <a:srgbClr val="2C2C2C"/>
                </a:solidFill>
                <a:latin typeface="Calibri"/>
              </a:rPr>
              <a:t>Apply to gradient g(f) — boundaries are edges.</a:t>
            </a:r>
          </a:p>
          <a:p>
            <a:pPr algn="l">
              <a:lnSpc>
                <a:spcPct val="170000"/>
              </a:lnSpc>
            </a:pPr>
            <a:r>
              <a:rPr sz="1300" b="0" i="0">
                <a:solidFill>
                  <a:srgbClr val="2C2C2C"/>
                </a:solidFill>
                <a:latin typeface="Calibri"/>
              </a:rPr>
              <a:t>Naive watershed over-segments. Use markers.</a:t>
            </a:r>
          </a:p>
          <a:p>
            <a:pPr algn="l">
              <a:lnSpc>
                <a:spcPct val="170000"/>
              </a:lnSpc>
            </a:pPr>
            <a:r>
              <a:rPr sz="1300" b="0" i="0">
                <a:solidFill>
                  <a:srgbClr val="2C2C2C"/>
                </a:solidFill>
                <a:latin typeface="Calibri"/>
              </a:rPr>
              <a:t>Geodesic reconstruction imposes Regional_Minima(g*) = M_fg ∪ M_bg.</a:t>
            </a:r>
          </a:p>
        </p:txBody>
      </p:sp>
      <p:sp>
        <p:nvSpPr>
          <p:cNvPr id="15" name="TextBox 14"/>
          <p:cNvSpPr txBox="1"/>
          <p:nvPr/>
        </p:nvSpPr>
        <p:spPr>
          <a:xfrm>
            <a:off x="6400800" y="3703320"/>
            <a:ext cx="5303520" cy="274320"/>
          </a:xfrm>
          <a:prstGeom prst="rect">
            <a:avLst/>
          </a:prstGeom>
          <a:noFill/>
        </p:spPr>
        <p:txBody>
          <a:bodyPr wrap="square" lIns="0" tIns="18288" rIns="0" bIns="18288" anchor="t">
            <a:spAutoFit/>
          </a:bodyPr>
          <a:lstStyle/>
          <a:p>
            <a:pPr algn="l">
              <a:lnSpc>
                <a:spcPct val="115000"/>
              </a:lnSpc>
            </a:pPr>
            <a:r>
              <a:rPr sz="1000" b="0" i="0" spc="80">
                <a:solidFill>
                  <a:srgbClr val="1F5FA8"/>
                </a:solidFill>
                <a:latin typeface="Courier New"/>
              </a:rPr>
              <a:t>COMMON MISCONCEPTIONS</a:t>
            </a:r>
          </a:p>
        </p:txBody>
      </p:sp>
      <p:sp>
        <p:nvSpPr>
          <p:cNvPr id="16" name="TextBox 15"/>
          <p:cNvSpPr txBox="1"/>
          <p:nvPr/>
        </p:nvSpPr>
        <p:spPr>
          <a:xfrm>
            <a:off x="6400800" y="4069080"/>
            <a:ext cx="5303520" cy="2286000"/>
          </a:xfrm>
          <a:prstGeom prst="rect">
            <a:avLst/>
          </a:prstGeom>
          <a:noFill/>
        </p:spPr>
        <p:txBody>
          <a:bodyPr wrap="square" lIns="0" tIns="18288" rIns="0" bIns="18288" anchor="t">
            <a:spAutoFit/>
          </a:bodyPr>
          <a:lstStyle/>
          <a:p>
            <a:pPr algn="l">
              <a:lnSpc>
                <a:spcPct val="170000"/>
              </a:lnSpc>
            </a:pPr>
            <a:r>
              <a:rPr sz="1300" b="0" i="0">
                <a:solidFill>
                  <a:srgbClr val="2C2C2C"/>
                </a:solidFill>
                <a:latin typeface="Calibri"/>
              </a:rPr>
              <a:t>Watershed has no concept of objects — it follows gradient structure.</a:t>
            </a:r>
          </a:p>
          <a:p>
            <a:pPr algn="l">
              <a:lnSpc>
                <a:spcPct val="170000"/>
              </a:lnSpc>
            </a:pPr>
            <a:r>
              <a:rPr sz="1300" b="0" i="0">
                <a:solidFill>
                  <a:srgbClr val="2C2C2C"/>
                </a:solidFill>
                <a:latin typeface="Calibri"/>
              </a:rPr>
              <a:t>More regions ≠ better segmentation.</a:t>
            </a:r>
          </a:p>
          <a:p>
            <a:pPr algn="l">
              <a:lnSpc>
                <a:spcPct val="170000"/>
              </a:lnSpc>
            </a:pPr>
            <a:r>
              <a:rPr sz="1300" b="0" i="0">
                <a:solidFill>
                  <a:srgbClr val="2C2C2C"/>
                </a:solidFill>
                <a:latin typeface="Calibri"/>
              </a:rPr>
              <a:t>Distance transform is not watershed — it is used to compute markers for it.</a:t>
            </a:r>
          </a:p>
          <a:p>
            <a:pPr algn="l">
              <a:lnSpc>
                <a:spcPct val="170000"/>
              </a:lnSpc>
            </a:pPr>
            <a:r>
              <a:rPr sz="1300" b="0" i="0">
                <a:solidFill>
                  <a:srgbClr val="2C2C2C"/>
                </a:solidFill>
                <a:latin typeface="Calibri"/>
              </a:rPr>
              <a:t>Bright peaks can be regional minima in g.</a:t>
            </a:r>
          </a:p>
          <a:p>
            <a:pPr algn="l">
              <a:lnSpc>
                <a:spcPct val="170000"/>
              </a:lnSpc>
            </a:pPr>
            <a:r>
              <a:rPr sz="1300" b="0" i="0">
                <a:solidFill>
                  <a:srgbClr val="2C2C2C"/>
                </a:solidFill>
                <a:latin typeface="Calibri"/>
              </a:rPr>
              <a:t>Marker-free watershed is not clinically reliable.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4535</TotalTime>
  <Words>3791</Words>
  <Application>Microsoft Macintosh PowerPoint</Application>
  <PresentationFormat>Widescreen</PresentationFormat>
  <Paragraphs>373</Paragraphs>
  <Slides>18</Slides>
  <Notes>18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Arial</vt:lpstr>
      <vt:lpstr>Calibri</vt:lpstr>
      <vt:lpstr>Courier New</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Vella Nathan at MFI</cp:lastModifiedBy>
  <cp:revision>6</cp:revision>
  <dcterms:created xsi:type="dcterms:W3CDTF">2013-01-27T09:14:16Z</dcterms:created>
  <dcterms:modified xsi:type="dcterms:W3CDTF">2026-05-18T17:11:30Z</dcterms:modified>
  <cp:category/>
</cp:coreProperties>
</file>